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4" r:id="rId2"/>
    <p:sldMasterId id="2147483668" r:id="rId3"/>
    <p:sldMasterId id="2147483672" r:id="rId4"/>
    <p:sldMasterId id="2147483674" r:id="rId5"/>
    <p:sldMasterId id="2147483676" r:id="rId6"/>
    <p:sldMasterId id="2147483680" r:id="rId7"/>
    <p:sldMasterId id="2147483682" r:id="rId8"/>
    <p:sldMasterId id="2147483684" r:id="rId9"/>
  </p:sldMasterIdLst>
  <p:notesMasterIdLst>
    <p:notesMasterId r:id="rId64"/>
  </p:notesMasterIdLst>
  <p:sldIdLst>
    <p:sldId id="256" r:id="rId10"/>
    <p:sldId id="257" r:id="rId11"/>
    <p:sldId id="424" r:id="rId12"/>
    <p:sldId id="477" r:id="rId13"/>
    <p:sldId id="425" r:id="rId14"/>
    <p:sldId id="478" r:id="rId15"/>
    <p:sldId id="426" r:id="rId16"/>
    <p:sldId id="479" r:id="rId17"/>
    <p:sldId id="427" r:id="rId18"/>
    <p:sldId id="428" r:id="rId19"/>
    <p:sldId id="429" r:id="rId20"/>
    <p:sldId id="430" r:id="rId21"/>
    <p:sldId id="431" r:id="rId22"/>
    <p:sldId id="432" r:id="rId23"/>
    <p:sldId id="435" r:id="rId24"/>
    <p:sldId id="434" r:id="rId25"/>
    <p:sldId id="436" r:id="rId26"/>
    <p:sldId id="438" r:id="rId27"/>
    <p:sldId id="439" r:id="rId28"/>
    <p:sldId id="440" r:id="rId29"/>
    <p:sldId id="441" r:id="rId30"/>
    <p:sldId id="442" r:id="rId31"/>
    <p:sldId id="443" r:id="rId32"/>
    <p:sldId id="444" r:id="rId33"/>
    <p:sldId id="446" r:id="rId34"/>
    <p:sldId id="447" r:id="rId35"/>
    <p:sldId id="448" r:id="rId36"/>
    <p:sldId id="449" r:id="rId37"/>
    <p:sldId id="450" r:id="rId38"/>
    <p:sldId id="451" r:id="rId39"/>
    <p:sldId id="452" r:id="rId40"/>
    <p:sldId id="453" r:id="rId41"/>
    <p:sldId id="454" r:id="rId42"/>
    <p:sldId id="461" r:id="rId43"/>
    <p:sldId id="462" r:id="rId44"/>
    <p:sldId id="464" r:id="rId45"/>
    <p:sldId id="465" r:id="rId46"/>
    <p:sldId id="466" r:id="rId47"/>
    <p:sldId id="467" r:id="rId48"/>
    <p:sldId id="468" r:id="rId49"/>
    <p:sldId id="469" r:id="rId50"/>
    <p:sldId id="470" r:id="rId51"/>
    <p:sldId id="471" r:id="rId52"/>
    <p:sldId id="455" r:id="rId53"/>
    <p:sldId id="456" r:id="rId54"/>
    <p:sldId id="457" r:id="rId55"/>
    <p:sldId id="458" r:id="rId56"/>
    <p:sldId id="459" r:id="rId57"/>
    <p:sldId id="460" r:id="rId58"/>
    <p:sldId id="472" r:id="rId59"/>
    <p:sldId id="473" r:id="rId60"/>
    <p:sldId id="474" r:id="rId61"/>
    <p:sldId id="475" r:id="rId62"/>
    <p:sldId id="476" r:id="rId63"/>
  </p:sldIdLst>
  <p:sldSz cx="12192000" cy="6858000"/>
  <p:notesSz cx="6858000" cy="9144000"/>
  <p:embeddedFontLst>
    <p:embeddedFont>
      <p:font typeface="Cambria" panose="02040503050406030204" pitchFamily="18"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1" roundtripDataSignature="AMtx7mgwkiSlt6BWnYZheA7hU+owX/h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2935C6-F629-48B7-A2C3-F061BE77A5B8}">
  <a:tblStyle styleId="{1E2935C6-F629-48B7-A2C3-F061BE77A5B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874"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font" Target="fonts/font4.fntdata"/><Relationship Id="rId191"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font" Target="fonts/font2.fntdata"/><Relationship Id="rId5" Type="http://schemas.openxmlformats.org/officeDocument/2006/relationships/slideMaster" Target="slideMasters/slideMaster5.xml"/><Relationship Id="rId61" Type="http://schemas.openxmlformats.org/officeDocument/2006/relationships/slide" Target="slides/slide52.xml"/><Relationship Id="rId194" Type="http://schemas.openxmlformats.org/officeDocument/2006/relationships/theme" Target="theme/theme1.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42.xml"/><Relationship Id="rId19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font" Target="fonts/font3.fntdata"/><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19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93" Type="http://schemas.openxmlformats.org/officeDocument/2006/relationships/viewProps" Target="viewProps.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2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rgbClr val="000000"/>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a:extLst>
            <a:ext uri="{FF2B5EF4-FFF2-40B4-BE49-F238E27FC236}">
              <a16:creationId xmlns:a16="http://schemas.microsoft.com/office/drawing/2014/main" id="{25ECD6D6-514E-8A4D-2920-E038B00148A2}"/>
            </a:ext>
          </a:extLst>
        </p:cNvPr>
        <p:cNvGrpSpPr/>
        <p:nvPr/>
      </p:nvGrpSpPr>
      <p:grpSpPr>
        <a:xfrm>
          <a:off x="0" y="0"/>
          <a:ext cx="0" cy="0"/>
          <a:chOff x="0" y="0"/>
          <a:chExt cx="0" cy="0"/>
        </a:xfrm>
      </p:grpSpPr>
      <p:sp>
        <p:nvSpPr>
          <p:cNvPr id="325" name="Google Shape;325;p1:notes">
            <a:extLst>
              <a:ext uri="{FF2B5EF4-FFF2-40B4-BE49-F238E27FC236}">
                <a16:creationId xmlns:a16="http://schemas.microsoft.com/office/drawing/2014/main" id="{5091A8B3-DC97-00CD-7FEF-5664A6C66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p1:notes">
            <a:extLst>
              <a:ext uri="{FF2B5EF4-FFF2-40B4-BE49-F238E27FC236}">
                <a16:creationId xmlns:a16="http://schemas.microsoft.com/office/drawing/2014/main" id="{4ED660E6-0D32-AEA7-902E-AC0EB4742C2F}"/>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1:notes">
            <a:extLst>
              <a:ext uri="{FF2B5EF4-FFF2-40B4-BE49-F238E27FC236}">
                <a16:creationId xmlns:a16="http://schemas.microsoft.com/office/drawing/2014/main" id="{920603E1-1629-E056-B083-94597D4797D5}"/>
              </a:ext>
            </a:extLst>
          </p:cNvPr>
          <p:cNvSpPr txBox="1"/>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Times New Roman"/>
              <a:buNone/>
            </a:pPr>
            <a:r>
              <a:rPr lang="en-US" sz="1200" b="0" i="0" u="none" strike="noStrike" cap="none">
                <a:solidFill>
                  <a:srgbClr val="000000"/>
                </a:solidFill>
                <a:latin typeface="Times New Roman"/>
                <a:ea typeface="Times New Roman"/>
                <a:cs typeface="Times New Roman"/>
                <a:sym typeface="Times New Roman"/>
              </a:rPr>
              <a:t>DSDV (15EC663)</a:t>
            </a:r>
            <a:endParaRPr/>
          </a:p>
        </p:txBody>
      </p:sp>
      <p:sp>
        <p:nvSpPr>
          <p:cNvPr id="328" name="Google Shape;328;p1:notes">
            <a:extLst>
              <a:ext uri="{FF2B5EF4-FFF2-40B4-BE49-F238E27FC236}">
                <a16:creationId xmlns:a16="http://schemas.microsoft.com/office/drawing/2014/main" id="{B5A25098-C1D8-A6E2-D157-ED32A54A1760}"/>
              </a:ext>
            </a:extLst>
          </p:cNvPr>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a:t>
            </a:fld>
            <a:endParaRPr/>
          </a:p>
        </p:txBody>
      </p:sp>
      <p:sp>
        <p:nvSpPr>
          <p:cNvPr id="329" name="Google Shape;329;p1:notes">
            <a:extLst>
              <a:ext uri="{FF2B5EF4-FFF2-40B4-BE49-F238E27FC236}">
                <a16:creationId xmlns:a16="http://schemas.microsoft.com/office/drawing/2014/main" id="{A77D55D2-A953-84D2-AC80-6CE7D58846E9}"/>
              </a:ext>
            </a:extLst>
          </p:cNvPr>
          <p:cNvSpPr txBox="1"/>
          <p:nvPr/>
        </p:nvSpPr>
        <p:spPr>
          <a:xfrm>
            <a:off x="0" y="8686800"/>
            <a:ext cx="2971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19734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Slide">
    <p:spTree>
      <p:nvGrpSpPr>
        <p:cNvPr id="1" name="Shape 20"/>
        <p:cNvGrpSpPr/>
        <p:nvPr/>
      </p:nvGrpSpPr>
      <p:grpSpPr>
        <a:xfrm>
          <a:off x="0" y="0"/>
          <a:ext cx="0" cy="0"/>
          <a:chOff x="0" y="0"/>
          <a:chExt cx="0" cy="0"/>
        </a:xfrm>
      </p:grpSpPr>
      <p:sp>
        <p:nvSpPr>
          <p:cNvPr id="21" name="Google Shape;21;p73"/>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560"/>
              </a:spcBef>
              <a:spcAft>
                <a:spcPts val="0"/>
              </a:spcAft>
              <a:buClr>
                <a:srgbClr val="3366FF"/>
              </a:buClr>
              <a:buSzPts val="2800"/>
              <a:buNone/>
              <a:defRPr>
                <a:solidFill>
                  <a:srgbClr val="3366FF"/>
                </a:solidFill>
              </a:defRPr>
            </a:lvl1pPr>
            <a:lvl2pPr lvl="1" algn="ctr">
              <a:spcBef>
                <a:spcPts val="480"/>
              </a:spcBef>
              <a:spcAft>
                <a:spcPts val="0"/>
              </a:spcAft>
              <a:buClr>
                <a:srgbClr val="888888"/>
              </a:buClr>
              <a:buSzPts val="24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 name="Title 1">
            <a:extLst>
              <a:ext uri="{FF2B5EF4-FFF2-40B4-BE49-F238E27FC236}">
                <a16:creationId xmlns:a16="http://schemas.microsoft.com/office/drawing/2014/main" id="{13D111B0-BD76-06FA-2703-A74A98FFAE62}"/>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017BE474-B55E-C8EE-4A9B-89BE4C80EB1A}"/>
              </a:ext>
            </a:extLst>
          </p:cNvPr>
          <p:cNvSpPr>
            <a:spLocks noGrp="1"/>
          </p:cNvSpPr>
          <p:nvPr>
            <p:ph type="dt" idx="10"/>
          </p:nvPr>
        </p:nvSpPr>
        <p:spPr/>
        <p:txBody>
          <a:bodyPr/>
          <a:lstStyle/>
          <a:p>
            <a:endParaRPr lang="en-IN" dirty="0"/>
          </a:p>
        </p:txBody>
      </p:sp>
      <p:sp>
        <p:nvSpPr>
          <p:cNvPr id="4" name="Footer Placeholder 3">
            <a:extLst>
              <a:ext uri="{FF2B5EF4-FFF2-40B4-BE49-F238E27FC236}">
                <a16:creationId xmlns:a16="http://schemas.microsoft.com/office/drawing/2014/main" id="{21A5C07C-E0A9-ED34-3AC5-8ABF645C8610}"/>
              </a:ext>
            </a:extLst>
          </p:cNvPr>
          <p:cNvSpPr>
            <a:spLocks noGrp="1"/>
          </p:cNvSpPr>
          <p:nvPr>
            <p:ph type="ftr" idx="11"/>
          </p:nvPr>
        </p:nvSpPr>
        <p:spPr/>
        <p:txBody>
          <a:bodyPr/>
          <a:lstStyle/>
          <a:p>
            <a:endParaRPr lang="en-IN"/>
          </a:p>
        </p:txBody>
      </p:sp>
      <p:sp>
        <p:nvSpPr>
          <p:cNvPr id="5" name="Slide Number Placeholder 4">
            <a:extLst>
              <a:ext uri="{FF2B5EF4-FFF2-40B4-BE49-F238E27FC236}">
                <a16:creationId xmlns:a16="http://schemas.microsoft.com/office/drawing/2014/main" id="{48EEA88F-E819-7400-3C0E-61E1A33CF1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extLst>
      <p:ext uri="{BB962C8B-B14F-4D97-AF65-F5344CB8AC3E}">
        <p14:creationId xmlns:p14="http://schemas.microsoft.com/office/powerpoint/2010/main" val="3460475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3055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1"/>
        <p:cNvGrpSpPr/>
        <p:nvPr/>
      </p:nvGrpSpPr>
      <p:grpSpPr>
        <a:xfrm>
          <a:off x="0" y="0"/>
          <a:ext cx="0" cy="0"/>
          <a:chOff x="0" y="0"/>
          <a:chExt cx="0" cy="0"/>
        </a:xfrm>
      </p:grpSpPr>
      <p:sp>
        <p:nvSpPr>
          <p:cNvPr id="162" name="Google Shape;162;p93"/>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3" name="Google Shape;163;p93"/>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64" name="Google Shape;164;p93"/>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93"/>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93"/>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6"/>
        <p:cNvGrpSpPr/>
        <p:nvPr/>
      </p:nvGrpSpPr>
      <p:grpSpPr>
        <a:xfrm>
          <a:off x="0" y="0"/>
          <a:ext cx="0" cy="0"/>
          <a:chOff x="0" y="0"/>
          <a:chExt cx="0" cy="0"/>
        </a:xfrm>
      </p:grpSpPr>
      <p:sp>
        <p:nvSpPr>
          <p:cNvPr id="197" name="Google Shape;197;p97"/>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8" name="Google Shape;198;p9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rgbClr val="3366FF"/>
              </a:buClr>
              <a:buSzPts val="2400"/>
              <a:buNone/>
              <a:defRPr sz="2400" b="1"/>
            </a:lvl1pPr>
            <a:lvl2pPr marL="914400" lvl="1" indent="-228600" algn="l">
              <a:spcBef>
                <a:spcPts val="400"/>
              </a:spcBef>
              <a:spcAft>
                <a:spcPts val="0"/>
              </a:spcAft>
              <a:buClr>
                <a:srgbClr val="C00000"/>
              </a:buClr>
              <a:buSzPts val="2000"/>
              <a:buNone/>
              <a:defRPr sz="2000" b="1"/>
            </a:lvl2pPr>
            <a:lvl3pPr marL="1371600" lvl="2" indent="-228600" algn="l">
              <a:spcBef>
                <a:spcPts val="360"/>
              </a:spcBef>
              <a:spcAft>
                <a:spcPts val="0"/>
              </a:spcAft>
              <a:buClr>
                <a:srgbClr val="FF0000"/>
              </a:buClr>
              <a:buSzPts val="1800"/>
              <a:buNone/>
              <a:defRPr sz="1800" b="1"/>
            </a:lvl3pPr>
            <a:lvl4pPr marL="1828800" lvl="3" indent="-228600" algn="l">
              <a:spcBef>
                <a:spcPts val="320"/>
              </a:spcBef>
              <a:spcAft>
                <a:spcPts val="0"/>
              </a:spcAft>
              <a:buClr>
                <a:srgbClr val="FF66FF"/>
              </a:buClr>
              <a:buSzPts val="1600"/>
              <a:buNone/>
              <a:defRPr sz="1600" b="1"/>
            </a:lvl4pPr>
            <a:lvl5pPr marL="2286000" lvl="4" indent="-228600" algn="l">
              <a:spcBef>
                <a:spcPts val="320"/>
              </a:spcBef>
              <a:spcAft>
                <a:spcPts val="0"/>
              </a:spcAft>
              <a:buClr>
                <a:srgbClr val="009999"/>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99" name="Google Shape;199;p9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rgbClr val="3366FF"/>
              </a:buClr>
              <a:buSzPts val="2400"/>
              <a:buChar char="•"/>
              <a:defRPr sz="2400"/>
            </a:lvl1pPr>
            <a:lvl2pPr marL="914400" lvl="1" indent="-355600" algn="l">
              <a:spcBef>
                <a:spcPts val="400"/>
              </a:spcBef>
              <a:spcAft>
                <a:spcPts val="0"/>
              </a:spcAft>
              <a:buClr>
                <a:srgbClr val="C00000"/>
              </a:buClr>
              <a:buSzPts val="2000"/>
              <a:buChar char="–"/>
              <a:defRPr sz="2000"/>
            </a:lvl2pPr>
            <a:lvl3pPr marL="1371600" lvl="2" indent="-342900" algn="l">
              <a:spcBef>
                <a:spcPts val="360"/>
              </a:spcBef>
              <a:spcAft>
                <a:spcPts val="0"/>
              </a:spcAft>
              <a:buClr>
                <a:srgbClr val="FF0000"/>
              </a:buClr>
              <a:buSzPts val="1800"/>
              <a:buChar char="•"/>
              <a:defRPr sz="1800"/>
            </a:lvl3pPr>
            <a:lvl4pPr marL="1828800" lvl="3" indent="-330200" algn="l">
              <a:spcBef>
                <a:spcPts val="320"/>
              </a:spcBef>
              <a:spcAft>
                <a:spcPts val="0"/>
              </a:spcAft>
              <a:buClr>
                <a:srgbClr val="FF66FF"/>
              </a:buClr>
              <a:buSzPts val="1600"/>
              <a:buChar char="–"/>
              <a:defRPr sz="1600"/>
            </a:lvl4pPr>
            <a:lvl5pPr marL="2286000" lvl="4" indent="-330200" algn="l">
              <a:spcBef>
                <a:spcPts val="320"/>
              </a:spcBef>
              <a:spcAft>
                <a:spcPts val="0"/>
              </a:spcAft>
              <a:buClr>
                <a:srgbClr val="009999"/>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00" name="Google Shape;200;p9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rgbClr val="3366FF"/>
              </a:buClr>
              <a:buSzPts val="2400"/>
              <a:buNone/>
              <a:defRPr sz="2400" b="1"/>
            </a:lvl1pPr>
            <a:lvl2pPr marL="914400" lvl="1" indent="-228600" algn="l">
              <a:spcBef>
                <a:spcPts val="400"/>
              </a:spcBef>
              <a:spcAft>
                <a:spcPts val="0"/>
              </a:spcAft>
              <a:buClr>
                <a:srgbClr val="C00000"/>
              </a:buClr>
              <a:buSzPts val="2000"/>
              <a:buNone/>
              <a:defRPr sz="2000" b="1"/>
            </a:lvl2pPr>
            <a:lvl3pPr marL="1371600" lvl="2" indent="-228600" algn="l">
              <a:spcBef>
                <a:spcPts val="360"/>
              </a:spcBef>
              <a:spcAft>
                <a:spcPts val="0"/>
              </a:spcAft>
              <a:buClr>
                <a:srgbClr val="FF0000"/>
              </a:buClr>
              <a:buSzPts val="1800"/>
              <a:buNone/>
              <a:defRPr sz="1800" b="1"/>
            </a:lvl3pPr>
            <a:lvl4pPr marL="1828800" lvl="3" indent="-228600" algn="l">
              <a:spcBef>
                <a:spcPts val="320"/>
              </a:spcBef>
              <a:spcAft>
                <a:spcPts val="0"/>
              </a:spcAft>
              <a:buClr>
                <a:srgbClr val="FF66FF"/>
              </a:buClr>
              <a:buSzPts val="1600"/>
              <a:buNone/>
              <a:defRPr sz="1600" b="1"/>
            </a:lvl4pPr>
            <a:lvl5pPr marL="2286000" lvl="4" indent="-228600" algn="l">
              <a:spcBef>
                <a:spcPts val="320"/>
              </a:spcBef>
              <a:spcAft>
                <a:spcPts val="0"/>
              </a:spcAft>
              <a:buClr>
                <a:srgbClr val="009999"/>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01" name="Google Shape;201;p9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rgbClr val="3366FF"/>
              </a:buClr>
              <a:buSzPts val="2400"/>
              <a:buChar char="•"/>
              <a:defRPr sz="2400"/>
            </a:lvl1pPr>
            <a:lvl2pPr marL="914400" lvl="1" indent="-355600" algn="l">
              <a:spcBef>
                <a:spcPts val="400"/>
              </a:spcBef>
              <a:spcAft>
                <a:spcPts val="0"/>
              </a:spcAft>
              <a:buClr>
                <a:srgbClr val="C00000"/>
              </a:buClr>
              <a:buSzPts val="2000"/>
              <a:buChar char="–"/>
              <a:defRPr sz="2000"/>
            </a:lvl2pPr>
            <a:lvl3pPr marL="1371600" lvl="2" indent="-342900" algn="l">
              <a:spcBef>
                <a:spcPts val="360"/>
              </a:spcBef>
              <a:spcAft>
                <a:spcPts val="0"/>
              </a:spcAft>
              <a:buClr>
                <a:srgbClr val="FF0000"/>
              </a:buClr>
              <a:buSzPts val="1800"/>
              <a:buChar char="•"/>
              <a:defRPr sz="1800"/>
            </a:lvl3pPr>
            <a:lvl4pPr marL="1828800" lvl="3" indent="-330200" algn="l">
              <a:spcBef>
                <a:spcPts val="320"/>
              </a:spcBef>
              <a:spcAft>
                <a:spcPts val="0"/>
              </a:spcAft>
              <a:buClr>
                <a:srgbClr val="FF66FF"/>
              </a:buClr>
              <a:buSzPts val="1600"/>
              <a:buChar char="–"/>
              <a:defRPr sz="1600"/>
            </a:lvl4pPr>
            <a:lvl5pPr marL="2286000" lvl="4" indent="-330200" algn="l">
              <a:spcBef>
                <a:spcPts val="320"/>
              </a:spcBef>
              <a:spcAft>
                <a:spcPts val="0"/>
              </a:spcAft>
              <a:buClr>
                <a:srgbClr val="009999"/>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02" name="Google Shape;202;p97"/>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97"/>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4" name="Google Shape;204;p97"/>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6"/>
        <p:cNvGrpSpPr/>
        <p:nvPr/>
      </p:nvGrpSpPr>
      <p:grpSpPr>
        <a:xfrm>
          <a:off x="0" y="0"/>
          <a:ext cx="0" cy="0"/>
          <a:chOff x="0" y="0"/>
          <a:chExt cx="0" cy="0"/>
        </a:xfrm>
      </p:grpSpPr>
      <p:sp>
        <p:nvSpPr>
          <p:cNvPr id="217" name="Google Shape;217;p99"/>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8" name="Google Shape;218;p99"/>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99"/>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99"/>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2"/>
        <p:cNvGrpSpPr/>
        <p:nvPr/>
      </p:nvGrpSpPr>
      <p:grpSpPr>
        <a:xfrm>
          <a:off x="0" y="0"/>
          <a:ext cx="0" cy="0"/>
          <a:chOff x="0" y="0"/>
          <a:chExt cx="0" cy="0"/>
        </a:xfrm>
      </p:grpSpPr>
      <p:sp>
        <p:nvSpPr>
          <p:cNvPr id="233" name="Google Shape;233;p101"/>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101"/>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5" name="Google Shape;235;p101"/>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65"/>
        <p:cNvGrpSpPr/>
        <p:nvPr/>
      </p:nvGrpSpPr>
      <p:grpSpPr>
        <a:xfrm>
          <a:off x="0" y="0"/>
          <a:ext cx="0" cy="0"/>
          <a:chOff x="0" y="0"/>
          <a:chExt cx="0" cy="0"/>
        </a:xfrm>
      </p:grpSpPr>
      <p:sp>
        <p:nvSpPr>
          <p:cNvPr id="266" name="Google Shape;266;p105"/>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67" name="Google Shape;267;p105"/>
          <p:cNvSpPr>
            <a:spLocks noGrp="1"/>
          </p:cNvSpPr>
          <p:nvPr>
            <p:ph type="pic" idx="2"/>
          </p:nvPr>
        </p:nvSpPr>
        <p:spPr>
          <a:xfrm>
            <a:off x="2389717" y="612775"/>
            <a:ext cx="7315200" cy="4114800"/>
          </a:xfrm>
          <a:prstGeom prst="rect">
            <a:avLst/>
          </a:prstGeom>
          <a:noFill/>
          <a:ln>
            <a:noFill/>
          </a:ln>
        </p:spPr>
      </p:sp>
      <p:sp>
        <p:nvSpPr>
          <p:cNvPr id="268" name="Google Shape;268;p105"/>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rgbClr val="3366FF"/>
              </a:buClr>
              <a:buSzPts val="1400"/>
              <a:buNone/>
              <a:defRPr sz="1400"/>
            </a:lvl1pPr>
            <a:lvl2pPr marL="914400" lvl="1" indent="-228600" algn="l">
              <a:spcBef>
                <a:spcPts val="240"/>
              </a:spcBef>
              <a:spcAft>
                <a:spcPts val="0"/>
              </a:spcAft>
              <a:buClr>
                <a:srgbClr val="C00000"/>
              </a:buClr>
              <a:buSzPts val="1200"/>
              <a:buNone/>
              <a:defRPr sz="1200"/>
            </a:lvl2pPr>
            <a:lvl3pPr marL="1371600" lvl="2" indent="-228600" algn="l">
              <a:spcBef>
                <a:spcPts val="200"/>
              </a:spcBef>
              <a:spcAft>
                <a:spcPts val="0"/>
              </a:spcAft>
              <a:buClr>
                <a:srgbClr val="FF0000"/>
              </a:buClr>
              <a:buSzPts val="1000"/>
              <a:buNone/>
              <a:defRPr sz="1000"/>
            </a:lvl3pPr>
            <a:lvl4pPr marL="1828800" lvl="3" indent="-228600" algn="l">
              <a:spcBef>
                <a:spcPts val="180"/>
              </a:spcBef>
              <a:spcAft>
                <a:spcPts val="0"/>
              </a:spcAft>
              <a:buClr>
                <a:srgbClr val="FF66FF"/>
              </a:buClr>
              <a:buSzPts val="900"/>
              <a:buNone/>
              <a:defRPr sz="900"/>
            </a:lvl4pPr>
            <a:lvl5pPr marL="2286000" lvl="4" indent="-228600" algn="l">
              <a:spcBef>
                <a:spcPts val="180"/>
              </a:spcBef>
              <a:spcAft>
                <a:spcPts val="0"/>
              </a:spcAft>
              <a:buClr>
                <a:srgbClr val="009999"/>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269" name="Google Shape;269;p105"/>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0" name="Google Shape;270;p105"/>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1" name="Google Shape;271;p105"/>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3"/>
        <p:cNvGrpSpPr/>
        <p:nvPr/>
      </p:nvGrpSpPr>
      <p:grpSpPr>
        <a:xfrm>
          <a:off x="0" y="0"/>
          <a:ext cx="0" cy="0"/>
          <a:chOff x="0" y="0"/>
          <a:chExt cx="0" cy="0"/>
        </a:xfrm>
      </p:grpSpPr>
      <p:sp>
        <p:nvSpPr>
          <p:cNvPr id="284" name="Google Shape;284;p107"/>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5" name="Google Shape;285;p107"/>
          <p:cNvSpPr txBox="1">
            <a:spLocks noGrp="1"/>
          </p:cNvSpPr>
          <p:nvPr>
            <p:ph type="body" idx="1"/>
          </p:nvPr>
        </p:nvSpPr>
        <p:spPr>
          <a:xfrm rot="5400000">
            <a:off x="3505200" y="-1905000"/>
            <a:ext cx="5181600" cy="1158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3366FF"/>
              </a:buClr>
              <a:buSzPts val="1800"/>
              <a:buChar char="•"/>
              <a:defRPr/>
            </a:lvl1pPr>
            <a:lvl2pPr marL="914400" lvl="1" indent="-342900" algn="l">
              <a:spcBef>
                <a:spcPts val="360"/>
              </a:spcBef>
              <a:spcAft>
                <a:spcPts val="0"/>
              </a:spcAft>
              <a:buClr>
                <a:srgbClr val="C00000"/>
              </a:buClr>
              <a:buSzPts val="1800"/>
              <a:buChar char="–"/>
              <a:defRPr/>
            </a:lvl2pPr>
            <a:lvl3pPr marL="1371600" lvl="2" indent="-342900" algn="l">
              <a:spcBef>
                <a:spcPts val="360"/>
              </a:spcBef>
              <a:spcAft>
                <a:spcPts val="0"/>
              </a:spcAft>
              <a:buClr>
                <a:srgbClr val="FF0000"/>
              </a:buClr>
              <a:buSzPts val="1800"/>
              <a:buChar char="•"/>
              <a:defRPr/>
            </a:lvl3pPr>
            <a:lvl4pPr marL="1828800" lvl="3" indent="-342900" algn="l">
              <a:spcBef>
                <a:spcPts val="360"/>
              </a:spcBef>
              <a:spcAft>
                <a:spcPts val="0"/>
              </a:spcAft>
              <a:buClr>
                <a:srgbClr val="FF66FF"/>
              </a:buClr>
              <a:buSzPts val="1800"/>
              <a:buChar char="–"/>
              <a:defRPr/>
            </a:lvl4pPr>
            <a:lvl5pPr marL="2286000" lvl="4" indent="-342900" algn="l">
              <a:spcBef>
                <a:spcPts val="360"/>
              </a:spcBef>
              <a:spcAft>
                <a:spcPts val="0"/>
              </a:spcAft>
              <a:buClr>
                <a:srgbClr val="009999"/>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6" name="Google Shape;286;p107"/>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7" name="Google Shape;287;p107"/>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8" name="Google Shape;288;p107"/>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00"/>
        <p:cNvGrpSpPr/>
        <p:nvPr/>
      </p:nvGrpSpPr>
      <p:grpSpPr>
        <a:xfrm>
          <a:off x="0" y="0"/>
          <a:ext cx="0" cy="0"/>
          <a:chOff x="0" y="0"/>
          <a:chExt cx="0" cy="0"/>
        </a:xfrm>
      </p:grpSpPr>
      <p:sp>
        <p:nvSpPr>
          <p:cNvPr id="301" name="Google Shape;301;p109"/>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02" name="Google Shape;302;p109"/>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rgbClr val="3366FF"/>
              </a:buClr>
              <a:buSzPts val="1800"/>
              <a:buChar char="•"/>
              <a:defRPr/>
            </a:lvl1pPr>
            <a:lvl2pPr marL="914400" lvl="1" indent="-342900" algn="l">
              <a:spcBef>
                <a:spcPts val="360"/>
              </a:spcBef>
              <a:spcAft>
                <a:spcPts val="0"/>
              </a:spcAft>
              <a:buClr>
                <a:srgbClr val="C00000"/>
              </a:buClr>
              <a:buSzPts val="1800"/>
              <a:buChar char="–"/>
              <a:defRPr/>
            </a:lvl2pPr>
            <a:lvl3pPr marL="1371600" lvl="2" indent="-342900" algn="l">
              <a:spcBef>
                <a:spcPts val="360"/>
              </a:spcBef>
              <a:spcAft>
                <a:spcPts val="0"/>
              </a:spcAft>
              <a:buClr>
                <a:srgbClr val="FF0000"/>
              </a:buClr>
              <a:buSzPts val="1800"/>
              <a:buChar char="•"/>
              <a:defRPr/>
            </a:lvl3pPr>
            <a:lvl4pPr marL="1828800" lvl="3" indent="-342900" algn="l">
              <a:spcBef>
                <a:spcPts val="360"/>
              </a:spcBef>
              <a:spcAft>
                <a:spcPts val="0"/>
              </a:spcAft>
              <a:buClr>
                <a:srgbClr val="FF66FF"/>
              </a:buClr>
              <a:buSzPts val="1800"/>
              <a:buChar char="–"/>
              <a:defRPr/>
            </a:lvl4pPr>
            <a:lvl5pPr marL="2286000" lvl="4" indent="-342900" algn="l">
              <a:spcBef>
                <a:spcPts val="360"/>
              </a:spcBef>
              <a:spcAft>
                <a:spcPts val="0"/>
              </a:spcAft>
              <a:buClr>
                <a:srgbClr val="009999"/>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3" name="Google Shape;303;p109"/>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109"/>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5" name="Google Shape;305;p109"/>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72"/>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11" name="Google Shape;11;p72"/>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12" name="Google Shape;12;p72"/>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13" name="Google Shape;13;p72"/>
          <p:cNvSpPr txBox="1"/>
          <p:nvPr userDrawn="1"/>
        </p:nvSpPr>
        <p:spPr>
          <a:xfrm>
            <a:off x="304800" y="25400"/>
            <a:ext cx="2438400"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600" b="1" i="0" u="none" dirty="0">
                <a:solidFill>
                  <a:srgbClr val="FF0000"/>
                </a:solidFill>
                <a:latin typeface="Cambria"/>
                <a:ea typeface="Cambria"/>
                <a:sym typeface="Cambria"/>
              </a:rPr>
              <a:t>C</a:t>
            </a:r>
            <a:r>
              <a:rPr lang="en-US" sz="1400" b="1" i="0" u="none" dirty="0">
                <a:solidFill>
                  <a:srgbClr val="0070C0"/>
                </a:solidFill>
                <a:latin typeface="Cambria"/>
                <a:ea typeface="Cambria"/>
                <a:sym typeface="Cambria"/>
              </a:rPr>
              <a:t>omputer </a:t>
            </a:r>
            <a:r>
              <a:rPr lang="en-US" sz="1400" b="1" i="0" u="none" dirty="0">
                <a:solidFill>
                  <a:srgbClr val="00B050"/>
                </a:solidFill>
                <a:latin typeface="Cambria"/>
                <a:ea typeface="Cambria"/>
                <a:sym typeface="Cambria"/>
              </a:rPr>
              <a:t>N</a:t>
            </a:r>
            <a:r>
              <a:rPr lang="en-US" sz="1400" b="1" i="0" u="none" dirty="0">
                <a:solidFill>
                  <a:srgbClr val="0070C0"/>
                </a:solidFill>
                <a:latin typeface="Cambria"/>
                <a:ea typeface="Cambria"/>
                <a:sym typeface="Cambria"/>
              </a:rPr>
              <a:t>etwork </a:t>
            </a:r>
            <a:endParaRPr lang="en-US" dirty="0">
              <a:solidFill>
                <a:srgbClr val="0070C0"/>
              </a:solidFill>
            </a:endParaRPr>
          </a:p>
        </p:txBody>
      </p:sp>
      <p:pic>
        <p:nvPicPr>
          <p:cNvPr id="14" name="Google Shape;14;p72"/>
          <p:cNvPicPr preferRelativeResize="0"/>
          <p:nvPr/>
        </p:nvPicPr>
        <p:blipFill rotWithShape="1">
          <a:blip r:embed="rId4">
            <a:alphaModFix/>
          </a:blip>
          <a:srcRect/>
          <a:stretch/>
        </p:blipFill>
        <p:spPr>
          <a:xfrm>
            <a:off x="11430000" y="457200"/>
            <a:ext cx="474662" cy="720725"/>
          </a:xfrm>
          <a:prstGeom prst="rect">
            <a:avLst/>
          </a:prstGeom>
          <a:noFill/>
          <a:ln>
            <a:noFill/>
          </a:ln>
        </p:spPr>
      </p:pic>
      <p:sp>
        <p:nvSpPr>
          <p:cNvPr id="15" name="Google Shape;15;p72"/>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16" name="Google Shape;16;p72"/>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17" name="Google Shape;17;p72"/>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72"/>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9" name="Google Shape;19;p72"/>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strike="noStrike" cap="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2" name="Google Shape;13;p72">
            <a:extLst>
              <a:ext uri="{FF2B5EF4-FFF2-40B4-BE49-F238E27FC236}">
                <a16:creationId xmlns:a16="http://schemas.microsoft.com/office/drawing/2014/main" id="{D19D220E-E241-2A4E-96C5-FCFABBA28CED}"/>
              </a:ext>
            </a:extLst>
          </p:cNvPr>
          <p:cNvSpPr txBox="1"/>
          <p:nvPr userDrawn="1"/>
        </p:nvSpPr>
        <p:spPr>
          <a:xfrm>
            <a:off x="8839200" y="6477000"/>
            <a:ext cx="2438400"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600" b="1" i="0" u="none" dirty="0">
                <a:solidFill>
                  <a:srgbClr val="002060"/>
                </a:solidFill>
                <a:latin typeface="Cambria"/>
                <a:ea typeface="Cambria"/>
                <a:sym typeface="Cambria"/>
              </a:rPr>
              <a:t>BHASKAR  S V</a:t>
            </a:r>
            <a:endParaRPr lang="en-US" dirty="0">
              <a:solidFill>
                <a:srgbClr val="002060"/>
              </a:solidFill>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sp>
        <p:nvSpPr>
          <p:cNvPr id="60" name="Google Shape;60;p78"/>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61" name="Google Shape;61;p78"/>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78"/>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63" name="Google Shape;63;p78"/>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64" name="Google Shape;64;p78"/>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r>
              <a:rPr lang="en-US"/>
              <a:t>01</a:t>
            </a:r>
            <a:endParaRPr sz="1400">
              <a:solidFill>
                <a:srgbClr val="000000"/>
              </a:solidFill>
              <a:latin typeface="Arial"/>
              <a:ea typeface="Arial"/>
              <a:cs typeface="Arial"/>
              <a:sym typeface="Arial"/>
            </a:endParaRPr>
          </a:p>
        </p:txBody>
      </p:sp>
      <p:cxnSp>
        <p:nvCxnSpPr>
          <p:cNvPr id="65" name="Google Shape;65;p78"/>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66" name="Google Shape;66;p78"/>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67" name="Google Shape;67;p78"/>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68" name="Google Shape;68;p78"/>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69" name="Google Shape;69;p78"/>
          <p:cNvPicPr preferRelativeResize="0"/>
          <p:nvPr/>
        </p:nvPicPr>
        <p:blipFill rotWithShape="1">
          <a:blip r:embed="rId2">
            <a:alphaModFix/>
          </a:blip>
          <a:srcRect/>
          <a:stretch/>
        </p:blipFill>
        <p:spPr>
          <a:xfrm>
            <a:off x="11430000" y="457200"/>
            <a:ext cx="474662" cy="720725"/>
          </a:xfrm>
          <a:prstGeom prst="rect">
            <a:avLst/>
          </a:prstGeom>
          <a:noFill/>
          <a:ln>
            <a:noFill/>
          </a:ln>
        </p:spPr>
      </p:pic>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0"/>
        <p:cNvGrpSpPr/>
        <p:nvPr/>
      </p:nvGrpSpPr>
      <p:grpSpPr>
        <a:xfrm>
          <a:off x="0" y="0"/>
          <a:ext cx="0" cy="0"/>
          <a:chOff x="0" y="0"/>
          <a:chExt cx="0" cy="0"/>
        </a:xfrm>
      </p:grpSpPr>
      <p:cxnSp>
        <p:nvCxnSpPr>
          <p:cNvPr id="151" name="Google Shape;151;p92"/>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152" name="Google Shape;152;p92"/>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153" name="Google Shape;153;p92"/>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154" name="Google Shape;154;p92"/>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155" name="Google Shape;155;p92"/>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156" name="Google Shape;156;p92"/>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157" name="Google Shape;157;p92"/>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58" name="Google Shape;158;p92"/>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59" name="Google Shape;159;p92"/>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60" name="Google Shape;160;p92"/>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5"/>
        <p:cNvGrpSpPr/>
        <p:nvPr/>
      </p:nvGrpSpPr>
      <p:grpSpPr>
        <a:xfrm>
          <a:off x="0" y="0"/>
          <a:ext cx="0" cy="0"/>
          <a:chOff x="0" y="0"/>
          <a:chExt cx="0" cy="0"/>
        </a:xfrm>
      </p:grpSpPr>
      <p:cxnSp>
        <p:nvCxnSpPr>
          <p:cNvPr id="186" name="Google Shape;186;p96"/>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187" name="Google Shape;187;p96"/>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188" name="Google Shape;188;p96"/>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189" name="Google Shape;189;p96"/>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190" name="Google Shape;190;p96"/>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191" name="Google Shape;191;p96"/>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192" name="Google Shape;192;p96"/>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3" name="Google Shape;193;p96"/>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94" name="Google Shape;194;p96"/>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95" name="Google Shape;195;p96"/>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cxnSp>
        <p:nvCxnSpPr>
          <p:cNvPr id="206" name="Google Shape;206;p98"/>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07" name="Google Shape;207;p98"/>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08" name="Google Shape;208;p98"/>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209" name="Google Shape;209;p98"/>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210" name="Google Shape;210;p98"/>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211" name="Google Shape;211;p98"/>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212" name="Google Shape;212;p98"/>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3" name="Google Shape;213;p98"/>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14" name="Google Shape;214;p98"/>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15" name="Google Shape;215;p98"/>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1"/>
        <p:cNvGrpSpPr/>
        <p:nvPr/>
      </p:nvGrpSpPr>
      <p:grpSpPr>
        <a:xfrm>
          <a:off x="0" y="0"/>
          <a:ext cx="0" cy="0"/>
          <a:chOff x="0" y="0"/>
          <a:chExt cx="0" cy="0"/>
        </a:xfrm>
      </p:grpSpPr>
      <p:cxnSp>
        <p:nvCxnSpPr>
          <p:cNvPr id="222" name="Google Shape;222;p100"/>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23" name="Google Shape;223;p100"/>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24" name="Google Shape;224;p100"/>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225" name="Google Shape;225;p100"/>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226" name="Google Shape;226;p100"/>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227" name="Google Shape;227;p100"/>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228" name="Google Shape;228;p100"/>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9" name="Google Shape;229;p100"/>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30" name="Google Shape;230;p100"/>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31" name="Google Shape;231;p100"/>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4"/>
        <p:cNvGrpSpPr/>
        <p:nvPr/>
      </p:nvGrpSpPr>
      <p:grpSpPr>
        <a:xfrm>
          <a:off x="0" y="0"/>
          <a:ext cx="0" cy="0"/>
          <a:chOff x="0" y="0"/>
          <a:chExt cx="0" cy="0"/>
        </a:xfrm>
      </p:grpSpPr>
      <p:cxnSp>
        <p:nvCxnSpPr>
          <p:cNvPr id="255" name="Google Shape;255;p104"/>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56" name="Google Shape;256;p104"/>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57" name="Google Shape;257;p104"/>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258" name="Google Shape;258;p104"/>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259" name="Google Shape;259;p104"/>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260" name="Google Shape;260;p104"/>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261" name="Google Shape;261;p104"/>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62" name="Google Shape;262;p104"/>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63" name="Google Shape;263;p104"/>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64" name="Google Shape;264;p104"/>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cxnSp>
        <p:nvCxnSpPr>
          <p:cNvPr id="273" name="Google Shape;273;p106"/>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74" name="Google Shape;274;p106"/>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75" name="Google Shape;275;p106"/>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276" name="Google Shape;276;p106"/>
          <p:cNvSpPr txBox="1"/>
          <p:nvPr/>
        </p:nvSpPr>
        <p:spPr>
          <a:xfrm>
            <a:off x="304800" y="25400"/>
            <a:ext cx="2438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1800" b="1" i="0" u="none">
                <a:solidFill>
                  <a:schemeClr val="dk1"/>
                </a:solidFill>
                <a:latin typeface="Cambria"/>
                <a:ea typeface="Cambria"/>
                <a:cs typeface="Cambria"/>
                <a:sym typeface="Cambria"/>
              </a:rPr>
              <a:t>ARM Processor</a:t>
            </a:r>
            <a:endParaRPr/>
          </a:p>
        </p:txBody>
      </p:sp>
      <p:pic>
        <p:nvPicPr>
          <p:cNvPr id="277" name="Google Shape;277;p106"/>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278" name="Google Shape;278;p106"/>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279" name="Google Shape;279;p106"/>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0" name="Google Shape;280;p106"/>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81" name="Google Shape;281;p106"/>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82" name="Google Shape;282;p106"/>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cxnSp>
        <p:nvCxnSpPr>
          <p:cNvPr id="290" name="Google Shape;290;p108"/>
          <p:cNvCxnSpPr/>
          <p:nvPr/>
        </p:nvCxnSpPr>
        <p:spPr>
          <a:xfrm>
            <a:off x="0" y="12954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91" name="Google Shape;291;p108"/>
          <p:cNvCxnSpPr/>
          <p:nvPr/>
        </p:nvCxnSpPr>
        <p:spPr>
          <a:xfrm>
            <a:off x="0" y="381000"/>
            <a:ext cx="12192000" cy="0"/>
          </a:xfrm>
          <a:prstGeom prst="straightConnector1">
            <a:avLst/>
          </a:prstGeom>
          <a:noFill/>
          <a:ln w="38100" cap="flat" cmpd="sng">
            <a:solidFill>
              <a:srgbClr val="FF0066"/>
            </a:solidFill>
            <a:prstDash val="solid"/>
            <a:miter lim="800000"/>
            <a:headEnd type="none" w="med" len="med"/>
            <a:tailEnd type="none" w="med" len="med"/>
          </a:ln>
        </p:spPr>
      </p:cxnSp>
      <p:cxnSp>
        <p:nvCxnSpPr>
          <p:cNvPr id="292" name="Google Shape;292;p108"/>
          <p:cNvCxnSpPr/>
          <p:nvPr/>
        </p:nvCxnSpPr>
        <p:spPr>
          <a:xfrm>
            <a:off x="0" y="6477000"/>
            <a:ext cx="12192000" cy="0"/>
          </a:xfrm>
          <a:prstGeom prst="straightConnector1">
            <a:avLst/>
          </a:prstGeom>
          <a:noFill/>
          <a:ln w="38100" cap="flat" cmpd="sng">
            <a:solidFill>
              <a:srgbClr val="FF0066"/>
            </a:solidFill>
            <a:prstDash val="solid"/>
            <a:miter lim="800000"/>
            <a:headEnd type="none" w="med" len="med"/>
            <a:tailEnd type="none" w="med" len="med"/>
          </a:ln>
        </p:spPr>
      </p:cxnSp>
      <p:sp>
        <p:nvSpPr>
          <p:cNvPr id="293" name="Google Shape;293;p108"/>
          <p:cNvSpPr txBox="1"/>
          <p:nvPr/>
        </p:nvSpPr>
        <p:spPr>
          <a:xfrm>
            <a:off x="304800" y="25400"/>
            <a:ext cx="24384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mbria"/>
              <a:buNone/>
            </a:pPr>
            <a:r>
              <a:rPr lang="en-US" sz="2000" b="1" i="0" u="none" dirty="0">
                <a:solidFill>
                  <a:srgbClr val="FF0000"/>
                </a:solidFill>
                <a:latin typeface="Cambria"/>
                <a:ea typeface="Cambria"/>
                <a:sym typeface="Cambria"/>
              </a:rPr>
              <a:t>C</a:t>
            </a:r>
            <a:r>
              <a:rPr lang="en-US" sz="1800" b="1" i="0" u="none" dirty="0">
                <a:solidFill>
                  <a:srgbClr val="0070C0"/>
                </a:solidFill>
                <a:latin typeface="Cambria"/>
                <a:ea typeface="Cambria"/>
                <a:sym typeface="Cambria"/>
              </a:rPr>
              <a:t>omputer </a:t>
            </a:r>
            <a:r>
              <a:rPr lang="en-US" sz="1800" b="1" i="0" u="none" dirty="0">
                <a:solidFill>
                  <a:srgbClr val="00B050"/>
                </a:solidFill>
                <a:latin typeface="Cambria"/>
                <a:ea typeface="Cambria"/>
                <a:sym typeface="Cambria"/>
              </a:rPr>
              <a:t>N</a:t>
            </a:r>
            <a:r>
              <a:rPr lang="en-US" sz="1800" b="1" i="0" u="none" dirty="0">
                <a:solidFill>
                  <a:srgbClr val="0070C0"/>
                </a:solidFill>
                <a:latin typeface="Cambria"/>
                <a:ea typeface="Cambria"/>
                <a:sym typeface="Cambria"/>
              </a:rPr>
              <a:t>etwork </a:t>
            </a:r>
            <a:endParaRPr dirty="0">
              <a:solidFill>
                <a:srgbClr val="0070C0"/>
              </a:solidFill>
            </a:endParaRPr>
          </a:p>
        </p:txBody>
      </p:sp>
      <p:pic>
        <p:nvPicPr>
          <p:cNvPr id="294" name="Google Shape;294;p108"/>
          <p:cNvPicPr preferRelativeResize="0"/>
          <p:nvPr/>
        </p:nvPicPr>
        <p:blipFill rotWithShape="1">
          <a:blip r:embed="rId3">
            <a:alphaModFix/>
          </a:blip>
          <a:srcRect/>
          <a:stretch/>
        </p:blipFill>
        <p:spPr>
          <a:xfrm>
            <a:off x="11430000" y="457200"/>
            <a:ext cx="474662" cy="720725"/>
          </a:xfrm>
          <a:prstGeom prst="rect">
            <a:avLst/>
          </a:prstGeom>
          <a:noFill/>
          <a:ln>
            <a:noFill/>
          </a:ln>
        </p:spPr>
      </p:pic>
      <p:sp>
        <p:nvSpPr>
          <p:cNvPr id="295" name="Google Shape;295;p108"/>
          <p:cNvSpPr txBox="1">
            <a:spLocks noGrp="1"/>
          </p:cNvSpPr>
          <p:nvPr>
            <p:ph type="title"/>
          </p:nvPr>
        </p:nvSpPr>
        <p:spPr>
          <a:xfrm>
            <a:off x="304800" y="406400"/>
            <a:ext cx="10972800"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1pPr>
            <a:lvl2pPr marR="0" lvl="1"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2pPr>
            <a:lvl3pPr marR="0" lvl="2"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3pPr>
            <a:lvl4pPr marR="0" lvl="3"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4pPr>
            <a:lvl5pPr marR="0" lvl="4" algn="ctr" rtl="0">
              <a:spcBef>
                <a:spcPts val="0"/>
              </a:spcBef>
              <a:spcAft>
                <a:spcPts val="0"/>
              </a:spcAft>
              <a:buSzPts val="1400"/>
              <a:buNone/>
              <a:defRPr sz="3600" b="1" i="0" u="none" strike="noStrike" cap="none">
                <a:solidFill>
                  <a:srgbClr val="FF0000"/>
                </a:solidFill>
                <a:latin typeface="Cambria"/>
                <a:ea typeface="Cambria"/>
                <a:cs typeface="Cambria"/>
                <a:sym typeface="Cambria"/>
              </a:defRPr>
            </a:lvl5pPr>
            <a:lvl6pPr marR="0" lvl="5"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6pPr>
            <a:lvl7pPr marR="0" lvl="6"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7pPr>
            <a:lvl8pPr marR="0" lvl="7"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8pPr>
            <a:lvl9pPr marR="0" lvl="8" algn="ctr" rtl="0">
              <a:spcBef>
                <a:spcPts val="0"/>
              </a:spcBef>
              <a:spcAft>
                <a:spcPts val="0"/>
              </a:spcAft>
              <a:buSzPts val="1400"/>
              <a:buNone/>
              <a:defRPr sz="3600" b="1" i="0" u="none" strike="noStrike" cap="none">
                <a:solidFill>
                  <a:srgbClr val="FF0000"/>
                </a:solidFill>
                <a:latin typeface="Times New Roman"/>
                <a:ea typeface="Times New Roman"/>
                <a:cs typeface="Times New Roman"/>
                <a:sym typeface="Times New Roman"/>
              </a:defRPr>
            </a:lvl9pPr>
          </a:lstStyle>
          <a:p>
            <a:endParaRPr/>
          </a:p>
        </p:txBody>
      </p:sp>
      <p:sp>
        <p:nvSpPr>
          <p:cNvPr id="296" name="Google Shape;296;p108"/>
          <p:cNvSpPr txBox="1">
            <a:spLocks noGrp="1"/>
          </p:cNvSpPr>
          <p:nvPr>
            <p:ph type="body" idx="1"/>
          </p:nvPr>
        </p:nvSpPr>
        <p:spPr>
          <a:xfrm>
            <a:off x="304800" y="1295400"/>
            <a:ext cx="11582400" cy="5181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rgbClr val="3366FF"/>
              </a:buClr>
              <a:buSzPts val="2800"/>
              <a:buFont typeface="Arial"/>
              <a:buChar char="•"/>
              <a:defRPr sz="2800" b="1" i="0" u="none" strike="noStrike" cap="none">
                <a:solidFill>
                  <a:srgbClr val="3366FF"/>
                </a:solidFill>
                <a:latin typeface="Cambria"/>
                <a:ea typeface="Cambria"/>
                <a:cs typeface="Cambria"/>
                <a:sym typeface="Cambria"/>
              </a:defRPr>
            </a:lvl1pPr>
            <a:lvl2pPr marL="914400" marR="0" lvl="1" indent="-381000" algn="l" rtl="0">
              <a:spcBef>
                <a:spcPts val="480"/>
              </a:spcBef>
              <a:spcAft>
                <a:spcPts val="0"/>
              </a:spcAft>
              <a:buClr>
                <a:srgbClr val="C00000"/>
              </a:buClr>
              <a:buSzPts val="2400"/>
              <a:buFont typeface="Arial"/>
              <a:buChar char="–"/>
              <a:defRPr sz="2400" b="1" i="0" u="none" strike="noStrike" cap="none">
                <a:solidFill>
                  <a:srgbClr val="C00000"/>
                </a:solidFill>
                <a:latin typeface="Cambria"/>
                <a:ea typeface="Cambria"/>
                <a:cs typeface="Cambria"/>
                <a:sym typeface="Cambria"/>
              </a:defRPr>
            </a:lvl2pPr>
            <a:lvl3pPr marL="1371600" marR="0" lvl="2" indent="-381000" algn="l" rtl="0">
              <a:spcBef>
                <a:spcPts val="480"/>
              </a:spcBef>
              <a:spcAft>
                <a:spcPts val="0"/>
              </a:spcAft>
              <a:buClr>
                <a:srgbClr val="FF0000"/>
              </a:buClr>
              <a:buSzPts val="2400"/>
              <a:buFont typeface="Arial"/>
              <a:buChar char="•"/>
              <a:defRPr sz="2400" b="1" i="0" u="none" strike="noStrike" cap="none">
                <a:solidFill>
                  <a:srgbClr val="FF0000"/>
                </a:solidFill>
                <a:latin typeface="Cambria"/>
                <a:ea typeface="Cambria"/>
                <a:cs typeface="Cambria"/>
                <a:sym typeface="Cambria"/>
              </a:defRPr>
            </a:lvl3pPr>
            <a:lvl4pPr marL="1828800" marR="0" lvl="3" indent="-355600" algn="l" rtl="0">
              <a:spcBef>
                <a:spcPts val="400"/>
              </a:spcBef>
              <a:spcAft>
                <a:spcPts val="0"/>
              </a:spcAft>
              <a:buClr>
                <a:srgbClr val="FF66FF"/>
              </a:buClr>
              <a:buSzPts val="2000"/>
              <a:buFont typeface="Arial"/>
              <a:buChar char="–"/>
              <a:defRPr sz="2000" b="1" i="0" u="none" strike="noStrike" cap="none">
                <a:solidFill>
                  <a:srgbClr val="FF66FF"/>
                </a:solidFill>
                <a:latin typeface="Cambria"/>
                <a:ea typeface="Cambria"/>
                <a:cs typeface="Cambria"/>
                <a:sym typeface="Cambria"/>
              </a:defRPr>
            </a:lvl4pPr>
            <a:lvl5pPr marL="2286000" marR="0" lvl="4" indent="-355600" algn="l" rtl="0">
              <a:spcBef>
                <a:spcPts val="400"/>
              </a:spcBef>
              <a:spcAft>
                <a:spcPts val="0"/>
              </a:spcAft>
              <a:buClr>
                <a:srgbClr val="009999"/>
              </a:buClr>
              <a:buSzPts val="2000"/>
              <a:buFont typeface="Arial"/>
              <a:buChar char="»"/>
              <a:defRPr sz="2000" b="1" i="0" u="none" strike="noStrike" cap="none">
                <a:solidFill>
                  <a:srgbClr val="009999"/>
                </a:solidFill>
                <a:latin typeface="Cambria"/>
                <a:ea typeface="Cambria"/>
                <a:cs typeface="Cambria"/>
                <a:sym typeface="Cambri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sp>
        <p:nvSpPr>
          <p:cNvPr id="297" name="Google Shape;297;p108"/>
          <p:cNvSpPr txBox="1">
            <a:spLocks noGrp="1"/>
          </p:cNvSpPr>
          <p:nvPr>
            <p:ph type="dt" idx="10"/>
          </p:nvPr>
        </p:nvSpPr>
        <p:spPr>
          <a:xfrm>
            <a:off x="101600" y="6492875"/>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98" name="Google Shape;298;p108"/>
          <p:cNvSpPr txBox="1">
            <a:spLocks noGrp="1"/>
          </p:cNvSpPr>
          <p:nvPr>
            <p:ph type="ftr" idx="11"/>
          </p:nvPr>
        </p:nvSpPr>
        <p:spPr>
          <a:xfrm>
            <a:off x="3657600" y="6492875"/>
            <a:ext cx="40640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2000" b="0" i="0" u="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299" name="Google Shape;299;p108"/>
          <p:cNvSpPr txBox="1">
            <a:spLocks noGrp="1"/>
          </p:cNvSpPr>
          <p:nvPr>
            <p:ph type="sldNum" idx="12"/>
          </p:nvPr>
        </p:nvSpPr>
        <p:spPr>
          <a:xfrm>
            <a:off x="8839200" y="6492875"/>
            <a:ext cx="3149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1pPr>
            <a:lvl2pPr marL="0" marR="0" lvl="1"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2pPr>
            <a:lvl3pPr marL="0" marR="0" lvl="2"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3pPr>
            <a:lvl4pPr marL="0" marR="0" lvl="3"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4pPr>
            <a:lvl5pPr marL="0" marR="0" lvl="4"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5pPr>
            <a:lvl6pPr marL="0" marR="0" lvl="5"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6pPr>
            <a:lvl7pPr marL="0" marR="0" lvl="6"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7pPr>
            <a:lvl8pPr marL="0" marR="0" lvl="7"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8pPr>
            <a:lvl9pPr marL="0" marR="0" lvl="8" indent="0" algn="r" rtl="0">
              <a:lnSpc>
                <a:spcPct val="100000"/>
              </a:lnSpc>
              <a:spcBef>
                <a:spcPts val="0"/>
              </a:spcBef>
              <a:spcAft>
                <a:spcPts val="0"/>
              </a:spcAft>
              <a:buClr>
                <a:schemeClr val="dk1"/>
              </a:buClr>
              <a:buSzPts val="2000"/>
              <a:buFont typeface="Cambria"/>
              <a:buNone/>
              <a:defRPr sz="2000" b="0" i="0" u="none">
                <a:solidFill>
                  <a:schemeClr val="dk1"/>
                </a:solidFill>
                <a:latin typeface="Cambria"/>
                <a:ea typeface="Cambria"/>
                <a:cs typeface="Cambria"/>
                <a:sym typeface="Cambria"/>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gatevidyalay.com/simplex-half-duplex-full-duplex/" TargetMode="External"/><Relationship Id="rId2" Type="http://schemas.openxmlformats.org/officeDocument/2006/relationships/hyperlink" Target="https://www.gatevidyalay.com/tcp-sequence-number-wrap-around-concep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gatevidyalay.com/ipv4-ipv4-header-ipv4-header-format/" TargetMode="External"/><Relationship Id="rId2" Type="http://schemas.openxmlformats.org/officeDocument/2006/relationships/hyperlink" Target="https://www.gatevidyalay.com/ip-address-classes-of-ip-address-types/" TargetMode="External"/><Relationship Id="rId1" Type="http://schemas.openxmlformats.org/officeDocument/2006/relationships/slideLayout" Target="../slideLayouts/slideLayout2.xml"/><Relationship Id="rId5" Type="http://schemas.openxmlformats.org/officeDocument/2006/relationships/hyperlink" Target="https://www.gatevidyalay.com/go-back-n-sliding-window-protocol/" TargetMode="External"/><Relationship Id="rId4" Type="http://schemas.openxmlformats.org/officeDocument/2006/relationships/hyperlink" Target="https://www.gatevidyalay.com/selective-repeat-sliding-window-protoco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gatevidyalay.com/simplex-half-duplex-full-duplex/"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0">
          <a:extLst>
            <a:ext uri="{FF2B5EF4-FFF2-40B4-BE49-F238E27FC236}">
              <a16:creationId xmlns:a16="http://schemas.microsoft.com/office/drawing/2014/main" id="{40B07D86-0FC4-B6F5-351C-230155E473B4}"/>
            </a:ext>
          </a:extLst>
        </p:cNvPr>
        <p:cNvGrpSpPr/>
        <p:nvPr/>
      </p:nvGrpSpPr>
      <p:grpSpPr>
        <a:xfrm>
          <a:off x="0" y="0"/>
          <a:ext cx="0" cy="0"/>
          <a:chOff x="0" y="0"/>
          <a:chExt cx="0" cy="0"/>
        </a:xfrm>
      </p:grpSpPr>
      <p:pic>
        <p:nvPicPr>
          <p:cNvPr id="1028" name="Picture 4" descr="Internet Clipart Computer Networking ...">
            <a:extLst>
              <a:ext uri="{FF2B5EF4-FFF2-40B4-BE49-F238E27FC236}">
                <a16:creationId xmlns:a16="http://schemas.microsoft.com/office/drawing/2014/main" id="{400B721E-5891-754F-BC1F-6009909BBFB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68827" y="2576691"/>
            <a:ext cx="6138659" cy="3612370"/>
          </a:xfrm>
          <a:prstGeom prst="rect">
            <a:avLst/>
          </a:prstGeom>
          <a:noFill/>
          <a:extLst>
            <a:ext uri="{909E8E84-426E-40DD-AFC4-6F175D3DCCD1}">
              <a14:hiddenFill xmlns:a14="http://schemas.microsoft.com/office/drawing/2010/main">
                <a:solidFill>
                  <a:srgbClr val="FFFFFF"/>
                </a:solidFill>
              </a14:hiddenFill>
            </a:ext>
          </a:extLst>
        </p:spPr>
      </p:pic>
      <p:sp>
        <p:nvSpPr>
          <p:cNvPr id="331" name="Google Shape;331;p1">
            <a:extLst>
              <a:ext uri="{FF2B5EF4-FFF2-40B4-BE49-F238E27FC236}">
                <a16:creationId xmlns:a16="http://schemas.microsoft.com/office/drawing/2014/main" id="{E54EB0AB-5092-5A66-AC06-57E57B6225AD}"/>
              </a:ext>
            </a:extLst>
          </p:cNvPr>
          <p:cNvSpPr txBox="1"/>
          <p:nvPr/>
        </p:nvSpPr>
        <p:spPr>
          <a:xfrm>
            <a:off x="547278" y="1045914"/>
            <a:ext cx="11605394" cy="133088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0066"/>
              </a:buClr>
              <a:buSzPts val="6000"/>
              <a:buFont typeface="Cambria"/>
              <a:buNone/>
            </a:pPr>
            <a:r>
              <a:rPr lang="en-US" sz="7200" b="1" dirty="0">
                <a:solidFill>
                  <a:srgbClr val="FF0000"/>
                </a:solidFill>
                <a:latin typeface="Cambria"/>
                <a:ea typeface="Cambria"/>
                <a:cs typeface="Cambria"/>
                <a:sym typeface="Cambria"/>
              </a:rPr>
              <a:t>C</a:t>
            </a:r>
            <a:r>
              <a:rPr lang="en-US" sz="7200" b="1" dirty="0">
                <a:solidFill>
                  <a:srgbClr val="0070C0"/>
                </a:solidFill>
                <a:latin typeface="Cambria"/>
                <a:ea typeface="Cambria"/>
                <a:cs typeface="Cambria"/>
                <a:sym typeface="Cambria"/>
              </a:rPr>
              <a:t>OMPUTER</a:t>
            </a:r>
            <a:r>
              <a:rPr lang="en-US" sz="7200" b="1" dirty="0">
                <a:solidFill>
                  <a:srgbClr val="FF0000"/>
                </a:solidFill>
                <a:latin typeface="Cambria"/>
                <a:ea typeface="Cambria"/>
                <a:cs typeface="Cambria"/>
                <a:sym typeface="Cambria"/>
              </a:rPr>
              <a:t> N</a:t>
            </a:r>
            <a:r>
              <a:rPr lang="en-US" sz="7200" b="1" dirty="0">
                <a:solidFill>
                  <a:srgbClr val="0070C0"/>
                </a:solidFill>
                <a:latin typeface="Cambria"/>
                <a:ea typeface="Cambria"/>
                <a:cs typeface="Cambria"/>
                <a:sym typeface="Cambria"/>
              </a:rPr>
              <a:t>etwork</a:t>
            </a:r>
            <a:r>
              <a:rPr lang="en-US" sz="7200" b="1" dirty="0">
                <a:solidFill>
                  <a:srgbClr val="FF0000"/>
                </a:solidFill>
                <a:latin typeface="Cambria"/>
                <a:ea typeface="Cambria"/>
                <a:cs typeface="Cambria"/>
                <a:sym typeface="Cambria"/>
              </a:rPr>
              <a:t> </a:t>
            </a:r>
            <a:r>
              <a:rPr lang="en-US" sz="7200" b="1" dirty="0">
                <a:solidFill>
                  <a:srgbClr val="FFC000"/>
                </a:solidFill>
                <a:latin typeface="Cambria"/>
                <a:ea typeface="Cambria"/>
                <a:cs typeface="Cambria"/>
                <a:sym typeface="Cambria"/>
              </a:rPr>
              <a:t>22</a:t>
            </a:r>
            <a:r>
              <a:rPr lang="en-US" sz="7200" b="1" dirty="0">
                <a:solidFill>
                  <a:srgbClr val="92D050"/>
                </a:solidFill>
                <a:latin typeface="Cambria"/>
                <a:ea typeface="Cambria"/>
                <a:cs typeface="Cambria"/>
                <a:sym typeface="Cambria"/>
              </a:rPr>
              <a:t>CSE</a:t>
            </a:r>
            <a:r>
              <a:rPr lang="en-US" sz="7200" b="1" dirty="0">
                <a:solidFill>
                  <a:srgbClr val="FFC000"/>
                </a:solidFill>
                <a:latin typeface="Cambria"/>
                <a:ea typeface="Cambria"/>
                <a:cs typeface="Cambria"/>
                <a:sym typeface="Cambria"/>
              </a:rPr>
              <a:t>62</a:t>
            </a:r>
            <a:r>
              <a:rPr lang="en-US" sz="7200" b="1" dirty="0">
                <a:solidFill>
                  <a:srgbClr val="FF0000"/>
                </a:solidFill>
                <a:latin typeface="Cambria"/>
                <a:ea typeface="Cambria"/>
                <a:cs typeface="Cambria"/>
                <a:sym typeface="Cambria"/>
              </a:rPr>
              <a:t> –M.4.1</a:t>
            </a:r>
          </a:p>
          <a:p>
            <a:pPr marL="0" marR="0" lvl="0" indent="0" algn="ctr" rtl="0">
              <a:lnSpc>
                <a:spcPct val="100000"/>
              </a:lnSpc>
              <a:spcBef>
                <a:spcPts val="0"/>
              </a:spcBef>
              <a:spcAft>
                <a:spcPts val="0"/>
              </a:spcAft>
              <a:buClr>
                <a:srgbClr val="FF0066"/>
              </a:buClr>
              <a:buSzPts val="6000"/>
              <a:buFont typeface="Cambria"/>
              <a:buNone/>
            </a:pPr>
            <a:endParaRPr dirty="0"/>
          </a:p>
        </p:txBody>
      </p:sp>
      <p:pic>
        <p:nvPicPr>
          <p:cNvPr id="333" name="Google Shape;333;p1">
            <a:extLst>
              <a:ext uri="{FF2B5EF4-FFF2-40B4-BE49-F238E27FC236}">
                <a16:creationId xmlns:a16="http://schemas.microsoft.com/office/drawing/2014/main" id="{9347BEB6-D985-A934-AB70-E4E665FF3174}"/>
              </a:ext>
            </a:extLst>
          </p:cNvPr>
          <p:cNvPicPr preferRelativeResize="0"/>
          <p:nvPr/>
        </p:nvPicPr>
        <p:blipFill rotWithShape="1">
          <a:blip r:embed="rId5">
            <a:alphaModFix/>
          </a:blip>
          <a:srcRect/>
          <a:stretch/>
        </p:blipFill>
        <p:spPr>
          <a:xfrm>
            <a:off x="10913806" y="4953000"/>
            <a:ext cx="1219200" cy="1531937"/>
          </a:xfrm>
          <a:prstGeom prst="rect">
            <a:avLst/>
          </a:prstGeom>
          <a:noFill/>
          <a:ln>
            <a:noFill/>
          </a:ln>
        </p:spPr>
      </p:pic>
      <p:pic>
        <p:nvPicPr>
          <p:cNvPr id="2" name="Picture 1">
            <a:extLst>
              <a:ext uri="{FF2B5EF4-FFF2-40B4-BE49-F238E27FC236}">
                <a16:creationId xmlns:a16="http://schemas.microsoft.com/office/drawing/2014/main" id="{08948E8D-806D-6B9A-E0BF-28288568AEA2}"/>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Lst>
          </a:blip>
          <a:srcRect l="24107" r="21616" b="28859"/>
          <a:stretch>
            <a:fillRect/>
          </a:stretch>
        </p:blipFill>
        <p:spPr>
          <a:xfrm>
            <a:off x="6479459" y="3429000"/>
            <a:ext cx="3569110" cy="2619706"/>
          </a:xfrm>
          <a:prstGeom prst="rect">
            <a:avLst/>
          </a:prstGeom>
        </p:spPr>
      </p:pic>
    </p:spTree>
    <p:extLst>
      <p:ext uri="{BB962C8B-B14F-4D97-AF65-F5344CB8AC3E}">
        <p14:creationId xmlns:p14="http://schemas.microsoft.com/office/powerpoint/2010/main" val="143750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D94F5-2466-8A04-47B9-DF8C7B438A8D}"/>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450E495D-A46B-32B9-526D-9DFAFE5DE5D4}"/>
              </a:ext>
            </a:extLst>
          </p:cNvPr>
          <p:cNvSpPr>
            <a:spLocks noGrp="1"/>
          </p:cNvSpPr>
          <p:nvPr>
            <p:ph type="subTitle" idx="1"/>
          </p:nvPr>
        </p:nvSpPr>
        <p:spPr>
          <a:xfrm>
            <a:off x="432618" y="1546122"/>
            <a:ext cx="11238271" cy="3861620"/>
          </a:xfrm>
        </p:spPr>
        <p:txBody>
          <a:bodyPr/>
          <a:lstStyle/>
          <a:p>
            <a:pPr marL="508000" indent="-457200" algn="l">
              <a:buFont typeface="Arial" panose="020B0604020202020204" pitchFamily="34" charset="0"/>
              <a:buChar char="•"/>
            </a:pPr>
            <a:r>
              <a:rPr lang="en-US" dirty="0"/>
              <a:t>Transport Layer: UDP , TCP , Data Traffic , Congestion , Congestion Control algorithms, Quality of Service, Techniques to improve QoS</a:t>
            </a:r>
            <a:endParaRPr lang="en-IN" dirty="0"/>
          </a:p>
        </p:txBody>
      </p:sp>
      <p:sp>
        <p:nvSpPr>
          <p:cNvPr id="3" name="Title 2">
            <a:extLst>
              <a:ext uri="{FF2B5EF4-FFF2-40B4-BE49-F238E27FC236}">
                <a16:creationId xmlns:a16="http://schemas.microsoft.com/office/drawing/2014/main" id="{48742EAB-F11D-EB94-409B-8BD0F8E32639}"/>
              </a:ext>
            </a:extLst>
          </p:cNvPr>
          <p:cNvSpPr>
            <a:spLocks noGrp="1"/>
          </p:cNvSpPr>
          <p:nvPr>
            <p:ph type="title"/>
          </p:nvPr>
        </p:nvSpPr>
        <p:spPr/>
        <p:txBody>
          <a:bodyPr/>
          <a:lstStyle/>
          <a:p>
            <a:r>
              <a:rPr lang="en-IN" dirty="0"/>
              <a:t>Module 4 -</a:t>
            </a:r>
            <a:r>
              <a:rPr lang="en-US" dirty="0"/>
              <a:t>Transport layer and congestion control techniques</a:t>
            </a:r>
            <a:endParaRPr lang="en-IN" dirty="0"/>
          </a:p>
        </p:txBody>
      </p:sp>
    </p:spTree>
    <p:extLst>
      <p:ext uri="{BB962C8B-B14F-4D97-AF65-F5344CB8AC3E}">
        <p14:creationId xmlns:p14="http://schemas.microsoft.com/office/powerpoint/2010/main" val="321979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67840" y="674539"/>
            <a:ext cx="7906356" cy="215562"/>
          </a:xfrm>
        </p:spPr>
        <p:txBody>
          <a:bodyPr>
            <a:noAutofit/>
          </a:bodyPr>
          <a:lstStyle/>
          <a:p>
            <a:pPr algn="l"/>
            <a:r>
              <a:rPr lang="en-US" sz="2400" dirty="0">
                <a:latin typeface="Calibri" pitchFamily="34" charset="0"/>
                <a:cs typeface="Calibri" pitchFamily="34" charset="0"/>
              </a:rPr>
              <a:t> </a:t>
            </a:r>
            <a:r>
              <a:rPr lang="en-US" dirty="0">
                <a:latin typeface="Cambria" panose="02040503050406030204" pitchFamily="18" charset="0"/>
                <a:ea typeface="Cambria" panose="02040503050406030204" pitchFamily="18" charset="0"/>
                <a:cs typeface="Calibri" pitchFamily="34" charset="0"/>
              </a:rPr>
              <a:t>Transport Layer:</a:t>
            </a:r>
            <a:endParaRPr lang="en-US" sz="2400" dirty="0">
              <a:latin typeface="Cambria" panose="02040503050406030204" pitchFamily="18" charset="0"/>
              <a:ea typeface="Cambria" panose="02040503050406030204" pitchFamily="18" charset="0"/>
              <a:cs typeface="Calibri" pitchFamily="34" charset="0"/>
            </a:endParaRPr>
          </a:p>
        </p:txBody>
      </p:sp>
      <p:sp>
        <p:nvSpPr>
          <p:cNvPr id="5" name="Content Placeholder 4"/>
          <p:cNvSpPr>
            <a:spLocks noGrp="1"/>
          </p:cNvSpPr>
          <p:nvPr>
            <p:ph idx="1"/>
          </p:nvPr>
        </p:nvSpPr>
        <p:spPr>
          <a:xfrm>
            <a:off x="132080" y="1476038"/>
            <a:ext cx="11877040" cy="4833322"/>
          </a:xfrm>
        </p:spPr>
        <p:txBody>
          <a:bodyPr>
            <a:normAutofit fontScale="47500" lnSpcReduction="20000"/>
          </a:bodyPr>
          <a:lstStyle/>
          <a:p>
            <a:pPr algn="just">
              <a:lnSpc>
                <a:spcPct val="150000"/>
              </a:lnSpc>
            </a:pPr>
            <a:r>
              <a:rPr lang="en-US" sz="5500" b="0" dirty="0">
                <a:latin typeface="Cambria" panose="02040503050406030204" pitchFamily="18" charset="0"/>
                <a:ea typeface="Cambria" panose="02040503050406030204" pitchFamily="18" charset="0"/>
                <a:cs typeface="Calibri" pitchFamily="34" charset="0"/>
              </a:rPr>
              <a:t>The Transport layer is the </a:t>
            </a:r>
            <a:r>
              <a:rPr lang="en-US" sz="5500" b="0" dirty="0">
                <a:solidFill>
                  <a:srgbClr val="FF0000"/>
                </a:solidFill>
                <a:latin typeface="Cambria" panose="02040503050406030204" pitchFamily="18" charset="0"/>
                <a:ea typeface="Cambria" panose="02040503050406030204" pitchFamily="18" charset="0"/>
                <a:cs typeface="Calibri" pitchFamily="34" charset="0"/>
              </a:rPr>
              <a:t>layer-4 of the </a:t>
            </a:r>
            <a:r>
              <a:rPr lang="en-US" sz="5500" b="0" dirty="0">
                <a:latin typeface="Cambria" panose="02040503050406030204" pitchFamily="18" charset="0"/>
                <a:ea typeface="Cambria" panose="02040503050406030204" pitchFamily="18" charset="0"/>
                <a:cs typeface="Calibri" pitchFamily="34" charset="0"/>
              </a:rPr>
              <a:t>OSI reference model. </a:t>
            </a:r>
          </a:p>
          <a:p>
            <a:pPr algn="just">
              <a:lnSpc>
                <a:spcPct val="150000"/>
              </a:lnSpc>
            </a:pPr>
            <a:r>
              <a:rPr lang="en-US" sz="5500" b="0" dirty="0">
                <a:latin typeface="Cambria" panose="02040503050406030204" pitchFamily="18" charset="0"/>
                <a:ea typeface="Cambria" panose="02040503050406030204" pitchFamily="18" charset="0"/>
                <a:cs typeface="Calibri" pitchFamily="34" charset="0"/>
              </a:rPr>
              <a:t>The transport layer is mainly responsible for the </a:t>
            </a:r>
            <a:r>
              <a:rPr lang="en-US" sz="5500" b="0" dirty="0">
                <a:solidFill>
                  <a:srgbClr val="FF0000"/>
                </a:solidFill>
                <a:latin typeface="Cambria" panose="02040503050406030204" pitchFamily="18" charset="0"/>
                <a:ea typeface="Cambria" panose="02040503050406030204" pitchFamily="18" charset="0"/>
                <a:cs typeface="Calibri" pitchFamily="34" charset="0"/>
              </a:rPr>
              <a:t>process-to-process</a:t>
            </a:r>
            <a:r>
              <a:rPr lang="en-US" sz="5500" b="0" dirty="0">
                <a:latin typeface="Cambria" panose="02040503050406030204" pitchFamily="18" charset="0"/>
                <a:ea typeface="Cambria" panose="02040503050406030204" pitchFamily="18" charset="0"/>
                <a:cs typeface="Calibri" pitchFamily="34" charset="0"/>
              </a:rPr>
              <a:t> delivery of the entire message. </a:t>
            </a:r>
          </a:p>
          <a:p>
            <a:pPr algn="just">
              <a:lnSpc>
                <a:spcPct val="150000"/>
              </a:lnSpc>
            </a:pPr>
            <a:r>
              <a:rPr lang="en-US" sz="5500" b="0" dirty="0">
                <a:latin typeface="Cambria" panose="02040503050406030204" pitchFamily="18" charset="0"/>
                <a:ea typeface="Cambria" panose="02040503050406030204" pitchFamily="18" charset="0"/>
                <a:cs typeface="Calibri" pitchFamily="34" charset="0"/>
              </a:rPr>
              <a:t>A process is basically an application program that is running on the host.</a:t>
            </a:r>
          </a:p>
          <a:p>
            <a:pPr algn="just">
              <a:lnSpc>
                <a:spcPct val="150000"/>
              </a:lnSpc>
            </a:pPr>
            <a:r>
              <a:rPr lang="en-US" sz="5500" b="0" dirty="0">
                <a:latin typeface="Cambria" panose="02040503050406030204" pitchFamily="18" charset="0"/>
                <a:ea typeface="Cambria" panose="02040503050406030204" pitchFamily="18" charset="0"/>
                <a:cs typeface="Calibri" pitchFamily="34" charset="0"/>
              </a:rPr>
              <a:t>The basic function of the Transport layer is to </a:t>
            </a:r>
            <a:r>
              <a:rPr lang="en-US" sz="5500" b="0" dirty="0">
                <a:solidFill>
                  <a:srgbClr val="FF0000"/>
                </a:solidFill>
                <a:latin typeface="Cambria" panose="02040503050406030204" pitchFamily="18" charset="0"/>
                <a:ea typeface="Cambria" panose="02040503050406030204" pitchFamily="18" charset="0"/>
                <a:cs typeface="Calibri" pitchFamily="34" charset="0"/>
              </a:rPr>
              <a:t>accept data from the layer above, split it up into smaller units</a:t>
            </a:r>
            <a:r>
              <a:rPr lang="en-US" sz="5500" b="0" dirty="0">
                <a:latin typeface="Cambria" panose="02040503050406030204" pitchFamily="18" charset="0"/>
                <a:ea typeface="Cambria" panose="02040503050406030204" pitchFamily="18" charset="0"/>
                <a:cs typeface="Calibri" pitchFamily="34" charset="0"/>
              </a:rPr>
              <a:t>, pass these data units to the Network layer, and ensure that all the pieces arrive correctly at the other end.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470DC-580B-8B25-2A80-B5B1863D85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5A9AEA-14C0-FD02-ADDE-4AE017D52F42}"/>
              </a:ext>
            </a:extLst>
          </p:cNvPr>
          <p:cNvSpPr>
            <a:spLocks noGrp="1"/>
          </p:cNvSpPr>
          <p:nvPr>
            <p:ph type="title"/>
          </p:nvPr>
        </p:nvSpPr>
        <p:spPr>
          <a:xfrm>
            <a:off x="1767840" y="674539"/>
            <a:ext cx="7906356" cy="215562"/>
          </a:xfrm>
        </p:spPr>
        <p:txBody>
          <a:bodyPr>
            <a:noAutofit/>
          </a:bodyPr>
          <a:lstStyle/>
          <a:p>
            <a:pPr algn="l"/>
            <a:r>
              <a:rPr lang="en-US" sz="2400" dirty="0">
                <a:latin typeface="Calibri" pitchFamily="34" charset="0"/>
                <a:cs typeface="Calibri" pitchFamily="34" charset="0"/>
              </a:rPr>
              <a:t> </a:t>
            </a:r>
            <a:r>
              <a:rPr lang="en-US" dirty="0">
                <a:latin typeface="Cambria" panose="02040503050406030204" pitchFamily="18" charset="0"/>
                <a:ea typeface="Cambria" panose="02040503050406030204" pitchFamily="18" charset="0"/>
                <a:cs typeface="Calibri" pitchFamily="34" charset="0"/>
              </a:rPr>
              <a:t>Transport Layer:</a:t>
            </a:r>
            <a:endParaRPr lang="en-US" sz="2400" dirty="0">
              <a:latin typeface="Cambria" panose="02040503050406030204" pitchFamily="18" charset="0"/>
              <a:ea typeface="Cambria" panose="02040503050406030204" pitchFamily="18" charset="0"/>
              <a:cs typeface="Calibri" pitchFamily="34" charset="0"/>
            </a:endParaRPr>
          </a:p>
        </p:txBody>
      </p:sp>
      <p:sp>
        <p:nvSpPr>
          <p:cNvPr id="5" name="Content Placeholder 4">
            <a:extLst>
              <a:ext uri="{FF2B5EF4-FFF2-40B4-BE49-F238E27FC236}">
                <a16:creationId xmlns:a16="http://schemas.microsoft.com/office/drawing/2014/main" id="{F05CCF72-AFF5-D283-376B-677DCAD94EAB}"/>
              </a:ext>
            </a:extLst>
          </p:cNvPr>
          <p:cNvSpPr>
            <a:spLocks noGrp="1"/>
          </p:cNvSpPr>
          <p:nvPr>
            <p:ph idx="1"/>
          </p:nvPr>
        </p:nvSpPr>
        <p:spPr>
          <a:xfrm>
            <a:off x="132080" y="1476038"/>
            <a:ext cx="11877040" cy="4599642"/>
          </a:xfrm>
        </p:spPr>
        <p:txBody>
          <a:bodyPr>
            <a:normAutofit fontScale="55000" lnSpcReduction="20000"/>
          </a:bodyPr>
          <a:lstStyle/>
          <a:p>
            <a:pPr marL="114300" indent="0" algn="just">
              <a:lnSpc>
                <a:spcPct val="150000"/>
              </a:lnSpc>
              <a:buNone/>
            </a:pPr>
            <a:r>
              <a:rPr lang="en-US" sz="8600" b="0" dirty="0">
                <a:solidFill>
                  <a:schemeClr val="bg2"/>
                </a:solidFill>
                <a:latin typeface="Cambria" panose="02040503050406030204" pitchFamily="18" charset="0"/>
                <a:ea typeface="Cambria" panose="02040503050406030204" pitchFamily="18" charset="0"/>
                <a:cs typeface="Calibri" pitchFamily="34" charset="0"/>
              </a:rPr>
              <a:t>Functions of Transport Layer</a:t>
            </a:r>
          </a:p>
          <a:p>
            <a:pPr algn="just">
              <a:lnSpc>
                <a:spcPct val="150000"/>
              </a:lnSpc>
              <a:buNone/>
            </a:pPr>
            <a:r>
              <a:rPr lang="en-US" sz="5500" b="0" dirty="0">
                <a:latin typeface="Cambria" panose="02040503050406030204" pitchFamily="18" charset="0"/>
                <a:ea typeface="Cambria" panose="02040503050406030204" pitchFamily="18" charset="0"/>
                <a:cs typeface="Calibri" pitchFamily="34" charset="0"/>
              </a:rPr>
              <a:t>1.	</a:t>
            </a:r>
            <a:r>
              <a:rPr lang="en-US" sz="5500" b="0" dirty="0">
                <a:solidFill>
                  <a:srgbClr val="FF0000"/>
                </a:solidFill>
                <a:latin typeface="Cambria" panose="02040503050406030204" pitchFamily="18" charset="0"/>
                <a:ea typeface="Cambria" panose="02040503050406030204" pitchFamily="18" charset="0"/>
                <a:cs typeface="Calibri" pitchFamily="34" charset="0"/>
              </a:rPr>
              <a:t>Service Point Addressing: </a:t>
            </a:r>
            <a:r>
              <a:rPr lang="en-US" sz="5500" b="0" dirty="0">
                <a:latin typeface="Cambria" panose="02040503050406030204" pitchFamily="18" charset="0"/>
                <a:ea typeface="Cambria" panose="02040503050406030204" pitchFamily="18" charset="0"/>
                <a:cs typeface="Calibri" pitchFamily="34" charset="0"/>
              </a:rPr>
              <a:t>Transport Layer header includes service </a:t>
            </a:r>
            <a:r>
              <a:rPr lang="en-US" sz="5500" b="0" dirty="0">
                <a:solidFill>
                  <a:srgbClr val="FF0000"/>
                </a:solidFill>
                <a:latin typeface="Cambria" panose="02040503050406030204" pitchFamily="18" charset="0"/>
                <a:ea typeface="Cambria" panose="02040503050406030204" pitchFamily="18" charset="0"/>
                <a:cs typeface="Calibri" pitchFamily="34" charset="0"/>
              </a:rPr>
              <a:t>point address </a:t>
            </a:r>
            <a:r>
              <a:rPr lang="en-US" sz="5500" b="0" dirty="0">
                <a:latin typeface="Cambria" panose="02040503050406030204" pitchFamily="18" charset="0"/>
                <a:ea typeface="Cambria" panose="02040503050406030204" pitchFamily="18" charset="0"/>
                <a:cs typeface="Calibri" pitchFamily="34" charset="0"/>
              </a:rPr>
              <a:t>which is the port address. This layer gets the message to the correct process on the computer unlike Network Layer, which gets each packet to the correct computer.</a:t>
            </a:r>
          </a:p>
          <a:p>
            <a:pPr>
              <a:buNone/>
            </a:pPr>
            <a:br>
              <a:rPr lang="en-US" dirty="0"/>
            </a:br>
            <a:endParaRPr lang="en-US" sz="1800" dirty="0"/>
          </a:p>
        </p:txBody>
      </p:sp>
    </p:spTree>
    <p:extLst>
      <p:ext uri="{BB962C8B-B14F-4D97-AF65-F5344CB8AC3E}">
        <p14:creationId xmlns:p14="http://schemas.microsoft.com/office/powerpoint/2010/main" val="1311466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94276" y="721972"/>
            <a:ext cx="8229600" cy="357190"/>
          </a:xfrm>
        </p:spPr>
        <p:txBody>
          <a:bodyPr>
            <a:normAutofit fontScale="90000"/>
          </a:bodyPr>
          <a:lstStyle/>
          <a:p>
            <a:pPr algn="l">
              <a:buFont typeface="Arial" pitchFamily="34" charset="0"/>
              <a:buChar char="•"/>
            </a:pPr>
            <a:r>
              <a:rPr lang="en-US" sz="2400" dirty="0">
                <a:latin typeface="Calibri" pitchFamily="34" charset="0"/>
                <a:cs typeface="Calibri" pitchFamily="34" charset="0"/>
              </a:rPr>
              <a:t>    Functions of Transport Layer:</a:t>
            </a:r>
          </a:p>
        </p:txBody>
      </p:sp>
      <p:sp>
        <p:nvSpPr>
          <p:cNvPr id="5" name="Content Placeholder 4"/>
          <p:cNvSpPr>
            <a:spLocks noGrp="1"/>
          </p:cNvSpPr>
          <p:nvPr>
            <p:ph idx="1"/>
          </p:nvPr>
        </p:nvSpPr>
        <p:spPr>
          <a:xfrm>
            <a:off x="365760" y="1577638"/>
            <a:ext cx="11623040" cy="4721562"/>
          </a:xfrm>
        </p:spPr>
        <p:txBody>
          <a:bodyPr>
            <a:normAutofit fontScale="92500" lnSpcReduction="10000"/>
          </a:bodyPr>
          <a:lstStyle/>
          <a:p>
            <a:pPr algn="just">
              <a:buNone/>
            </a:pPr>
            <a:r>
              <a:rPr lang="en-US" sz="1800" dirty="0">
                <a:latin typeface="Calibri" pitchFamily="34" charset="0"/>
                <a:cs typeface="Calibri" pitchFamily="34" charset="0"/>
              </a:rPr>
              <a:t>2.	</a:t>
            </a:r>
            <a:r>
              <a:rPr lang="en-US" b="0" dirty="0">
                <a:solidFill>
                  <a:srgbClr val="FF0000"/>
                </a:solidFill>
                <a:latin typeface="Cambria" panose="02040503050406030204" pitchFamily="18" charset="0"/>
                <a:ea typeface="Cambria" panose="02040503050406030204" pitchFamily="18" charset="0"/>
                <a:cs typeface="Calibri" pitchFamily="34" charset="0"/>
              </a:rPr>
              <a:t>Segmentation and Reassembling: </a:t>
            </a:r>
            <a:r>
              <a:rPr lang="en-US" b="0" dirty="0">
                <a:latin typeface="Cambria" panose="02040503050406030204" pitchFamily="18" charset="0"/>
                <a:ea typeface="Cambria" panose="02040503050406030204" pitchFamily="18" charset="0"/>
                <a:cs typeface="Calibri" pitchFamily="34" charset="0"/>
              </a:rPr>
              <a:t>A message is divided into segments(that are transmittable); each segment contains </a:t>
            </a:r>
            <a:r>
              <a:rPr lang="en-US" b="0" dirty="0">
                <a:solidFill>
                  <a:srgbClr val="FF0000"/>
                </a:solidFill>
                <a:latin typeface="Cambria" panose="02040503050406030204" pitchFamily="18" charset="0"/>
                <a:ea typeface="Cambria" panose="02040503050406030204" pitchFamily="18" charset="0"/>
                <a:cs typeface="Calibri" pitchFamily="34" charset="0"/>
              </a:rPr>
              <a:t>a sequence number</a:t>
            </a:r>
            <a:r>
              <a:rPr lang="en-US" b="0" dirty="0">
                <a:latin typeface="Cambria" panose="02040503050406030204" pitchFamily="18" charset="0"/>
                <a:ea typeface="Cambria" panose="02040503050406030204" pitchFamily="18" charset="0"/>
                <a:cs typeface="Calibri" pitchFamily="34" charset="0"/>
              </a:rPr>
              <a:t>, which enables this layer in reassembling the message. The message is reassembled correctly upon arrival at the destination and </a:t>
            </a:r>
            <a:r>
              <a:rPr lang="en-US" b="0" dirty="0">
                <a:solidFill>
                  <a:srgbClr val="FF0000"/>
                </a:solidFill>
                <a:latin typeface="Cambria" panose="02040503050406030204" pitchFamily="18" charset="0"/>
                <a:ea typeface="Cambria" panose="02040503050406030204" pitchFamily="18" charset="0"/>
                <a:cs typeface="Calibri" pitchFamily="34" charset="0"/>
              </a:rPr>
              <a:t>replaces </a:t>
            </a:r>
            <a:r>
              <a:rPr lang="en-US" b="0" dirty="0">
                <a:latin typeface="Cambria" panose="02040503050406030204" pitchFamily="18" charset="0"/>
                <a:ea typeface="Cambria" panose="02040503050406030204" pitchFamily="18" charset="0"/>
                <a:cs typeface="Calibri" pitchFamily="34" charset="0"/>
              </a:rPr>
              <a:t>packets that were lost in transmission.</a:t>
            </a:r>
          </a:p>
          <a:p>
            <a:pPr algn="just">
              <a:buNone/>
            </a:pPr>
            <a:endParaRPr lang="en-US" b="0" dirty="0">
              <a:latin typeface="Cambria" panose="02040503050406030204" pitchFamily="18" charset="0"/>
              <a:ea typeface="Cambria" panose="02040503050406030204" pitchFamily="18" charset="0"/>
              <a:cs typeface="Calibri" pitchFamily="34" charset="0"/>
            </a:endParaRPr>
          </a:p>
          <a:p>
            <a:pPr algn="just">
              <a:buNone/>
            </a:pPr>
            <a:r>
              <a:rPr lang="en-US" b="0" dirty="0">
                <a:latin typeface="Cambria" panose="02040503050406030204" pitchFamily="18" charset="0"/>
                <a:ea typeface="Cambria" panose="02040503050406030204" pitchFamily="18" charset="0"/>
                <a:cs typeface="Calibri" pitchFamily="34" charset="0"/>
              </a:rPr>
              <a:t>3.	</a:t>
            </a:r>
            <a:r>
              <a:rPr lang="en-US" b="0" dirty="0">
                <a:solidFill>
                  <a:srgbClr val="FF0000"/>
                </a:solidFill>
                <a:latin typeface="Cambria" panose="02040503050406030204" pitchFamily="18" charset="0"/>
                <a:ea typeface="Cambria" panose="02040503050406030204" pitchFamily="18" charset="0"/>
                <a:cs typeface="Calibri" pitchFamily="34" charset="0"/>
              </a:rPr>
              <a:t>Connection Control</a:t>
            </a:r>
            <a:r>
              <a:rPr lang="en-US" b="0" dirty="0">
                <a:latin typeface="Cambria" panose="02040503050406030204" pitchFamily="18" charset="0"/>
                <a:ea typeface="Cambria" panose="02040503050406030204" pitchFamily="18" charset="0"/>
                <a:cs typeface="Calibri" pitchFamily="34" charset="0"/>
              </a:rPr>
              <a:t>: It includes 2 types:</a:t>
            </a:r>
          </a:p>
          <a:p>
            <a:pPr lvl="1" algn="just"/>
            <a:r>
              <a:rPr lang="en-US" sz="2800" b="0" dirty="0">
                <a:latin typeface="Cambria" panose="02040503050406030204" pitchFamily="18" charset="0"/>
                <a:ea typeface="Cambria" panose="02040503050406030204" pitchFamily="18" charset="0"/>
                <a:cs typeface="Calibri" pitchFamily="34" charset="0"/>
              </a:rPr>
              <a:t>Connectionless Transport Layer: Each segment is considered as an independent packet and delivered to the transport layer at the destination machine.</a:t>
            </a:r>
          </a:p>
          <a:p>
            <a:pPr lvl="1" algn="just"/>
            <a:r>
              <a:rPr lang="en-US" sz="2800" b="0" dirty="0">
                <a:latin typeface="Cambria" panose="02040503050406030204" pitchFamily="18" charset="0"/>
                <a:ea typeface="Cambria" panose="02040503050406030204" pitchFamily="18" charset="0"/>
                <a:cs typeface="Calibri" pitchFamily="34" charset="0"/>
              </a:rPr>
              <a:t>Connection-Oriented Transport Layer: Before delivering packets, the connection is made with the transport layer at the destination machine.</a:t>
            </a:r>
          </a:p>
          <a:p>
            <a:pPr lvl="1" algn="just">
              <a:buNone/>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CDE2-20E3-A4F5-3884-4A8F994BC5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7F9B4F3-E96A-06B6-F538-0B7D1F456DAD}"/>
              </a:ext>
            </a:extLst>
          </p:cNvPr>
          <p:cNvSpPr>
            <a:spLocks noGrp="1"/>
          </p:cNvSpPr>
          <p:nvPr>
            <p:ph type="title"/>
          </p:nvPr>
        </p:nvSpPr>
        <p:spPr>
          <a:xfrm>
            <a:off x="1637636" y="661012"/>
            <a:ext cx="8229600" cy="357190"/>
          </a:xfrm>
        </p:spPr>
        <p:txBody>
          <a:bodyPr>
            <a:normAutofit fontScale="90000"/>
          </a:bodyPr>
          <a:lstStyle/>
          <a:p>
            <a:pPr algn="l">
              <a:buFont typeface="Arial" pitchFamily="34" charset="0"/>
              <a:buChar char="•"/>
            </a:pPr>
            <a:r>
              <a:rPr lang="en-US" sz="2400" dirty="0">
                <a:latin typeface="Calibri" pitchFamily="34" charset="0"/>
                <a:cs typeface="Calibri" pitchFamily="34" charset="0"/>
              </a:rPr>
              <a:t>    </a:t>
            </a:r>
            <a:r>
              <a:rPr lang="en-US" dirty="0">
                <a:latin typeface="Cambria" panose="02040503050406030204" pitchFamily="18" charset="0"/>
                <a:ea typeface="Cambria" panose="02040503050406030204" pitchFamily="18" charset="0"/>
                <a:cs typeface="Calibri" pitchFamily="34" charset="0"/>
              </a:rPr>
              <a:t>Functions of Transport Layer:</a:t>
            </a:r>
            <a:endParaRPr lang="en-US" sz="2400" dirty="0">
              <a:latin typeface="Cambria" panose="02040503050406030204" pitchFamily="18" charset="0"/>
              <a:ea typeface="Cambria" panose="02040503050406030204" pitchFamily="18" charset="0"/>
              <a:cs typeface="Calibri" pitchFamily="34" charset="0"/>
            </a:endParaRPr>
          </a:p>
        </p:txBody>
      </p:sp>
      <p:sp>
        <p:nvSpPr>
          <p:cNvPr id="5" name="Content Placeholder 4">
            <a:extLst>
              <a:ext uri="{FF2B5EF4-FFF2-40B4-BE49-F238E27FC236}">
                <a16:creationId xmlns:a16="http://schemas.microsoft.com/office/drawing/2014/main" id="{36558AFD-EB79-2E87-9F4D-549D02145B2B}"/>
              </a:ext>
            </a:extLst>
          </p:cNvPr>
          <p:cNvSpPr>
            <a:spLocks noGrp="1"/>
          </p:cNvSpPr>
          <p:nvPr>
            <p:ph idx="1"/>
          </p:nvPr>
        </p:nvSpPr>
        <p:spPr>
          <a:xfrm>
            <a:off x="326996" y="1374438"/>
            <a:ext cx="11480800" cy="6000792"/>
          </a:xfrm>
        </p:spPr>
        <p:txBody>
          <a:bodyPr/>
          <a:lstStyle/>
          <a:p>
            <a:pPr lvl="1" algn="just">
              <a:buNone/>
            </a:pPr>
            <a:endParaRPr lang="en-US" sz="1800" dirty="0">
              <a:latin typeface="Calibri" pitchFamily="34" charset="0"/>
              <a:cs typeface="Calibri" pitchFamily="34" charset="0"/>
            </a:endParaRPr>
          </a:p>
          <a:p>
            <a:pPr algn="just">
              <a:buNone/>
            </a:pPr>
            <a:r>
              <a:rPr lang="en-US" dirty="0">
                <a:latin typeface="Cambria" panose="02040503050406030204" pitchFamily="18" charset="0"/>
                <a:ea typeface="Cambria" panose="02040503050406030204" pitchFamily="18" charset="0"/>
                <a:cs typeface="Calibri" pitchFamily="34" charset="0"/>
              </a:rPr>
              <a:t>4.	</a:t>
            </a:r>
            <a:r>
              <a:rPr lang="en-US" dirty="0">
                <a:solidFill>
                  <a:srgbClr val="FF0000"/>
                </a:solidFill>
                <a:latin typeface="Cambria" panose="02040503050406030204" pitchFamily="18" charset="0"/>
                <a:ea typeface="Cambria" panose="02040503050406030204" pitchFamily="18" charset="0"/>
                <a:cs typeface="Calibri" pitchFamily="34" charset="0"/>
              </a:rPr>
              <a:t>Flow Control: </a:t>
            </a:r>
            <a:r>
              <a:rPr lang="en-US" dirty="0">
                <a:latin typeface="Cambria" panose="02040503050406030204" pitchFamily="18" charset="0"/>
                <a:ea typeface="Cambria" panose="02040503050406030204" pitchFamily="18" charset="0"/>
                <a:cs typeface="Calibri" pitchFamily="34" charset="0"/>
              </a:rPr>
              <a:t>In this layer, flow control is performed end to end rather than across a single link.</a:t>
            </a:r>
          </a:p>
          <a:p>
            <a:pPr algn="just">
              <a:buAutoNum type="arabicPeriod" startAt="4"/>
            </a:pPr>
            <a:endParaRPr lang="en-US" dirty="0">
              <a:latin typeface="Cambria" panose="02040503050406030204" pitchFamily="18" charset="0"/>
              <a:ea typeface="Cambria" panose="02040503050406030204" pitchFamily="18" charset="0"/>
              <a:cs typeface="Calibri" pitchFamily="34" charset="0"/>
            </a:endParaRPr>
          </a:p>
          <a:p>
            <a:pPr algn="just">
              <a:buNone/>
            </a:pPr>
            <a:r>
              <a:rPr lang="en-US" dirty="0">
                <a:latin typeface="Cambria" panose="02040503050406030204" pitchFamily="18" charset="0"/>
                <a:ea typeface="Cambria" panose="02040503050406030204" pitchFamily="18" charset="0"/>
                <a:cs typeface="Calibri" pitchFamily="34" charset="0"/>
              </a:rPr>
              <a:t>5.	</a:t>
            </a:r>
            <a:r>
              <a:rPr lang="en-US" dirty="0">
                <a:solidFill>
                  <a:srgbClr val="FF0000"/>
                </a:solidFill>
                <a:latin typeface="Cambria" panose="02040503050406030204" pitchFamily="18" charset="0"/>
                <a:ea typeface="Cambria" panose="02040503050406030204" pitchFamily="18" charset="0"/>
                <a:cs typeface="Calibri" pitchFamily="34" charset="0"/>
              </a:rPr>
              <a:t>Error Control: </a:t>
            </a:r>
            <a:r>
              <a:rPr lang="en-US" dirty="0">
                <a:latin typeface="Cambria" panose="02040503050406030204" pitchFamily="18" charset="0"/>
                <a:ea typeface="Cambria" panose="02040503050406030204" pitchFamily="18" charset="0"/>
                <a:cs typeface="Calibri" pitchFamily="34" charset="0"/>
              </a:rPr>
              <a:t>Error Control is performed end to end in this layer to ensure that the complete message arrives at the receiving transport layer without any error. Error Correction is done through retransmission.</a:t>
            </a:r>
          </a:p>
          <a:p>
            <a:pPr>
              <a:buNone/>
            </a:pPr>
            <a:endParaRPr lang="en-US" sz="1800" dirty="0"/>
          </a:p>
          <a:p>
            <a:pPr algn="just">
              <a:buNone/>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p:txBody>
      </p:sp>
    </p:spTree>
    <p:extLst>
      <p:ext uri="{BB962C8B-B14F-4D97-AF65-F5344CB8AC3E}">
        <p14:creationId xmlns:p14="http://schemas.microsoft.com/office/powerpoint/2010/main" val="2901394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91636" y="721972"/>
            <a:ext cx="8229600" cy="357190"/>
          </a:xfrm>
        </p:spPr>
        <p:txBody>
          <a:bodyPr>
            <a:normAutofit fontScale="90000"/>
          </a:bodyPr>
          <a:lstStyle/>
          <a:p>
            <a:pPr algn="l">
              <a:buFont typeface="Arial" pitchFamily="34" charset="0"/>
              <a:buChar char="•"/>
            </a:pPr>
            <a:r>
              <a:rPr lang="en-US" sz="2400" dirty="0">
                <a:latin typeface="Calibri" pitchFamily="34" charset="0"/>
                <a:cs typeface="Calibri" pitchFamily="34" charset="0"/>
              </a:rPr>
              <a:t>    Transport Layer Protocol:</a:t>
            </a:r>
          </a:p>
        </p:txBody>
      </p:sp>
      <p:sp>
        <p:nvSpPr>
          <p:cNvPr id="5" name="Content Placeholder 4"/>
          <p:cNvSpPr>
            <a:spLocks noGrp="1"/>
          </p:cNvSpPr>
          <p:nvPr>
            <p:ph idx="1"/>
          </p:nvPr>
        </p:nvSpPr>
        <p:spPr>
          <a:xfrm>
            <a:off x="589280" y="1730038"/>
            <a:ext cx="9784080" cy="6000792"/>
          </a:xfrm>
        </p:spPr>
        <p:txBody>
          <a:bodyPr>
            <a:normAutofit/>
          </a:bodyPr>
          <a:lstStyle/>
          <a:p>
            <a:pPr algn="just"/>
            <a:r>
              <a:rPr lang="en-US" sz="3200" dirty="0">
                <a:solidFill>
                  <a:schemeClr val="bg2"/>
                </a:solidFill>
                <a:latin typeface="Calibri" pitchFamily="34" charset="0"/>
                <a:cs typeface="Calibri" pitchFamily="34" charset="0"/>
              </a:rPr>
              <a:t>Transport Layer Protocol</a:t>
            </a:r>
          </a:p>
          <a:p>
            <a:pPr marL="571500" indent="-457200" algn="just">
              <a:lnSpc>
                <a:spcPct val="150000"/>
              </a:lnSpc>
              <a:buFont typeface="+mj-lt"/>
              <a:buAutoNum type="arabicPeriod"/>
            </a:pPr>
            <a:r>
              <a:rPr lang="en-IN" dirty="0">
                <a:solidFill>
                  <a:schemeClr val="tx1"/>
                </a:solidFill>
                <a:latin typeface="Calibri" pitchFamily="34" charset="0"/>
                <a:cs typeface="Calibri" pitchFamily="34" charset="0"/>
              </a:rPr>
              <a:t>TCP (Transmission Control Protocol)</a:t>
            </a:r>
            <a:endParaRPr lang="en-US" dirty="0">
              <a:solidFill>
                <a:schemeClr val="tx1"/>
              </a:solidFill>
              <a:latin typeface="Calibri" pitchFamily="34" charset="0"/>
              <a:cs typeface="Calibri" pitchFamily="34" charset="0"/>
            </a:endParaRPr>
          </a:p>
          <a:p>
            <a:pPr marL="571500" indent="-457200" algn="just">
              <a:lnSpc>
                <a:spcPct val="150000"/>
              </a:lnSpc>
              <a:buFont typeface="+mj-lt"/>
              <a:buAutoNum type="arabicPeriod"/>
            </a:pPr>
            <a:r>
              <a:rPr lang="en-IN" dirty="0">
                <a:solidFill>
                  <a:schemeClr val="tx1"/>
                </a:solidFill>
                <a:latin typeface="Calibri" pitchFamily="34" charset="0"/>
                <a:cs typeface="Calibri" pitchFamily="34" charset="0"/>
              </a:rPr>
              <a:t>UDP (User Datagram Protocol)</a:t>
            </a:r>
          </a:p>
          <a:p>
            <a:pPr marL="571500" indent="-457200" algn="just">
              <a:lnSpc>
                <a:spcPct val="150000"/>
              </a:lnSpc>
              <a:buFont typeface="+mj-lt"/>
              <a:buAutoNum type="arabicPeriod"/>
            </a:pPr>
            <a:r>
              <a:rPr lang="en-IN" dirty="0">
                <a:solidFill>
                  <a:schemeClr val="tx1"/>
                </a:solidFill>
                <a:latin typeface="Calibri" pitchFamily="34" charset="0"/>
                <a:cs typeface="Calibri" pitchFamily="34" charset="0"/>
              </a:rPr>
              <a:t>SCTP (Stream Control Transmission Protocol)</a:t>
            </a:r>
            <a:endParaRPr lang="en-US" dirty="0">
              <a:solidFill>
                <a:schemeClr val="tx2"/>
              </a:solidFill>
              <a:latin typeface="Calibri" pitchFamily="34" charset="0"/>
              <a:cs typeface="Calibri" pitchFamily="34" charset="0"/>
            </a:endParaRPr>
          </a:p>
          <a:p>
            <a:pPr algn="just">
              <a:lnSpc>
                <a:spcPct val="150000"/>
              </a:lnSpc>
              <a:buNone/>
            </a:pPr>
            <a:endParaRPr lang="en-US" sz="2000" dirty="0">
              <a:solidFill>
                <a:schemeClr val="tx1"/>
              </a:solidFill>
              <a:latin typeface="Calibri" pitchFamily="34" charset="0"/>
              <a:cs typeface="Calibri" pitchFamily="34" charset="0"/>
            </a:endParaRPr>
          </a:p>
          <a:p>
            <a:pPr algn="just"/>
            <a:endParaRPr lang="en-US" sz="2000" dirty="0">
              <a:solidFill>
                <a:schemeClr val="tx2"/>
              </a:solidFill>
              <a:latin typeface="Calibri" pitchFamily="34" charset="0"/>
              <a:cs typeface="Calibri" pitchFamily="34" charset="0"/>
            </a:endParaRPr>
          </a:p>
          <a:p>
            <a:pPr algn="just"/>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798E-DD8D-7C82-7194-6843824411DC}"/>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16A98F5-39F8-6273-33C9-080D85B845F8}"/>
              </a:ext>
            </a:extLst>
          </p:cNvPr>
          <p:cNvSpPr>
            <a:spLocks noGrp="1"/>
          </p:cNvSpPr>
          <p:nvPr>
            <p:ph idx="1"/>
          </p:nvPr>
        </p:nvSpPr>
        <p:spPr>
          <a:xfrm>
            <a:off x="223520" y="1557318"/>
            <a:ext cx="11968480" cy="6000792"/>
          </a:xfrm>
        </p:spPr>
        <p:txBody>
          <a:bodyPr>
            <a:normAutofit/>
          </a:bodyPr>
          <a:lstStyle/>
          <a:p>
            <a:pPr algn="just">
              <a:lnSpc>
                <a:spcPct val="150000"/>
              </a:lnSpc>
              <a:buNone/>
            </a:pPr>
            <a:r>
              <a:rPr lang="en-IN" sz="2000" dirty="0">
                <a:solidFill>
                  <a:schemeClr val="bg2"/>
                </a:solidFill>
                <a:latin typeface="Calibri" pitchFamily="34" charset="0"/>
                <a:cs typeface="Calibri" pitchFamily="34" charset="0"/>
              </a:rPr>
              <a:t> </a:t>
            </a:r>
            <a:r>
              <a:rPr lang="en-IN" sz="2000" b="0" dirty="0">
                <a:solidFill>
                  <a:schemeClr val="bg2"/>
                </a:solidFill>
                <a:latin typeface="Cambria" panose="02040503050406030204" pitchFamily="18" charset="0"/>
                <a:ea typeface="Cambria" panose="02040503050406030204" pitchFamily="18" charset="0"/>
                <a:cs typeface="Calibri" pitchFamily="34" charset="0"/>
              </a:rPr>
              <a:t>UDP:</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is the simplest </a:t>
            </a:r>
            <a:r>
              <a:rPr lang="en-US" sz="1800" b="0" dirty="0">
                <a:solidFill>
                  <a:srgbClr val="FF0000"/>
                </a:solidFill>
                <a:latin typeface="Cambria" panose="02040503050406030204" pitchFamily="18" charset="0"/>
                <a:ea typeface="Cambria" panose="02040503050406030204" pitchFamily="18" charset="0"/>
                <a:cs typeface="Calibri" pitchFamily="34" charset="0"/>
              </a:rPr>
              <a:t>transport layer protocol.</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has been designed to </a:t>
            </a:r>
            <a:r>
              <a:rPr lang="en-US" sz="1800" b="0" dirty="0">
                <a:solidFill>
                  <a:srgbClr val="FF0000"/>
                </a:solidFill>
                <a:latin typeface="Cambria" panose="02040503050406030204" pitchFamily="18" charset="0"/>
                <a:ea typeface="Cambria" panose="02040503050406030204" pitchFamily="18" charset="0"/>
                <a:cs typeface="Calibri" pitchFamily="34" charset="0"/>
              </a:rPr>
              <a:t>send data packets over the Internet</a:t>
            </a:r>
            <a:r>
              <a:rPr lang="en-US" sz="1800" b="0" dirty="0">
                <a:latin typeface="Cambria" panose="02040503050406030204" pitchFamily="18" charset="0"/>
                <a:ea typeface="Cambria" panose="02040503050406030204" pitchFamily="18" charset="0"/>
                <a:cs typeface="Calibri" pitchFamily="34" charset="0"/>
              </a:rPr>
              <a:t>.</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simply takes the </a:t>
            </a:r>
            <a:r>
              <a:rPr lang="en-US" sz="1800" b="0" dirty="0">
                <a:solidFill>
                  <a:srgbClr val="FF0000"/>
                </a:solidFill>
                <a:latin typeface="Cambria" panose="02040503050406030204" pitchFamily="18" charset="0"/>
                <a:ea typeface="Cambria" panose="02040503050406030204" pitchFamily="18" charset="0"/>
                <a:cs typeface="Calibri" pitchFamily="34" charset="0"/>
              </a:rPr>
              <a:t>datagram from the network layer</a:t>
            </a:r>
            <a:r>
              <a:rPr lang="en-US" sz="1800" b="0" dirty="0">
                <a:latin typeface="Cambria" panose="02040503050406030204" pitchFamily="18" charset="0"/>
                <a:ea typeface="Cambria" panose="02040503050406030204" pitchFamily="18" charset="0"/>
                <a:cs typeface="Calibri" pitchFamily="34" charset="0"/>
              </a:rPr>
              <a:t>, attaches its header and sends it to the user.</a:t>
            </a:r>
          </a:p>
          <a:p>
            <a:pPr marL="114300" indent="0" algn="just">
              <a:lnSpc>
                <a:spcPct val="150000"/>
              </a:lnSpc>
              <a:buNone/>
            </a:pPr>
            <a:r>
              <a:rPr lang="en-US" sz="2200" b="0" dirty="0">
                <a:solidFill>
                  <a:schemeClr val="bg2"/>
                </a:solidFill>
                <a:latin typeface="Cambria" panose="02040503050406030204" pitchFamily="18" charset="0"/>
                <a:ea typeface="Cambria" panose="02040503050406030204" pitchFamily="18" charset="0"/>
                <a:cs typeface="Calibri" pitchFamily="34" charset="0"/>
              </a:rPr>
              <a:t>Need of UDP-</a:t>
            </a:r>
          </a:p>
          <a:p>
            <a:pPr algn="just">
              <a:lnSpc>
                <a:spcPct val="150000"/>
              </a:lnSpc>
            </a:pPr>
            <a:r>
              <a:rPr lang="en-US" sz="2000" b="0" dirty="0">
                <a:solidFill>
                  <a:srgbClr val="FF0000"/>
                </a:solidFill>
                <a:latin typeface="Cambria" panose="02040503050406030204" pitchFamily="18" charset="0"/>
                <a:ea typeface="Cambria" panose="02040503050406030204" pitchFamily="18" charset="0"/>
                <a:cs typeface="Calibri" pitchFamily="34" charset="0"/>
              </a:rPr>
              <a:t>TCP</a:t>
            </a:r>
            <a:r>
              <a:rPr lang="en-US" sz="2000" b="0" dirty="0">
                <a:latin typeface="Cambria" panose="02040503050406030204" pitchFamily="18" charset="0"/>
                <a:ea typeface="Cambria" panose="02040503050406030204" pitchFamily="18" charset="0"/>
                <a:cs typeface="Calibri" pitchFamily="34" charset="0"/>
              </a:rPr>
              <a:t> proves to be an overhead </a:t>
            </a:r>
            <a:r>
              <a:rPr lang="en-US" sz="2000" b="0" dirty="0">
                <a:solidFill>
                  <a:srgbClr val="FF0000"/>
                </a:solidFill>
                <a:latin typeface="Cambria" panose="02040503050406030204" pitchFamily="18" charset="0"/>
                <a:ea typeface="Cambria" panose="02040503050406030204" pitchFamily="18" charset="0"/>
                <a:cs typeface="Calibri" pitchFamily="34" charset="0"/>
              </a:rPr>
              <a:t>for certain kinds of applications</a:t>
            </a:r>
            <a:r>
              <a:rPr lang="en-US" sz="2000" b="0" dirty="0">
                <a:latin typeface="Cambria" panose="02040503050406030204" pitchFamily="18" charset="0"/>
                <a:ea typeface="Cambria" panose="02040503050406030204" pitchFamily="18" charset="0"/>
                <a:cs typeface="Calibri" pitchFamily="34" charset="0"/>
              </a:rPr>
              <a:t>.</a:t>
            </a:r>
          </a:p>
          <a:p>
            <a:pPr algn="just">
              <a:lnSpc>
                <a:spcPct val="150000"/>
              </a:lnSpc>
            </a:pPr>
            <a:r>
              <a:rPr lang="en-US" sz="2000" b="0" dirty="0">
                <a:latin typeface="Cambria" panose="02040503050406030204" pitchFamily="18" charset="0"/>
                <a:ea typeface="Cambria" panose="02040503050406030204" pitchFamily="18" charset="0"/>
                <a:cs typeface="Calibri" pitchFamily="34" charset="0"/>
              </a:rPr>
              <a:t>The Connection </a:t>
            </a:r>
            <a:r>
              <a:rPr lang="en-US" sz="2000" b="0" dirty="0">
                <a:solidFill>
                  <a:srgbClr val="FF0000"/>
                </a:solidFill>
                <a:latin typeface="Cambria" panose="02040503050406030204" pitchFamily="18" charset="0"/>
                <a:ea typeface="Cambria" panose="02040503050406030204" pitchFamily="18" charset="0"/>
                <a:cs typeface="Calibri" pitchFamily="34" charset="0"/>
              </a:rPr>
              <a:t>Establishment Phase, </a:t>
            </a:r>
            <a:r>
              <a:rPr lang="en-US" sz="2000" b="0" dirty="0">
                <a:latin typeface="Cambria" panose="02040503050406030204" pitchFamily="18" charset="0"/>
                <a:ea typeface="Cambria" panose="02040503050406030204" pitchFamily="18" charset="0"/>
                <a:cs typeface="Calibri" pitchFamily="34" charset="0"/>
              </a:rPr>
              <a:t>Connection Termination Phase etc of TCP are </a:t>
            </a:r>
            <a:r>
              <a:rPr lang="en-US" sz="2000" b="0" dirty="0">
                <a:solidFill>
                  <a:srgbClr val="FF0000"/>
                </a:solidFill>
                <a:latin typeface="Cambria" panose="02040503050406030204" pitchFamily="18" charset="0"/>
                <a:ea typeface="Cambria" panose="02040503050406030204" pitchFamily="18" charset="0"/>
                <a:cs typeface="Calibri" pitchFamily="34" charset="0"/>
              </a:rPr>
              <a:t>time consuming.</a:t>
            </a:r>
          </a:p>
          <a:p>
            <a:pPr algn="just">
              <a:lnSpc>
                <a:spcPct val="150000"/>
              </a:lnSpc>
            </a:pPr>
            <a:r>
              <a:rPr lang="en-US" sz="2000" b="0" dirty="0">
                <a:latin typeface="Cambria" panose="02040503050406030204" pitchFamily="18" charset="0"/>
                <a:ea typeface="Cambria" panose="02040503050406030204" pitchFamily="18" charset="0"/>
                <a:cs typeface="Calibri" pitchFamily="34" charset="0"/>
              </a:rPr>
              <a:t>To avoid this overhead, certain applications which require fast speed and less overhead use UDP.</a:t>
            </a:r>
          </a:p>
          <a:p>
            <a:pPr algn="just">
              <a:lnSpc>
                <a:spcPct val="150000"/>
              </a:lnSpc>
              <a:buNone/>
            </a:pPr>
            <a:endParaRPr lang="en-US" sz="2000" dirty="0">
              <a:solidFill>
                <a:schemeClr val="tx1"/>
              </a:solidFill>
              <a:latin typeface="Calibri" pitchFamily="34" charset="0"/>
              <a:cs typeface="Calibri" pitchFamily="34" charset="0"/>
            </a:endParaRPr>
          </a:p>
          <a:p>
            <a:pPr algn="just"/>
            <a:endParaRPr lang="en-US" sz="2000" dirty="0">
              <a:solidFill>
                <a:schemeClr val="tx2"/>
              </a:solidFill>
              <a:latin typeface="Calibri" pitchFamily="34" charset="0"/>
              <a:cs typeface="Calibri" pitchFamily="34" charset="0"/>
            </a:endParaRPr>
          </a:p>
          <a:p>
            <a:pPr algn="just"/>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spTree>
    <p:extLst>
      <p:ext uri="{BB962C8B-B14F-4D97-AF65-F5344CB8AC3E}">
        <p14:creationId xmlns:p14="http://schemas.microsoft.com/office/powerpoint/2010/main" val="251458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947718"/>
            <a:ext cx="10596880" cy="6000792"/>
          </a:xfrm>
        </p:spPr>
        <p:txBody>
          <a:bodyPr>
            <a:normAutofit/>
          </a:bodyPr>
          <a:lstStyle/>
          <a:p>
            <a:pPr algn="just">
              <a:lnSpc>
                <a:spcPct val="150000"/>
              </a:lnSpc>
              <a:buNone/>
            </a:pPr>
            <a:r>
              <a:rPr lang="en-US" b="0" dirty="0">
                <a:latin typeface="Calibri" pitchFamily="34" charset="0"/>
                <a:cs typeface="Calibri" pitchFamily="34" charset="0"/>
              </a:rPr>
              <a:t> </a:t>
            </a:r>
            <a:r>
              <a:rPr lang="en-US" sz="2400" b="0" dirty="0">
                <a:latin typeface="Calibri" pitchFamily="34" charset="0"/>
                <a:cs typeface="Calibri" pitchFamily="34" charset="0"/>
              </a:rPr>
              <a:t>It is a connectionless protocol.</a:t>
            </a:r>
          </a:p>
          <a:p>
            <a:pPr marL="571500" indent="-457200" algn="just">
              <a:lnSpc>
                <a:spcPct val="150000"/>
              </a:lnSpc>
              <a:buAutoNum type="arabicPeriod"/>
            </a:pPr>
            <a:r>
              <a:rPr lang="en-US" sz="2400" b="0" dirty="0">
                <a:latin typeface="Calibri" pitchFamily="34" charset="0"/>
                <a:cs typeface="Calibri" pitchFamily="34" charset="0"/>
              </a:rPr>
              <a:t>It is a stateless protocol.</a:t>
            </a:r>
          </a:p>
          <a:p>
            <a:pPr algn="just">
              <a:lnSpc>
                <a:spcPct val="150000"/>
              </a:lnSpc>
              <a:buAutoNum type="arabicPeriod"/>
            </a:pPr>
            <a:r>
              <a:rPr lang="en-US" sz="2400" b="0" dirty="0">
                <a:latin typeface="Calibri" pitchFamily="34" charset="0"/>
                <a:cs typeface="Calibri" pitchFamily="34" charset="0"/>
              </a:rPr>
              <a:t>  It is an unreliable protocol.</a:t>
            </a:r>
          </a:p>
          <a:p>
            <a:pPr algn="just">
              <a:lnSpc>
                <a:spcPct val="150000"/>
              </a:lnSpc>
              <a:buAutoNum type="arabicPeriod"/>
            </a:pPr>
            <a:r>
              <a:rPr lang="en-US" sz="2400" b="0" dirty="0">
                <a:latin typeface="Calibri" pitchFamily="34" charset="0"/>
                <a:cs typeface="Calibri" pitchFamily="34" charset="0"/>
              </a:rPr>
              <a:t>  It is a fast protocol.</a:t>
            </a:r>
          </a:p>
          <a:p>
            <a:pPr algn="just">
              <a:lnSpc>
                <a:spcPct val="150000"/>
              </a:lnSpc>
              <a:buAutoNum type="arabicPeriod"/>
            </a:pPr>
            <a:r>
              <a:rPr lang="en-US" sz="2400" b="0" dirty="0">
                <a:latin typeface="Calibri" pitchFamily="34" charset="0"/>
                <a:cs typeface="Calibri" pitchFamily="34" charset="0"/>
              </a:rPr>
              <a:t>  It offers the minimal transport service.</a:t>
            </a:r>
          </a:p>
          <a:p>
            <a:pPr algn="just">
              <a:lnSpc>
                <a:spcPct val="150000"/>
              </a:lnSpc>
              <a:buAutoNum type="arabicPeriod"/>
            </a:pPr>
            <a:r>
              <a:rPr lang="en-US" sz="2400" b="0" dirty="0">
                <a:latin typeface="Calibri" pitchFamily="34" charset="0"/>
                <a:cs typeface="Calibri" pitchFamily="34" charset="0"/>
              </a:rPr>
              <a:t>  It is almost a null protocol.</a:t>
            </a:r>
          </a:p>
          <a:p>
            <a:pPr algn="just">
              <a:lnSpc>
                <a:spcPct val="150000"/>
              </a:lnSpc>
              <a:buAutoNum type="arabicPeriod"/>
            </a:pPr>
            <a:r>
              <a:rPr lang="en-US" sz="2400" b="0" dirty="0">
                <a:latin typeface="Calibri" pitchFamily="34" charset="0"/>
                <a:cs typeface="Calibri" pitchFamily="34" charset="0"/>
              </a:rPr>
              <a:t>  It does not guarantee in order delivery.</a:t>
            </a:r>
          </a:p>
          <a:p>
            <a:pPr algn="just">
              <a:lnSpc>
                <a:spcPct val="150000"/>
              </a:lnSpc>
              <a:buAutoNum type="arabicPeriod"/>
            </a:pPr>
            <a:r>
              <a:rPr lang="en-US" sz="2400" b="0" dirty="0">
                <a:latin typeface="Calibri" pitchFamily="34" charset="0"/>
                <a:cs typeface="Calibri" pitchFamily="34" charset="0"/>
              </a:rPr>
              <a:t>  It does not provide congestion control mechanism.</a:t>
            </a:r>
          </a:p>
          <a:p>
            <a:pPr algn="just">
              <a:lnSpc>
                <a:spcPct val="150000"/>
              </a:lnSpc>
              <a:buAutoNum type="arabicPeriod"/>
            </a:pPr>
            <a:r>
              <a:rPr lang="en-US" sz="2400" b="0" dirty="0">
                <a:latin typeface="Calibri" pitchFamily="34" charset="0"/>
                <a:cs typeface="Calibri" pitchFamily="34" charset="0"/>
              </a:rPr>
              <a:t>   It is a good protocol for data flowing in one direction.</a:t>
            </a:r>
          </a:p>
          <a:p>
            <a:pPr algn="just">
              <a:buNone/>
            </a:pPr>
            <a:endParaRPr lang="en-US" sz="2000" dirty="0">
              <a:solidFill>
                <a:schemeClr val="tx1"/>
              </a:solidFill>
              <a:latin typeface="Calibri" pitchFamily="34" charset="0"/>
              <a:cs typeface="Calibri" pitchFamily="34" charset="0"/>
            </a:endParaRPr>
          </a:p>
          <a:p>
            <a:pPr algn="just"/>
            <a:endParaRPr lang="en-US" sz="2000" dirty="0">
              <a:solidFill>
                <a:schemeClr val="tx2"/>
              </a:solidFill>
              <a:latin typeface="Calibri" pitchFamily="34" charset="0"/>
              <a:cs typeface="Calibri" pitchFamily="34" charset="0"/>
            </a:endParaRPr>
          </a:p>
          <a:p>
            <a:pPr algn="just"/>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08839023-7E8F-CD59-EB7B-EFB46360C89F}"/>
              </a:ext>
            </a:extLst>
          </p:cNvPr>
          <p:cNvSpPr>
            <a:spLocks noGrp="1"/>
          </p:cNvSpPr>
          <p:nvPr>
            <p:ph type="title"/>
          </p:nvPr>
        </p:nvSpPr>
        <p:spPr/>
        <p:txBody>
          <a:bodyPr>
            <a:normAutofit/>
          </a:bodyPr>
          <a:lstStyle/>
          <a:p>
            <a:r>
              <a:rPr lang="en-IN" dirty="0"/>
              <a:t>Characteristics / Features of UDP-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94640" y="1232696"/>
            <a:ext cx="11602720" cy="6193334"/>
          </a:xfrm>
        </p:spPr>
        <p:txBody>
          <a:bodyPr>
            <a:normAutofit/>
          </a:bodyPr>
          <a:lstStyle/>
          <a:p>
            <a:pPr algn="just">
              <a:lnSpc>
                <a:spcPct val="150000"/>
              </a:lnSpc>
              <a:buNone/>
            </a:pPr>
            <a:r>
              <a:rPr lang="en-IN" sz="2000" dirty="0">
                <a:solidFill>
                  <a:schemeClr val="bg2"/>
                </a:solidFill>
                <a:latin typeface="Calibri" pitchFamily="34" charset="0"/>
                <a:cs typeface="Calibri" pitchFamily="34" charset="0"/>
              </a:rPr>
              <a:t>UDP Datagram:</a:t>
            </a: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pPr>
            <a:r>
              <a:rPr lang="en-IN" sz="2000" dirty="0">
                <a:solidFill>
                  <a:schemeClr val="bg2"/>
                </a:solidFill>
                <a:latin typeface="Calibri" pitchFamily="34" charset="0"/>
                <a:cs typeface="Calibri" pitchFamily="34" charset="0"/>
              </a:rPr>
              <a:t>UDP Header:</a:t>
            </a: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IN" sz="2000" dirty="0">
              <a:solidFill>
                <a:schemeClr val="bg2"/>
              </a:solidFill>
              <a:latin typeface="Calibri" pitchFamily="34" charset="0"/>
              <a:cs typeface="Calibri" pitchFamily="34" charset="0"/>
            </a:endParaRPr>
          </a:p>
          <a:p>
            <a:pPr algn="just">
              <a:lnSpc>
                <a:spcPct val="150000"/>
              </a:lnSpc>
              <a:buNone/>
            </a:pPr>
            <a:endParaRPr lang="en-US" sz="2000" dirty="0">
              <a:solidFill>
                <a:schemeClr val="bg2"/>
              </a:solidFill>
              <a:latin typeface="Calibri" pitchFamily="34" charset="0"/>
              <a:cs typeface="Calibri" pitchFamily="34" charset="0"/>
            </a:endParaRPr>
          </a:p>
        </p:txBody>
      </p:sp>
      <p:pic>
        <p:nvPicPr>
          <p:cNvPr id="4" name="Picture 3" descr="User Datagram Protocol Header Format"/>
          <p:cNvPicPr/>
          <p:nvPr/>
        </p:nvPicPr>
        <p:blipFill>
          <a:blip r:embed="rId2"/>
          <a:srcRect/>
          <a:stretch>
            <a:fillRect/>
          </a:stretch>
        </p:blipFill>
        <p:spPr bwMode="auto">
          <a:xfrm>
            <a:off x="4157715" y="1458149"/>
            <a:ext cx="6141493" cy="2729552"/>
          </a:xfrm>
          <a:prstGeom prst="rect">
            <a:avLst/>
          </a:prstGeom>
          <a:noFill/>
          <a:ln w="9525">
            <a:noFill/>
            <a:miter lim="800000"/>
            <a:headEnd/>
            <a:tailEnd/>
          </a:ln>
        </p:spPr>
      </p:pic>
      <p:pic>
        <p:nvPicPr>
          <p:cNvPr id="6" name="Picture 5" descr="https://www.gatevidyalay.com/wp-content/uploads/2018/10/UDP-Header.png"/>
          <p:cNvPicPr/>
          <p:nvPr/>
        </p:nvPicPr>
        <p:blipFill>
          <a:blip r:embed="rId3"/>
          <a:srcRect/>
          <a:stretch>
            <a:fillRect/>
          </a:stretch>
        </p:blipFill>
        <p:spPr bwMode="auto">
          <a:xfrm>
            <a:off x="4820276" y="4413154"/>
            <a:ext cx="3076575" cy="1933575"/>
          </a:xfrm>
          <a:prstGeom prst="rect">
            <a:avLst/>
          </a:prstGeom>
          <a:noFill/>
          <a:ln w="9525">
            <a:noFill/>
            <a:miter lim="800000"/>
            <a:headEnd/>
            <a:tailEnd/>
          </a:ln>
        </p:spPr>
      </p:pic>
      <p:sp>
        <p:nvSpPr>
          <p:cNvPr id="7" name="Title 6">
            <a:extLst>
              <a:ext uri="{FF2B5EF4-FFF2-40B4-BE49-F238E27FC236}">
                <a16:creationId xmlns:a16="http://schemas.microsoft.com/office/drawing/2014/main" id="{3851E47B-8B98-5601-1F90-121ED406764B}"/>
              </a:ext>
            </a:extLst>
          </p:cNvPr>
          <p:cNvSpPr>
            <a:spLocks noGrp="1"/>
          </p:cNvSpPr>
          <p:nvPr>
            <p:ph type="title"/>
          </p:nvPr>
        </p:nvSpPr>
        <p:spPr/>
        <p:txBody>
          <a:bodyPr/>
          <a:lstStyle/>
          <a:p>
            <a:r>
              <a:rPr lang="en-IN" dirty="0"/>
              <a:t>UDP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1293158"/>
            <a:ext cx="12070080" cy="6000792"/>
          </a:xfrm>
        </p:spPr>
        <p:txBody>
          <a:bodyPr/>
          <a:lstStyle/>
          <a:p>
            <a:pPr algn="just">
              <a:buNone/>
            </a:pPr>
            <a:r>
              <a:rPr lang="en-US" sz="2000" b="0" dirty="0">
                <a:solidFill>
                  <a:schemeClr val="bg2"/>
                </a:solidFill>
                <a:latin typeface="Cambria" panose="02040503050406030204" pitchFamily="18" charset="0"/>
                <a:ea typeface="Cambria" panose="02040503050406030204" pitchFamily="18" charset="0"/>
                <a:cs typeface="Calibri" pitchFamily="34" charset="0"/>
              </a:rPr>
              <a:t>1.  Source Port-</a:t>
            </a:r>
          </a:p>
          <a:p>
            <a:pPr algn="just"/>
            <a:r>
              <a:rPr lang="en-US" sz="1800" b="0" dirty="0">
                <a:latin typeface="Cambria" panose="02040503050406030204" pitchFamily="18" charset="0"/>
                <a:ea typeface="Cambria" panose="02040503050406030204" pitchFamily="18" charset="0"/>
                <a:cs typeface="Calibri" pitchFamily="34" charset="0"/>
              </a:rPr>
              <a:t> Source Port is a 16 bit field.</a:t>
            </a:r>
          </a:p>
          <a:p>
            <a:pPr algn="just"/>
            <a:r>
              <a:rPr lang="en-US" sz="1800" b="0" dirty="0">
                <a:latin typeface="Cambria" panose="02040503050406030204" pitchFamily="18" charset="0"/>
                <a:ea typeface="Cambria" panose="02040503050406030204" pitchFamily="18" charset="0"/>
                <a:cs typeface="Calibri" pitchFamily="34" charset="0"/>
              </a:rPr>
              <a:t>It identifies </a:t>
            </a:r>
            <a:r>
              <a:rPr lang="en-US" sz="1800" b="0" dirty="0">
                <a:solidFill>
                  <a:srgbClr val="FF0000"/>
                </a:solidFill>
                <a:latin typeface="Cambria" panose="02040503050406030204" pitchFamily="18" charset="0"/>
                <a:ea typeface="Cambria" panose="02040503050406030204" pitchFamily="18" charset="0"/>
                <a:cs typeface="Calibri" pitchFamily="34" charset="0"/>
              </a:rPr>
              <a:t>the port of </a:t>
            </a:r>
            <a:r>
              <a:rPr lang="en-US" sz="1800" b="0" dirty="0">
                <a:latin typeface="Cambria" panose="02040503050406030204" pitchFamily="18" charset="0"/>
                <a:ea typeface="Cambria" panose="02040503050406030204" pitchFamily="18" charset="0"/>
                <a:cs typeface="Calibri" pitchFamily="34" charset="0"/>
              </a:rPr>
              <a:t>the sending application.</a:t>
            </a:r>
          </a:p>
          <a:p>
            <a:pPr algn="just">
              <a:buNone/>
            </a:pPr>
            <a:r>
              <a:rPr lang="en-US" sz="2000" b="0" dirty="0">
                <a:solidFill>
                  <a:schemeClr val="bg2"/>
                </a:solidFill>
                <a:latin typeface="Cambria" panose="02040503050406030204" pitchFamily="18" charset="0"/>
                <a:ea typeface="Cambria" panose="02040503050406030204" pitchFamily="18" charset="0"/>
                <a:cs typeface="Calibri" pitchFamily="34" charset="0"/>
              </a:rPr>
              <a:t>2. Destination Port-</a:t>
            </a:r>
          </a:p>
          <a:p>
            <a:pPr algn="just"/>
            <a:r>
              <a:rPr lang="en-US" sz="1800" b="0" dirty="0">
                <a:latin typeface="Cambria" panose="02040503050406030204" pitchFamily="18" charset="0"/>
                <a:ea typeface="Cambria" panose="02040503050406030204" pitchFamily="18" charset="0"/>
                <a:cs typeface="Calibri" pitchFamily="34" charset="0"/>
              </a:rPr>
              <a:t> Destination Port is a 16 bit field.</a:t>
            </a:r>
          </a:p>
          <a:p>
            <a:pPr algn="just"/>
            <a:r>
              <a:rPr lang="en-US" sz="1800" b="0" dirty="0">
                <a:latin typeface="Cambria" panose="02040503050406030204" pitchFamily="18" charset="0"/>
                <a:ea typeface="Cambria" panose="02040503050406030204" pitchFamily="18" charset="0"/>
                <a:cs typeface="Calibri" pitchFamily="34" charset="0"/>
              </a:rPr>
              <a:t>It identifies the port of </a:t>
            </a:r>
            <a:r>
              <a:rPr lang="en-US" sz="1800" b="0" dirty="0">
                <a:solidFill>
                  <a:srgbClr val="FF0000"/>
                </a:solidFill>
                <a:latin typeface="Cambria" panose="02040503050406030204" pitchFamily="18" charset="0"/>
                <a:ea typeface="Cambria" panose="02040503050406030204" pitchFamily="18" charset="0"/>
                <a:cs typeface="Calibri" pitchFamily="34" charset="0"/>
              </a:rPr>
              <a:t>the receiving</a:t>
            </a:r>
            <a:r>
              <a:rPr lang="en-US" sz="1800" b="0" dirty="0">
                <a:latin typeface="Cambria" panose="02040503050406030204" pitchFamily="18" charset="0"/>
                <a:ea typeface="Cambria" panose="02040503050406030204" pitchFamily="18" charset="0"/>
                <a:cs typeface="Calibri" pitchFamily="34" charset="0"/>
              </a:rPr>
              <a:t> application.</a:t>
            </a:r>
          </a:p>
          <a:p>
            <a:pPr algn="just">
              <a:buNone/>
            </a:pPr>
            <a:endParaRPr lang="en-US" sz="1800" b="0" dirty="0">
              <a:latin typeface="Cambria" panose="02040503050406030204" pitchFamily="18" charset="0"/>
              <a:ea typeface="Cambria" panose="02040503050406030204" pitchFamily="18" charset="0"/>
              <a:cs typeface="Calibri" pitchFamily="34" charset="0"/>
            </a:endParaRPr>
          </a:p>
          <a:p>
            <a:pPr algn="just">
              <a:buNone/>
            </a:pPr>
            <a:r>
              <a:rPr lang="en-US" sz="2000" b="0" dirty="0">
                <a:solidFill>
                  <a:schemeClr val="bg2"/>
                </a:solidFill>
                <a:latin typeface="Cambria" panose="02040503050406030204" pitchFamily="18" charset="0"/>
                <a:ea typeface="Cambria" panose="02040503050406030204" pitchFamily="18" charset="0"/>
                <a:cs typeface="Calibri" pitchFamily="34" charset="0"/>
              </a:rPr>
              <a:t>3. Length-</a:t>
            </a:r>
          </a:p>
          <a:p>
            <a:pPr algn="just"/>
            <a:r>
              <a:rPr lang="en-US" sz="1800" b="0" dirty="0">
                <a:latin typeface="Cambria" panose="02040503050406030204" pitchFamily="18" charset="0"/>
                <a:ea typeface="Cambria" panose="02040503050406030204" pitchFamily="18" charset="0"/>
                <a:cs typeface="Calibri" pitchFamily="34" charset="0"/>
              </a:rPr>
              <a:t> Length is a 16 bit field.</a:t>
            </a:r>
          </a:p>
          <a:p>
            <a:pPr algn="just"/>
            <a:r>
              <a:rPr lang="en-US" sz="1800" b="0" dirty="0">
                <a:latin typeface="Cambria" panose="02040503050406030204" pitchFamily="18" charset="0"/>
                <a:ea typeface="Cambria" panose="02040503050406030204" pitchFamily="18" charset="0"/>
                <a:cs typeface="Calibri" pitchFamily="34" charset="0"/>
              </a:rPr>
              <a:t>It identifies the combined length of UDP Header and Encapsulated data.</a:t>
            </a:r>
          </a:p>
          <a:p>
            <a:pPr algn="just">
              <a:buNone/>
            </a:pPr>
            <a:r>
              <a:rPr lang="en-US" sz="1800" b="0" dirty="0">
                <a:latin typeface="Cambria" panose="02040503050406030204" pitchFamily="18" charset="0"/>
                <a:ea typeface="Cambria" panose="02040503050406030204" pitchFamily="18" charset="0"/>
                <a:cs typeface="Calibri" pitchFamily="34" charset="0"/>
              </a:rPr>
              <a:t>		Length = Length of UDP Header + Length of encapsulated data </a:t>
            </a:r>
            <a:endParaRPr lang="en-US" sz="1800" b="0" u="sng" dirty="0">
              <a:latin typeface="Cambria" panose="02040503050406030204" pitchFamily="18" charset="0"/>
              <a:ea typeface="Cambria" panose="02040503050406030204" pitchFamily="18" charset="0"/>
              <a:cs typeface="Calibri" pitchFamily="34" charset="0"/>
            </a:endParaRPr>
          </a:p>
          <a:p>
            <a:pPr>
              <a:buNone/>
            </a:pPr>
            <a:r>
              <a:rPr lang="en-US" sz="2000" b="0" dirty="0">
                <a:solidFill>
                  <a:schemeClr val="bg2"/>
                </a:solidFill>
                <a:latin typeface="Cambria" panose="02040503050406030204" pitchFamily="18" charset="0"/>
                <a:ea typeface="Cambria" panose="02040503050406030204" pitchFamily="18" charset="0"/>
                <a:cs typeface="Calibri" pitchFamily="34" charset="0"/>
              </a:rPr>
              <a:t>4. Checksum-</a:t>
            </a:r>
          </a:p>
          <a:p>
            <a:r>
              <a:rPr lang="en-US" sz="1800" b="0" dirty="0">
                <a:latin typeface="Cambria" panose="02040503050406030204" pitchFamily="18" charset="0"/>
                <a:ea typeface="Cambria" panose="02040503050406030204" pitchFamily="18" charset="0"/>
                <a:cs typeface="Calibri" pitchFamily="34" charset="0"/>
              </a:rPr>
              <a:t>Checksum is a 16 bit field used for error control.</a:t>
            </a:r>
          </a:p>
          <a:p>
            <a:r>
              <a:rPr lang="en-US" sz="1800" b="0" dirty="0">
                <a:latin typeface="Cambria" panose="02040503050406030204" pitchFamily="18" charset="0"/>
                <a:ea typeface="Cambria" panose="02040503050406030204" pitchFamily="18" charset="0"/>
                <a:cs typeface="Calibri" pitchFamily="34" charset="0"/>
              </a:rPr>
              <a:t>It is calculated on UDP Header, encapsulated data and IP pseudo header.</a:t>
            </a:r>
          </a:p>
          <a:p>
            <a:r>
              <a:rPr lang="en-US" sz="1800" b="0" dirty="0">
                <a:latin typeface="Cambria" panose="02040503050406030204" pitchFamily="18" charset="0"/>
                <a:ea typeface="Cambria" panose="02040503050406030204" pitchFamily="18" charset="0"/>
                <a:cs typeface="Calibri" pitchFamily="34" charset="0"/>
              </a:rPr>
              <a:t>Checksum calculation is not mandatory in UDP.</a:t>
            </a:r>
          </a:p>
          <a:p>
            <a:pPr algn="just">
              <a:buNone/>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646D8C41-C8B2-313F-63F4-2F99B852B48C}"/>
              </a:ext>
            </a:extLst>
          </p:cNvPr>
          <p:cNvSpPr>
            <a:spLocks noGrp="1"/>
          </p:cNvSpPr>
          <p:nvPr>
            <p:ph type="title"/>
          </p:nvPr>
        </p:nvSpPr>
        <p:spPr/>
        <p:txBody>
          <a:bodyPr/>
          <a:lstStyle/>
          <a:p>
            <a:r>
              <a:rPr lang="en-IN" dirty="0"/>
              <a:t>UDP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1354118"/>
            <a:ext cx="12059920" cy="6000792"/>
          </a:xfrm>
        </p:spPr>
        <p:txBody>
          <a:bodyPr>
            <a:normAutofit/>
          </a:bodyPr>
          <a:lstStyle/>
          <a:p>
            <a:pPr algn="just">
              <a:buNone/>
            </a:pPr>
            <a:r>
              <a:rPr lang="en-US" sz="2000" dirty="0">
                <a:solidFill>
                  <a:schemeClr val="bg2"/>
                </a:solidFill>
              </a:rPr>
              <a:t>1</a:t>
            </a:r>
            <a:r>
              <a:rPr lang="en-US" sz="2000" b="0" dirty="0">
                <a:solidFill>
                  <a:schemeClr val="bg2"/>
                </a:solidFill>
              </a:rPr>
              <a:t>.	Connectionless Services :</a:t>
            </a:r>
          </a:p>
          <a:p>
            <a:pPr algn="just">
              <a:lnSpc>
                <a:spcPct val="150000"/>
              </a:lnSpc>
            </a:pPr>
            <a:r>
              <a:rPr lang="en-US" sz="1800" b="0" dirty="0"/>
              <a:t>The User datagram protocol offers Connectionless Services which simply means that each user datagram that is sent by the UDP is an </a:t>
            </a:r>
            <a:r>
              <a:rPr lang="en-US" sz="1800" b="0" dirty="0">
                <a:solidFill>
                  <a:srgbClr val="FF0000"/>
                </a:solidFill>
              </a:rPr>
              <a:t>independent datagram</a:t>
            </a:r>
            <a:r>
              <a:rPr lang="en-US" sz="1800" b="0" dirty="0"/>
              <a:t>. </a:t>
            </a:r>
          </a:p>
          <a:p>
            <a:pPr algn="just">
              <a:lnSpc>
                <a:spcPct val="150000"/>
              </a:lnSpc>
            </a:pPr>
            <a:r>
              <a:rPr lang="en-US" sz="1800" b="0" dirty="0"/>
              <a:t>In different </a:t>
            </a:r>
            <a:r>
              <a:rPr lang="en-US" sz="1800" b="0" dirty="0" err="1"/>
              <a:t>datagrams</a:t>
            </a:r>
            <a:r>
              <a:rPr lang="en-US" sz="1800" b="0" dirty="0"/>
              <a:t>, there </a:t>
            </a:r>
            <a:r>
              <a:rPr lang="en-US" sz="1800" b="0" dirty="0">
                <a:solidFill>
                  <a:srgbClr val="FF0000"/>
                </a:solidFill>
              </a:rPr>
              <a:t>is no relationship</a:t>
            </a:r>
            <a:r>
              <a:rPr lang="en-US" sz="1800" b="0" dirty="0"/>
              <a:t>, even if they are coming from the same source process and also going to the same destination program.</a:t>
            </a:r>
          </a:p>
          <a:p>
            <a:pPr algn="just">
              <a:lnSpc>
                <a:spcPct val="150000"/>
              </a:lnSpc>
            </a:pPr>
            <a:r>
              <a:rPr lang="en-US" sz="1800" b="0" dirty="0"/>
              <a:t>User </a:t>
            </a:r>
            <a:r>
              <a:rPr lang="en-US" sz="1800" b="0" dirty="0" err="1"/>
              <a:t>datagrams</a:t>
            </a:r>
            <a:r>
              <a:rPr lang="en-US" sz="1800" b="0" dirty="0"/>
              <a:t> are </a:t>
            </a:r>
            <a:r>
              <a:rPr lang="en-US" sz="1800" b="0" dirty="0">
                <a:solidFill>
                  <a:srgbClr val="FF0000"/>
                </a:solidFill>
              </a:rPr>
              <a:t>not numbered</a:t>
            </a:r>
            <a:r>
              <a:rPr lang="en-US" sz="1800" b="0" dirty="0"/>
              <a:t>, there is </a:t>
            </a:r>
            <a:r>
              <a:rPr lang="en-US" sz="1800" b="0" dirty="0">
                <a:solidFill>
                  <a:srgbClr val="FF0000"/>
                </a:solidFill>
              </a:rPr>
              <a:t>no</a:t>
            </a:r>
            <a:r>
              <a:rPr lang="en-US" sz="1800" b="0" dirty="0"/>
              <a:t> connection establishment and no connection termination.</a:t>
            </a:r>
          </a:p>
          <a:p>
            <a:pPr algn="just">
              <a:lnSpc>
                <a:spcPct val="150000"/>
              </a:lnSpc>
            </a:pPr>
            <a:r>
              <a:rPr lang="en-US" sz="1800" b="0" dirty="0"/>
              <a:t>Each datagram mainly travels through different paths.</a:t>
            </a:r>
          </a:p>
          <a:p>
            <a:pPr algn="just">
              <a:lnSpc>
                <a:spcPct val="150000"/>
              </a:lnSpc>
              <a:buNone/>
            </a:pPr>
            <a:r>
              <a:rPr lang="en-US" sz="2000" b="0" dirty="0">
                <a:solidFill>
                  <a:schemeClr val="bg2"/>
                </a:solidFill>
              </a:rPr>
              <a:t>2.	Flow Control and Error Control :</a:t>
            </a:r>
          </a:p>
          <a:p>
            <a:pPr algn="just">
              <a:lnSpc>
                <a:spcPct val="150000"/>
              </a:lnSpc>
            </a:pPr>
            <a:r>
              <a:rPr lang="en-US" sz="1800" b="0" dirty="0"/>
              <a:t>User datagram is a very s</a:t>
            </a:r>
            <a:r>
              <a:rPr lang="en-US" sz="1800" b="0" dirty="0">
                <a:solidFill>
                  <a:srgbClr val="FF0000"/>
                </a:solidFill>
              </a:rPr>
              <a:t>imple </a:t>
            </a:r>
            <a:r>
              <a:rPr lang="en-US" sz="1800" b="0" dirty="0"/>
              <a:t>and unreliable transport protocol. </a:t>
            </a:r>
          </a:p>
          <a:p>
            <a:pPr algn="just">
              <a:lnSpc>
                <a:spcPct val="150000"/>
              </a:lnSpc>
            </a:pPr>
            <a:r>
              <a:rPr lang="en-US" sz="1800" b="0" dirty="0"/>
              <a:t>It does not provide any </a:t>
            </a:r>
            <a:r>
              <a:rPr lang="en-US" sz="1800" b="0" dirty="0">
                <a:solidFill>
                  <a:srgbClr val="FF0000"/>
                </a:solidFill>
              </a:rPr>
              <a:t>flow control mechanism </a:t>
            </a:r>
            <a:r>
              <a:rPr lang="en-US" sz="1800" b="0" dirty="0"/>
              <a:t>and hence there is no window mechanism. Due to which the receiver may</a:t>
            </a:r>
            <a:r>
              <a:rPr lang="en-US" sz="1800" b="0" dirty="0">
                <a:solidFill>
                  <a:srgbClr val="FF0000"/>
                </a:solidFill>
              </a:rPr>
              <a:t> overflow </a:t>
            </a:r>
            <a:r>
              <a:rPr lang="en-US" sz="1800" b="0" dirty="0"/>
              <a:t>with the incoming messages.</a:t>
            </a:r>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210CBEAB-5EA1-CF52-A6DB-7903F49F4F4E}"/>
              </a:ext>
            </a:extLst>
          </p:cNvPr>
          <p:cNvSpPr>
            <a:spLocks noGrp="1"/>
          </p:cNvSpPr>
          <p:nvPr>
            <p:ph type="title"/>
          </p:nvPr>
        </p:nvSpPr>
        <p:spPr/>
        <p:txBody>
          <a:bodyPr>
            <a:normAutofit/>
          </a:bodyPr>
          <a:lstStyle/>
          <a:p>
            <a:r>
              <a:rPr lang="en-IN" dirty="0"/>
              <a:t>UDP Services / Operations: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1161078"/>
            <a:ext cx="12009120" cy="6000792"/>
          </a:xfrm>
        </p:spPr>
        <p:txBody>
          <a:bodyPr>
            <a:normAutofit/>
          </a:bodyPr>
          <a:lstStyle/>
          <a:p>
            <a:pPr algn="just">
              <a:lnSpc>
                <a:spcPct val="150000"/>
              </a:lnSpc>
            </a:pPr>
            <a:r>
              <a:rPr lang="en-US" sz="1800" b="0" dirty="0">
                <a:solidFill>
                  <a:srgbClr val="FF0000"/>
                </a:solidFill>
              </a:rPr>
              <a:t>No error control </a:t>
            </a:r>
            <a:r>
              <a:rPr lang="en-US" sz="1800" b="0" dirty="0"/>
              <a:t>mechanism is provided by UDP except checksum. Due to which the sender does not know if any message is has been lost or duplicated.</a:t>
            </a:r>
          </a:p>
          <a:p>
            <a:pPr algn="just">
              <a:lnSpc>
                <a:spcPct val="150000"/>
              </a:lnSpc>
            </a:pPr>
            <a:r>
              <a:rPr lang="en-US" sz="1800" b="0" dirty="0"/>
              <a:t>As there is a lack of flow control and error control it means that the process that uses the UDP should provide these mechanisms.</a:t>
            </a:r>
          </a:p>
          <a:p>
            <a:pPr algn="just">
              <a:lnSpc>
                <a:spcPct val="150000"/>
              </a:lnSpc>
              <a:buNone/>
            </a:pPr>
            <a:r>
              <a:rPr lang="en-US" sz="2000" b="0" dirty="0">
                <a:solidFill>
                  <a:schemeClr val="bg2"/>
                </a:solidFill>
              </a:rPr>
              <a:t>3.	Encapsulation and decapsulation:</a:t>
            </a:r>
          </a:p>
          <a:p>
            <a:pPr algn="just">
              <a:lnSpc>
                <a:spcPct val="150000"/>
              </a:lnSpc>
            </a:pPr>
            <a:r>
              <a:rPr lang="en-US" sz="1800" b="0" dirty="0"/>
              <a:t>In order to send the message from one process to another, the user datagram protocol encapsulates and </a:t>
            </a:r>
            <a:r>
              <a:rPr lang="en-US" sz="1800" b="0" dirty="0" err="1"/>
              <a:t>decapsulates</a:t>
            </a:r>
            <a:r>
              <a:rPr lang="en-US" sz="1800" b="0" dirty="0"/>
              <a:t> the message in the form of an IP datagram.</a:t>
            </a:r>
          </a:p>
          <a:p>
            <a:pPr algn="just">
              <a:lnSpc>
                <a:spcPct val="150000"/>
              </a:lnSpc>
              <a:buNone/>
            </a:pPr>
            <a:r>
              <a:rPr lang="en-IN" sz="2200" b="0" dirty="0">
                <a:solidFill>
                  <a:schemeClr val="bg2"/>
                </a:solidFill>
              </a:rPr>
              <a:t>4.	Queuing:</a:t>
            </a:r>
          </a:p>
          <a:p>
            <a:pPr algn="just">
              <a:lnSpc>
                <a:spcPct val="150000"/>
              </a:lnSpc>
            </a:pPr>
            <a:r>
              <a:rPr lang="en-US" sz="1800" b="0" dirty="0"/>
              <a:t>In UDP, queues are associated with ports. At the client site, when a process starts, it requests a port number from the operating system. </a:t>
            </a:r>
          </a:p>
          <a:p>
            <a:pPr algn="just">
              <a:lnSpc>
                <a:spcPct val="150000"/>
              </a:lnSpc>
            </a:pPr>
            <a:r>
              <a:rPr lang="en-US" sz="1800" b="0" dirty="0"/>
              <a:t>Some implementations create both an incoming and an outgoing queue associated with each process. Other implementations create only an incoming queue associated with each process.</a:t>
            </a:r>
          </a:p>
          <a:p>
            <a:pPr algn="just">
              <a:buNone/>
            </a:pPr>
            <a:endParaRPr lang="en-US" sz="1800" b="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C30C7686-5EA6-9A11-F8E1-12BDD6E9BD20}"/>
              </a:ext>
            </a:extLst>
          </p:cNvPr>
          <p:cNvSpPr>
            <a:spLocks noGrp="1"/>
          </p:cNvSpPr>
          <p:nvPr>
            <p:ph type="title"/>
          </p:nvPr>
        </p:nvSpPr>
        <p:spPr/>
        <p:txBody>
          <a:bodyPr/>
          <a:lstStyle/>
          <a:p>
            <a:r>
              <a:rPr lang="en-IN" dirty="0"/>
              <a:t>UDP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196" y="1526838"/>
            <a:ext cx="11936124" cy="6000792"/>
          </a:xfrm>
        </p:spPr>
        <p:txBody>
          <a:bodyPr>
            <a:normAutofit/>
          </a:bodyPr>
          <a:lstStyle/>
          <a:p>
            <a:pPr algn="just">
              <a:lnSpc>
                <a:spcPct val="150000"/>
              </a:lnSpc>
              <a:buNone/>
            </a:pPr>
            <a:r>
              <a:rPr lang="en-IN" sz="2000" dirty="0">
                <a:solidFill>
                  <a:schemeClr val="bg2"/>
                </a:solidFill>
              </a:rPr>
              <a:t>5.	Process to Process Communication:</a:t>
            </a:r>
            <a:endParaRPr lang="en-US" sz="2000" dirty="0">
              <a:solidFill>
                <a:schemeClr val="bg2"/>
              </a:solidFill>
            </a:endParaRPr>
          </a:p>
          <a:p>
            <a:pPr algn="just">
              <a:lnSpc>
                <a:spcPct val="150000"/>
              </a:lnSpc>
            </a:pPr>
            <a:r>
              <a:rPr lang="en-US" sz="1800" dirty="0"/>
              <a:t>UDP provides process to process communication using sockets, a combination of IP addresses and port numbers.</a:t>
            </a:r>
          </a:p>
          <a:p>
            <a:pPr algn="just">
              <a:lnSpc>
                <a:spcPct val="150000"/>
              </a:lnSpc>
            </a:pPr>
            <a:r>
              <a:rPr lang="en-IN" sz="1800" dirty="0">
                <a:latin typeface="Calibri" pitchFamily="34" charset="0"/>
                <a:cs typeface="Calibri" pitchFamily="34" charset="0"/>
              </a:rPr>
              <a:t>Well known port numbers used by UDP are as follows:</a:t>
            </a:r>
          </a:p>
          <a:p>
            <a:pPr algn="just">
              <a:lnSpc>
                <a:spcPct val="150000"/>
              </a:lnSpc>
              <a:buAutoNum type="arabicPeriod" startAt="6"/>
            </a:pPr>
            <a:r>
              <a:rPr lang="en-IN" sz="2000" dirty="0">
                <a:solidFill>
                  <a:schemeClr val="bg2"/>
                </a:solidFill>
                <a:latin typeface="Calibri" pitchFamily="34" charset="0"/>
                <a:cs typeface="Calibri" pitchFamily="34" charset="0"/>
              </a:rPr>
              <a:t>Multiplexing and </a:t>
            </a:r>
            <a:r>
              <a:rPr lang="en-IN" sz="2000" dirty="0" err="1">
                <a:solidFill>
                  <a:schemeClr val="bg2"/>
                </a:solidFill>
                <a:latin typeface="Calibri" pitchFamily="34" charset="0"/>
                <a:cs typeface="Calibri" pitchFamily="34" charset="0"/>
              </a:rPr>
              <a:t>Demultiplexing</a:t>
            </a:r>
            <a:r>
              <a:rPr lang="en-IN" sz="2000" dirty="0">
                <a:solidFill>
                  <a:schemeClr val="bg2"/>
                </a:solidFill>
                <a:latin typeface="Calibri" pitchFamily="34" charset="0"/>
                <a:cs typeface="Calibri" pitchFamily="34" charset="0"/>
              </a:rPr>
              <a:t>:</a:t>
            </a:r>
          </a:p>
          <a:p>
            <a:pPr algn="just">
              <a:lnSpc>
                <a:spcPct val="150000"/>
              </a:lnSpc>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FDB77AFF-EF87-8A67-B085-0102598D77E7}"/>
              </a:ext>
            </a:extLst>
          </p:cNvPr>
          <p:cNvSpPr>
            <a:spLocks noGrp="1"/>
          </p:cNvSpPr>
          <p:nvPr>
            <p:ph type="title"/>
          </p:nvPr>
        </p:nvSpPr>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43840" y="1343004"/>
            <a:ext cx="11643360" cy="6286544"/>
          </a:xfrm>
        </p:spPr>
        <p:txBody>
          <a:bodyPr>
            <a:normAutofit/>
          </a:bodyPr>
          <a:lstStyle/>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is a transport layer protocol.</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has been designed to send data packets over the Internet.</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establishes a reliable end to end connection before sending any data.</a:t>
            </a:r>
          </a:p>
          <a:p>
            <a:pPr algn="just">
              <a:lnSpc>
                <a:spcPct val="150000"/>
              </a:lnSpc>
              <a:buNone/>
            </a:pPr>
            <a:r>
              <a:rPr lang="en-US" sz="2000" b="0" dirty="0">
                <a:solidFill>
                  <a:schemeClr val="bg2"/>
                </a:solidFill>
                <a:latin typeface="Cambria" panose="02040503050406030204" pitchFamily="18" charset="0"/>
                <a:ea typeface="Cambria" panose="02040503050406030204" pitchFamily="18" charset="0"/>
                <a:cs typeface="Calibri" pitchFamily="34" charset="0"/>
              </a:rPr>
              <a:t>4.2.1 Characteristics Of TCP:</a:t>
            </a:r>
          </a:p>
          <a:p>
            <a:pPr algn="just">
              <a:lnSpc>
                <a:spcPct val="150000"/>
              </a:lnSpc>
              <a:buNone/>
            </a:pPr>
            <a:r>
              <a:rPr lang="en-US" sz="1800" b="0" dirty="0">
                <a:solidFill>
                  <a:schemeClr val="bg2"/>
                </a:solidFill>
                <a:latin typeface="Cambria" panose="02040503050406030204" pitchFamily="18" charset="0"/>
                <a:ea typeface="Cambria" panose="02040503050406030204" pitchFamily="18" charset="0"/>
                <a:cs typeface="Calibri" pitchFamily="34" charset="0"/>
              </a:rPr>
              <a:t>1.	TCP is a reliable protocol.</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This is because-</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guarantees the delivery of data packets to its correct destination.</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After receiving the data packet, receiver sends an acknowledgement to the sender.</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It tells the sender whether data packet has reached its destination safely or not.</a:t>
            </a:r>
          </a:p>
          <a:p>
            <a:pPr algn="just">
              <a:lnSpc>
                <a:spcPct val="150000"/>
              </a:lnSpc>
            </a:pPr>
            <a:r>
              <a:rPr lang="en-US" sz="1800" b="0" dirty="0">
                <a:latin typeface="Cambria" panose="02040503050406030204" pitchFamily="18" charset="0"/>
                <a:ea typeface="Cambria" panose="02040503050406030204" pitchFamily="18" charset="0"/>
                <a:cs typeface="Calibri" pitchFamily="34" charset="0"/>
              </a:rPr>
              <a:t>TCP employs retransmission to compensate for packet loss.</a:t>
            </a:r>
          </a:p>
          <a:p>
            <a:pPr algn="just">
              <a:buNone/>
            </a:pPr>
            <a:endParaRPr lang="en-US" sz="1800" b="0" dirty="0">
              <a:latin typeface="Cambria" panose="02040503050406030204" pitchFamily="18" charset="0"/>
              <a:ea typeface="Cambria" panose="02040503050406030204" pitchFamily="18" charset="0"/>
            </a:endParaRPr>
          </a:p>
          <a:p>
            <a:pPr algn="just">
              <a:lnSpc>
                <a:spcPct val="150000"/>
              </a:lnSpc>
              <a:buNone/>
            </a:pPr>
            <a:endParaRPr lang="en-US" sz="1800" b="0" dirty="0">
              <a:latin typeface="Cambria" panose="02040503050406030204" pitchFamily="18" charset="0"/>
              <a:ea typeface="Cambria" panose="02040503050406030204" pitchFamily="18" charset="0"/>
              <a:cs typeface="Calibri" pitchFamily="34" charset="0"/>
            </a:endParaRPr>
          </a:p>
        </p:txBody>
      </p:sp>
      <p:sp>
        <p:nvSpPr>
          <p:cNvPr id="4" name="Title 3">
            <a:extLst>
              <a:ext uri="{FF2B5EF4-FFF2-40B4-BE49-F238E27FC236}">
                <a16:creationId xmlns:a16="http://schemas.microsoft.com/office/drawing/2014/main" id="{B6CF84F7-E7A2-C5B1-E9CF-B58341AB6AEB}"/>
              </a:ext>
            </a:extLst>
          </p:cNvPr>
          <p:cNvSpPr>
            <a:spLocks noGrp="1"/>
          </p:cNvSpPr>
          <p:nvPr>
            <p:ph type="title"/>
          </p:nvPr>
        </p:nvSpPr>
        <p:spPr/>
        <p:txBody>
          <a:bodyPr/>
          <a:lstStyle/>
          <a:p>
            <a:r>
              <a:rPr lang="en-IN" dirty="0"/>
              <a:t>TCP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0" y="1283928"/>
            <a:ext cx="11348720" cy="6000792"/>
          </a:xfrm>
        </p:spPr>
        <p:txBody>
          <a:bodyPr>
            <a:normAutofit/>
          </a:bodyPr>
          <a:lstStyle/>
          <a:p>
            <a:pPr indent="-457200" algn="just">
              <a:lnSpc>
                <a:spcPct val="150000"/>
              </a:lnSpc>
              <a:buNone/>
            </a:pPr>
            <a:r>
              <a:rPr lang="en-US" sz="1800" dirty="0">
                <a:solidFill>
                  <a:schemeClr val="bg2"/>
                </a:solidFill>
                <a:latin typeface="Calibri" pitchFamily="34" charset="0"/>
                <a:cs typeface="Calibri" pitchFamily="34" charset="0"/>
              </a:rPr>
              <a:t>2.	TCP is a connection oriented protocol.</a:t>
            </a:r>
          </a:p>
          <a:p>
            <a:pPr algn="just"/>
            <a:r>
              <a:rPr lang="en-US" sz="1800" dirty="0">
                <a:latin typeface="Calibri" pitchFamily="34" charset="0"/>
                <a:cs typeface="Calibri" pitchFamily="34" charset="0"/>
              </a:rPr>
              <a:t>This is because-</a:t>
            </a:r>
          </a:p>
          <a:p>
            <a:pPr algn="just"/>
            <a:r>
              <a:rPr lang="en-US" sz="1800" dirty="0">
                <a:latin typeface="Calibri" pitchFamily="34" charset="0"/>
                <a:cs typeface="Calibri" pitchFamily="34" charset="0"/>
              </a:rPr>
              <a:t>TCP establishes an end to end connection between the source and destination.</a:t>
            </a:r>
          </a:p>
          <a:p>
            <a:pPr algn="just"/>
            <a:r>
              <a:rPr lang="en-US" sz="1800" dirty="0">
                <a:latin typeface="Calibri" pitchFamily="34" charset="0"/>
                <a:cs typeface="Calibri" pitchFamily="34" charset="0"/>
              </a:rPr>
              <a:t>The connection is established before exchanging the data.</a:t>
            </a:r>
          </a:p>
          <a:p>
            <a:pPr algn="just"/>
            <a:r>
              <a:rPr lang="en-US" sz="1800" dirty="0">
                <a:latin typeface="Calibri" pitchFamily="34" charset="0"/>
                <a:cs typeface="Calibri" pitchFamily="34" charset="0"/>
              </a:rPr>
              <a:t>The connection is maintained until the application programs at each end finishes exchanging the data.</a:t>
            </a:r>
          </a:p>
          <a:p>
            <a:pPr algn="just">
              <a:buNone/>
            </a:pPr>
            <a:r>
              <a:rPr lang="en-US" sz="1800" dirty="0">
                <a:solidFill>
                  <a:schemeClr val="bg2"/>
                </a:solidFill>
                <a:latin typeface="Calibri" pitchFamily="34" charset="0"/>
                <a:cs typeface="Calibri" pitchFamily="34" charset="0"/>
              </a:rPr>
              <a:t>3.	TCP handles both congestion and flow control.</a:t>
            </a:r>
          </a:p>
          <a:p>
            <a:pPr algn="just"/>
            <a:r>
              <a:rPr lang="en-US" sz="1800" dirty="0">
                <a:latin typeface="Calibri" pitchFamily="34" charset="0"/>
                <a:cs typeface="Calibri" pitchFamily="34" charset="0"/>
              </a:rPr>
              <a:t>TCP handles congestion and flow control by controlling the window size.</a:t>
            </a:r>
          </a:p>
          <a:p>
            <a:pPr algn="just"/>
            <a:r>
              <a:rPr lang="en-US" sz="1800" dirty="0">
                <a:latin typeface="Calibri" pitchFamily="34" charset="0"/>
                <a:cs typeface="Calibri" pitchFamily="34" charset="0"/>
              </a:rPr>
              <a:t>TCP reacts to congestion by reducing the sender window size.</a:t>
            </a:r>
          </a:p>
          <a:p>
            <a:pPr indent="-457200" algn="just">
              <a:lnSpc>
                <a:spcPct val="150000"/>
              </a:lnSpc>
              <a:buNone/>
            </a:pPr>
            <a:r>
              <a:rPr lang="en-US" sz="1800" dirty="0">
                <a:solidFill>
                  <a:schemeClr val="bg2"/>
                </a:solidFill>
                <a:latin typeface="Calibri" pitchFamily="34" charset="0"/>
                <a:cs typeface="Calibri" pitchFamily="34" charset="0"/>
              </a:rPr>
              <a:t>4.    TCP ensures in-order delivery.</a:t>
            </a:r>
          </a:p>
          <a:p>
            <a:pPr algn="just"/>
            <a:r>
              <a:rPr lang="en-US" sz="1800" dirty="0">
                <a:latin typeface="Calibri" pitchFamily="34" charset="0"/>
                <a:cs typeface="Calibri" pitchFamily="34" charset="0"/>
              </a:rPr>
              <a:t>TCP ensures that the data packets get deliver to the destination in the same order they are sent by the sender.</a:t>
            </a:r>
          </a:p>
          <a:p>
            <a:pPr algn="just"/>
            <a:r>
              <a:rPr lang="en-US" sz="1800" u="sng" dirty="0">
                <a:latin typeface="Calibri" pitchFamily="34" charset="0"/>
                <a:cs typeface="Calibri" pitchFamily="34" charset="0"/>
                <a:hlinkClick r:id="rId2"/>
              </a:rPr>
              <a:t>Sequence Numbers</a:t>
            </a:r>
            <a:r>
              <a:rPr lang="en-US" sz="1800" dirty="0">
                <a:latin typeface="Calibri" pitchFamily="34" charset="0"/>
                <a:cs typeface="Calibri" pitchFamily="34" charset="0"/>
              </a:rPr>
              <a:t> are used to coordinate which data has been transmitted and received.</a:t>
            </a:r>
          </a:p>
          <a:p>
            <a:pPr indent="-457200" algn="just">
              <a:lnSpc>
                <a:spcPct val="150000"/>
              </a:lnSpc>
              <a:buNone/>
            </a:pPr>
            <a:r>
              <a:rPr lang="en-US" sz="1800" dirty="0">
                <a:solidFill>
                  <a:schemeClr val="bg2"/>
                </a:solidFill>
                <a:latin typeface="Calibri" pitchFamily="34" charset="0"/>
                <a:cs typeface="Calibri" pitchFamily="34" charset="0"/>
              </a:rPr>
              <a:t>5.    TCP connections are full duplex.</a:t>
            </a:r>
          </a:p>
          <a:p>
            <a:pPr algn="just"/>
            <a:r>
              <a:rPr lang="en-US" sz="1800" dirty="0">
                <a:latin typeface="Calibri" pitchFamily="34" charset="0"/>
                <a:cs typeface="Calibri" pitchFamily="34" charset="0"/>
              </a:rPr>
              <a:t>TCP connection allows to send data in both the directions at the same time.</a:t>
            </a:r>
          </a:p>
          <a:p>
            <a:pPr algn="just"/>
            <a:r>
              <a:rPr lang="en-US" sz="1800" dirty="0">
                <a:latin typeface="Calibri" pitchFamily="34" charset="0"/>
                <a:cs typeface="Calibri" pitchFamily="34" charset="0"/>
              </a:rPr>
              <a:t>So, TCP connections are </a:t>
            </a:r>
            <a:r>
              <a:rPr lang="en-US" sz="1800" u="sng" dirty="0">
                <a:latin typeface="Calibri" pitchFamily="34" charset="0"/>
                <a:cs typeface="Calibri" pitchFamily="34" charset="0"/>
                <a:hlinkClick r:id="rId3"/>
              </a:rPr>
              <a:t>Full Duplex</a:t>
            </a:r>
            <a:r>
              <a:rPr lang="en-US" sz="1800" dirty="0">
                <a:latin typeface="Calibri" pitchFamily="34" charset="0"/>
                <a:cs typeface="Calibri" pitchFamily="34" charset="0"/>
              </a:rPr>
              <a:t>.</a:t>
            </a:r>
          </a:p>
          <a:p>
            <a:pPr algn="just">
              <a:buNone/>
            </a:pPr>
            <a:endParaRPr lang="en-US" sz="1800" dirty="0">
              <a:latin typeface="Calibri" pitchFamily="34" charset="0"/>
              <a:cs typeface="Calibri" pitchFamily="34" charset="0"/>
            </a:endParaRPr>
          </a:p>
          <a:p>
            <a:pPr indent="-457200" algn="just">
              <a:buNone/>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270D3593-5DD0-A5BD-7B06-2CA327988E14}"/>
              </a:ext>
            </a:extLst>
          </p:cNvPr>
          <p:cNvSpPr>
            <a:spLocks noGrp="1"/>
          </p:cNvSpPr>
          <p:nvPr>
            <p:ph type="title"/>
          </p:nvPr>
        </p:nvSpPr>
        <p:spPr/>
        <p:txBody>
          <a:bodyPr/>
          <a:lstStyle/>
          <a:p>
            <a:r>
              <a:rPr lang="en-IN" dirty="0"/>
              <a:t>TCP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0320" y="1201718"/>
            <a:ext cx="11927840" cy="6000792"/>
          </a:xfrm>
        </p:spPr>
        <p:txBody>
          <a:bodyPr>
            <a:normAutofit/>
          </a:bodyPr>
          <a:lstStyle/>
          <a:p>
            <a:pPr indent="-457200" algn="just">
              <a:lnSpc>
                <a:spcPct val="150000"/>
              </a:lnSpc>
              <a:buNone/>
            </a:pPr>
            <a:r>
              <a:rPr lang="en-US" sz="1800" dirty="0">
                <a:solidFill>
                  <a:schemeClr val="bg2"/>
                </a:solidFill>
                <a:latin typeface="Calibri" pitchFamily="34" charset="0"/>
                <a:cs typeface="Calibri" pitchFamily="34" charset="0"/>
              </a:rPr>
              <a:t>6.   </a:t>
            </a:r>
            <a:r>
              <a:rPr lang="en-US" sz="1800" b="0" dirty="0">
                <a:solidFill>
                  <a:schemeClr val="bg2"/>
                </a:solidFill>
                <a:latin typeface="Calibri" pitchFamily="34" charset="0"/>
                <a:cs typeface="Calibri" pitchFamily="34" charset="0"/>
              </a:rPr>
              <a:t>TCP works in collaboration with Internet Protocol.</a:t>
            </a:r>
          </a:p>
          <a:p>
            <a:pPr algn="just"/>
            <a:r>
              <a:rPr lang="en-US" sz="1800" b="0" dirty="0">
                <a:latin typeface="Calibri" pitchFamily="34" charset="0"/>
                <a:cs typeface="Calibri" pitchFamily="34" charset="0"/>
              </a:rPr>
              <a:t>A TCP connection is uniquely identified by using- Combination </a:t>
            </a:r>
            <a:r>
              <a:rPr lang="en-US" sz="1800" b="0" dirty="0">
                <a:solidFill>
                  <a:srgbClr val="FF0000"/>
                </a:solidFill>
                <a:latin typeface="Calibri" pitchFamily="34" charset="0"/>
                <a:cs typeface="Calibri" pitchFamily="34" charset="0"/>
              </a:rPr>
              <a:t>of port numbers </a:t>
            </a:r>
            <a:r>
              <a:rPr lang="en-US" sz="1800" b="0" dirty="0">
                <a:latin typeface="Calibri" pitchFamily="34" charset="0"/>
                <a:cs typeface="Calibri" pitchFamily="34" charset="0"/>
              </a:rPr>
              <a:t>and </a:t>
            </a:r>
            <a:r>
              <a:rPr lang="en-US" sz="1800" b="0" u="sng" dirty="0">
                <a:latin typeface="Calibri" pitchFamily="34" charset="0"/>
                <a:cs typeface="Calibri" pitchFamily="34" charset="0"/>
                <a:hlinkClick r:id="rId2"/>
              </a:rPr>
              <a:t>IP Addresses</a:t>
            </a:r>
            <a:r>
              <a:rPr lang="en-US" sz="1800" b="0" dirty="0">
                <a:latin typeface="Calibri" pitchFamily="34" charset="0"/>
                <a:cs typeface="Calibri" pitchFamily="34" charset="0"/>
              </a:rPr>
              <a:t> of sender and receiver.</a:t>
            </a:r>
          </a:p>
          <a:p>
            <a:pPr algn="just"/>
            <a:r>
              <a:rPr lang="en-US" sz="1800" b="0" dirty="0">
                <a:solidFill>
                  <a:srgbClr val="FF0000"/>
                </a:solidFill>
                <a:latin typeface="Calibri" pitchFamily="34" charset="0"/>
                <a:cs typeface="Calibri" pitchFamily="34" charset="0"/>
              </a:rPr>
              <a:t>IP Addresses </a:t>
            </a:r>
            <a:r>
              <a:rPr lang="en-US" sz="1800" b="0" dirty="0">
                <a:latin typeface="Calibri" pitchFamily="34" charset="0"/>
                <a:cs typeface="Calibri" pitchFamily="34" charset="0"/>
              </a:rPr>
              <a:t>indicate which systems are communicating.</a:t>
            </a:r>
          </a:p>
          <a:p>
            <a:pPr algn="just"/>
            <a:r>
              <a:rPr lang="en-US" sz="1800" b="0" dirty="0">
                <a:solidFill>
                  <a:srgbClr val="FF0000"/>
                </a:solidFill>
                <a:latin typeface="Calibri" pitchFamily="34" charset="0"/>
                <a:cs typeface="Calibri" pitchFamily="34" charset="0"/>
              </a:rPr>
              <a:t>Port numbers </a:t>
            </a:r>
            <a:r>
              <a:rPr lang="en-US" sz="1800" b="0" dirty="0">
                <a:latin typeface="Calibri" pitchFamily="34" charset="0"/>
                <a:cs typeface="Calibri" pitchFamily="34" charset="0"/>
              </a:rPr>
              <a:t>indicate which end to end sockets are communicating.</a:t>
            </a:r>
          </a:p>
          <a:p>
            <a:pPr algn="just"/>
            <a:r>
              <a:rPr lang="en-US" sz="1800" b="0" dirty="0">
                <a:latin typeface="Calibri" pitchFamily="34" charset="0"/>
                <a:cs typeface="Calibri" pitchFamily="34" charset="0"/>
              </a:rPr>
              <a:t>Port numbers are contained in the TCP header and IP Addresses are contained in the </a:t>
            </a:r>
            <a:r>
              <a:rPr lang="en-US" sz="1800" b="0" u="sng" dirty="0">
                <a:latin typeface="Calibri" pitchFamily="34" charset="0"/>
                <a:cs typeface="Calibri" pitchFamily="34" charset="0"/>
                <a:hlinkClick r:id="rId3"/>
              </a:rPr>
              <a:t>IP header</a:t>
            </a:r>
            <a:r>
              <a:rPr lang="en-US" sz="1800" b="0" dirty="0">
                <a:latin typeface="Calibri" pitchFamily="34" charset="0"/>
                <a:cs typeface="Calibri" pitchFamily="34" charset="0"/>
              </a:rPr>
              <a:t>.</a:t>
            </a:r>
          </a:p>
          <a:p>
            <a:pPr algn="just"/>
            <a:r>
              <a:rPr lang="en-US" sz="1800" b="0" dirty="0">
                <a:latin typeface="Calibri" pitchFamily="34" charset="0"/>
                <a:cs typeface="Calibri" pitchFamily="34" charset="0"/>
              </a:rPr>
              <a:t>TCP segments are encapsulated into an IP datagram.</a:t>
            </a:r>
          </a:p>
          <a:p>
            <a:pPr algn="just"/>
            <a:r>
              <a:rPr lang="en-US" sz="1800" b="0" dirty="0">
                <a:latin typeface="Calibri" pitchFamily="34" charset="0"/>
                <a:cs typeface="Calibri" pitchFamily="34" charset="0"/>
              </a:rPr>
              <a:t>So, TCP header immediately follows the IP header during transmission.</a:t>
            </a:r>
          </a:p>
          <a:p>
            <a:pPr indent="-457200" algn="just">
              <a:lnSpc>
                <a:spcPct val="150000"/>
              </a:lnSpc>
              <a:buNone/>
            </a:pPr>
            <a:r>
              <a:rPr lang="en-US" sz="1800" b="0" dirty="0">
                <a:solidFill>
                  <a:schemeClr val="bg2"/>
                </a:solidFill>
                <a:latin typeface="Calibri" pitchFamily="34" charset="0"/>
                <a:cs typeface="Calibri" pitchFamily="34" charset="0"/>
              </a:rPr>
              <a:t>7.  TCP can use both selective &amp; cumulative acknowledgements.</a:t>
            </a:r>
          </a:p>
          <a:p>
            <a:pPr algn="just"/>
            <a:r>
              <a:rPr lang="en-US" sz="1800" b="0" dirty="0">
                <a:latin typeface="Calibri" pitchFamily="34" charset="0"/>
                <a:cs typeface="Calibri" pitchFamily="34" charset="0"/>
              </a:rPr>
              <a:t>TCP uses a combination of </a:t>
            </a:r>
            <a:r>
              <a:rPr lang="en-US" sz="1800" b="0" u="sng" dirty="0">
                <a:latin typeface="Calibri" pitchFamily="34" charset="0"/>
                <a:cs typeface="Calibri" pitchFamily="34" charset="0"/>
                <a:hlinkClick r:id="rId4"/>
              </a:rPr>
              <a:t>Selective Repeat</a:t>
            </a:r>
            <a:r>
              <a:rPr lang="en-US" sz="1800" b="0" dirty="0">
                <a:latin typeface="Calibri" pitchFamily="34" charset="0"/>
                <a:cs typeface="Calibri" pitchFamily="34" charset="0"/>
              </a:rPr>
              <a:t> and </a:t>
            </a:r>
            <a:r>
              <a:rPr lang="en-US" sz="1800" b="0" u="sng" dirty="0">
                <a:latin typeface="Calibri" pitchFamily="34" charset="0"/>
                <a:cs typeface="Calibri" pitchFamily="34" charset="0"/>
                <a:hlinkClick r:id="rId5"/>
              </a:rPr>
              <a:t>Go back N</a:t>
            </a:r>
            <a:r>
              <a:rPr lang="en-US" sz="1800" b="0" dirty="0">
                <a:latin typeface="Calibri" pitchFamily="34" charset="0"/>
                <a:cs typeface="Calibri" pitchFamily="34" charset="0"/>
              </a:rPr>
              <a:t> protocols.</a:t>
            </a:r>
          </a:p>
          <a:p>
            <a:pPr algn="just"/>
            <a:r>
              <a:rPr lang="en-US" sz="1800" b="0" dirty="0">
                <a:latin typeface="Calibri" pitchFamily="34" charset="0"/>
                <a:cs typeface="Calibri" pitchFamily="34" charset="0"/>
              </a:rPr>
              <a:t>In TCP, sender window size = receiver window size.</a:t>
            </a:r>
          </a:p>
          <a:p>
            <a:pPr algn="just"/>
            <a:r>
              <a:rPr lang="en-US" sz="1800" b="0" dirty="0">
                <a:latin typeface="Calibri" pitchFamily="34" charset="0"/>
                <a:cs typeface="Calibri" pitchFamily="34" charset="0"/>
              </a:rPr>
              <a:t>In TCP, out of order packets are accepted by the receiver.</a:t>
            </a:r>
          </a:p>
          <a:p>
            <a:pPr algn="just"/>
            <a:r>
              <a:rPr lang="en-US" sz="1800" b="0" dirty="0">
                <a:latin typeface="Calibri" pitchFamily="34" charset="0"/>
                <a:cs typeface="Calibri" pitchFamily="34" charset="0"/>
              </a:rPr>
              <a:t>When receiver receives an out of order packet, it accepts that packet but sends an acknowledgement for the expected packet.</a:t>
            </a:r>
          </a:p>
          <a:p>
            <a:pPr algn="just"/>
            <a:r>
              <a:rPr lang="en-US" sz="1800" b="0" dirty="0">
                <a:latin typeface="Calibri" pitchFamily="34" charset="0"/>
                <a:cs typeface="Calibri" pitchFamily="34" charset="0"/>
              </a:rPr>
              <a:t>Receiver may choose to send independent acknowledgements or cumulative acknowledgement.</a:t>
            </a:r>
          </a:p>
          <a:p>
            <a:pPr algn="just"/>
            <a:r>
              <a:rPr lang="en-US" sz="1800" b="0" dirty="0">
                <a:latin typeface="Calibri" pitchFamily="34" charset="0"/>
                <a:cs typeface="Calibri" pitchFamily="34" charset="0"/>
              </a:rPr>
              <a:t>To sum up, TCP is a combination of 75% SR protocol and 25% Go back N protocol.</a:t>
            </a:r>
          </a:p>
          <a:p>
            <a:pPr algn="just"/>
            <a:endParaRPr lang="en-US" sz="1800" dirty="0">
              <a:latin typeface="Calibri" pitchFamily="34" charset="0"/>
              <a:cs typeface="Calibri" pitchFamily="34" charset="0"/>
            </a:endParaRPr>
          </a:p>
          <a:p>
            <a:pPr indent="-457200" algn="just">
              <a:lnSpc>
                <a:spcPct val="150000"/>
              </a:lnSpc>
              <a:buNone/>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sp>
        <p:nvSpPr>
          <p:cNvPr id="4" name="Title 3">
            <a:extLst>
              <a:ext uri="{FF2B5EF4-FFF2-40B4-BE49-F238E27FC236}">
                <a16:creationId xmlns:a16="http://schemas.microsoft.com/office/drawing/2014/main" id="{B8D44F33-039C-D40B-C19D-FFB893AB136C}"/>
              </a:ext>
            </a:extLst>
          </p:cNvPr>
          <p:cNvSpPr>
            <a:spLocks noGrp="1"/>
          </p:cNvSpPr>
          <p:nvPr>
            <p:ph type="title"/>
          </p:nvPr>
        </p:nvSpPr>
        <p:spPr/>
        <p:txBody>
          <a:bodyPr/>
          <a:lstStyle/>
          <a:p>
            <a:r>
              <a:rPr lang="en-IN" dirty="0"/>
              <a:t>TCP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81476" y="7524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(Continued…)</a:t>
            </a:r>
          </a:p>
        </p:txBody>
      </p:sp>
      <p:sp>
        <p:nvSpPr>
          <p:cNvPr id="5" name="Content Placeholder 4"/>
          <p:cNvSpPr>
            <a:spLocks noGrp="1"/>
          </p:cNvSpPr>
          <p:nvPr>
            <p:ph idx="1"/>
          </p:nvPr>
        </p:nvSpPr>
        <p:spPr>
          <a:xfrm>
            <a:off x="264160" y="1415078"/>
            <a:ext cx="11653520" cy="6000792"/>
          </a:xfrm>
        </p:spPr>
        <p:txBody>
          <a:bodyPr/>
          <a:lstStyle/>
          <a:p>
            <a:pPr algn="just">
              <a:lnSpc>
                <a:spcPct val="150000"/>
              </a:lnSpc>
              <a:buNone/>
            </a:pPr>
            <a:r>
              <a:rPr lang="en-US" sz="1800" dirty="0">
                <a:solidFill>
                  <a:schemeClr val="bg2"/>
                </a:solidFill>
              </a:rPr>
              <a:t>8.  </a:t>
            </a:r>
            <a:r>
              <a:rPr lang="en-US" sz="1800" dirty="0">
                <a:solidFill>
                  <a:schemeClr val="bg2"/>
                </a:solidFill>
                <a:latin typeface="Calibri" pitchFamily="34" charset="0"/>
                <a:cs typeface="Calibri" pitchFamily="34" charset="0"/>
              </a:rPr>
              <a:t>TCP is a byte stream protocol.</a:t>
            </a:r>
          </a:p>
          <a:p>
            <a:pPr algn="just">
              <a:lnSpc>
                <a:spcPct val="150000"/>
              </a:lnSpc>
            </a:pPr>
            <a:r>
              <a:rPr lang="en-US" sz="1800" dirty="0">
                <a:latin typeface="Calibri" pitchFamily="34" charset="0"/>
                <a:cs typeface="Calibri" pitchFamily="34" charset="0"/>
              </a:rPr>
              <a:t>Application layer sends data to the transport layer without any limitation.</a:t>
            </a:r>
          </a:p>
          <a:p>
            <a:pPr algn="just">
              <a:lnSpc>
                <a:spcPct val="150000"/>
              </a:lnSpc>
            </a:pPr>
            <a:r>
              <a:rPr lang="en-US" sz="1800" dirty="0">
                <a:latin typeface="Calibri" pitchFamily="34" charset="0"/>
                <a:cs typeface="Calibri" pitchFamily="34" charset="0"/>
              </a:rPr>
              <a:t>TCP divides the data into chunks where each chunk is a collection of bytes.</a:t>
            </a:r>
          </a:p>
          <a:p>
            <a:pPr algn="just">
              <a:lnSpc>
                <a:spcPct val="150000"/>
              </a:lnSpc>
            </a:pPr>
            <a:r>
              <a:rPr lang="en-US" sz="1800" dirty="0">
                <a:latin typeface="Calibri" pitchFamily="34" charset="0"/>
                <a:cs typeface="Calibri" pitchFamily="34" charset="0"/>
              </a:rPr>
              <a:t>Then, it creates a TCP segment by adding IP header to the data chunk.</a:t>
            </a:r>
          </a:p>
          <a:p>
            <a:pPr algn="just">
              <a:lnSpc>
                <a:spcPct val="150000"/>
              </a:lnSpc>
            </a:pPr>
            <a:r>
              <a:rPr lang="en-US" sz="1800" dirty="0">
                <a:latin typeface="Calibri" pitchFamily="34" charset="0"/>
                <a:cs typeface="Calibri" pitchFamily="34" charset="0"/>
              </a:rPr>
              <a:t>TCP segment = TCP header + Data chunk.</a:t>
            </a:r>
          </a:p>
          <a:p>
            <a:pPr algn="just">
              <a:lnSpc>
                <a:spcPct val="150000"/>
              </a:lnSpc>
              <a:buNone/>
            </a:pPr>
            <a:r>
              <a:rPr lang="en-US" sz="1800" dirty="0">
                <a:solidFill>
                  <a:schemeClr val="bg2"/>
                </a:solidFill>
                <a:latin typeface="Calibri" pitchFamily="34" charset="0"/>
                <a:cs typeface="Calibri" pitchFamily="34" charset="0"/>
              </a:rPr>
              <a:t>9. TCP provides error checking &amp; recovery mechanism.</a:t>
            </a:r>
          </a:p>
          <a:p>
            <a:pPr algn="just">
              <a:lnSpc>
                <a:spcPct val="150000"/>
              </a:lnSpc>
            </a:pPr>
            <a:r>
              <a:rPr lang="en-US" sz="1800" dirty="0">
                <a:latin typeface="Calibri" pitchFamily="34" charset="0"/>
                <a:cs typeface="Calibri" pitchFamily="34" charset="0"/>
              </a:rPr>
              <a:t>TCP provides error checking and recovery using three simple techniques:</a:t>
            </a:r>
          </a:p>
          <a:p>
            <a:pPr algn="just">
              <a:lnSpc>
                <a:spcPct val="150000"/>
              </a:lnSpc>
              <a:buNone/>
            </a:pPr>
            <a:r>
              <a:rPr lang="en-US" sz="1800" dirty="0">
                <a:latin typeface="Calibri" pitchFamily="34" charset="0"/>
                <a:cs typeface="Calibri" pitchFamily="34" charset="0"/>
              </a:rPr>
              <a:t>1.	Checksum</a:t>
            </a:r>
          </a:p>
          <a:p>
            <a:pPr algn="just">
              <a:lnSpc>
                <a:spcPct val="150000"/>
              </a:lnSpc>
              <a:buNone/>
            </a:pPr>
            <a:r>
              <a:rPr lang="en-US" sz="1800" dirty="0">
                <a:latin typeface="Calibri" pitchFamily="34" charset="0"/>
                <a:cs typeface="Calibri" pitchFamily="34" charset="0"/>
              </a:rPr>
              <a:t>2.	Acknowledgement</a:t>
            </a:r>
          </a:p>
          <a:p>
            <a:pPr algn="just">
              <a:lnSpc>
                <a:spcPct val="150000"/>
              </a:lnSpc>
              <a:buNone/>
            </a:pPr>
            <a:r>
              <a:rPr lang="en-US" sz="1800" dirty="0">
                <a:latin typeface="Calibri" pitchFamily="34" charset="0"/>
                <a:cs typeface="Calibri" pitchFamily="34" charset="0"/>
              </a:rPr>
              <a:t>3.	Retransmission</a:t>
            </a: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3"/>
            <a:ext cx="8229600" cy="252933"/>
          </a:xfrm>
        </p:spPr>
        <p:txBody>
          <a:bodyPr>
            <a:normAutofit fontScale="90000"/>
          </a:bodyPr>
          <a:lstStyle/>
          <a:p>
            <a:pPr algn="l"/>
            <a:r>
              <a:rPr lang="en-US" sz="2400" dirty="0">
                <a:latin typeface="Calibri" pitchFamily="34" charset="0"/>
                <a:cs typeface="Calibri" pitchFamily="34" charset="0"/>
              </a:rPr>
              <a:t>4.2.2 TCP  Segment and TCP Header:</a:t>
            </a:r>
          </a:p>
        </p:txBody>
      </p:sp>
      <p:sp>
        <p:nvSpPr>
          <p:cNvPr id="5" name="Content Placeholder 4"/>
          <p:cNvSpPr>
            <a:spLocks noGrp="1"/>
          </p:cNvSpPr>
          <p:nvPr>
            <p:ph idx="1"/>
          </p:nvPr>
        </p:nvSpPr>
        <p:spPr>
          <a:xfrm>
            <a:off x="1981200" y="477672"/>
            <a:ext cx="8229600" cy="6166038"/>
          </a:xfrm>
        </p:spPr>
        <p:txBody>
          <a:bodyPr/>
          <a:lstStyle/>
          <a:p>
            <a:pPr algn="just"/>
            <a:r>
              <a:rPr lang="en-US" sz="1600" dirty="0">
                <a:latin typeface="Calibri" pitchFamily="34" charset="0"/>
                <a:cs typeface="Calibri" pitchFamily="34" charset="0"/>
              </a:rPr>
              <a:t>The following diagram represents the TCP Segment and Header format-</a:t>
            </a:r>
          </a:p>
          <a:p>
            <a:pPr algn="just"/>
            <a:endParaRPr lang="en-US" sz="1800" dirty="0">
              <a:latin typeface="Calibri" pitchFamily="34" charset="0"/>
              <a:cs typeface="Calibri" pitchFamily="34" charset="0"/>
            </a:endParaRPr>
          </a:p>
          <a:p>
            <a:pPr>
              <a:buNone/>
            </a:pPr>
            <a:endParaRPr lang="en-IN" sz="2000" dirty="0"/>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4" name="Picture 3" descr="https://www.gatevidyalay.com/wp-content/uploads/2018/09/TCP-Header-Format.png"/>
          <p:cNvPicPr/>
          <p:nvPr/>
        </p:nvPicPr>
        <p:blipFill>
          <a:blip r:embed="rId2"/>
          <a:srcRect/>
          <a:stretch>
            <a:fillRect/>
          </a:stretch>
        </p:blipFill>
        <p:spPr bwMode="auto">
          <a:xfrm>
            <a:off x="2446264" y="1692094"/>
            <a:ext cx="7129915" cy="4776945"/>
          </a:xfrm>
          <a:prstGeom prst="rect">
            <a:avLst/>
          </a:prstGeom>
          <a:noFill/>
          <a:ln w="9525">
            <a:noFill/>
            <a:miter lim="800000"/>
            <a:headEnd/>
            <a:tailEnd/>
          </a:ln>
        </p:spPr>
      </p:pic>
      <p:graphicFrame>
        <p:nvGraphicFramePr>
          <p:cNvPr id="6" name="Table 5"/>
          <p:cNvGraphicFramePr>
            <a:graphicFrameLocks noGrp="1"/>
          </p:cNvGraphicFramePr>
          <p:nvPr>
            <p:extLst>
              <p:ext uri="{D42A27DB-BD31-4B8C-83A1-F6EECF244321}">
                <p14:modId xmlns:p14="http://schemas.microsoft.com/office/powerpoint/2010/main" val="1262952987"/>
              </p:ext>
            </p:extLst>
          </p:nvPr>
        </p:nvGraphicFramePr>
        <p:xfrm>
          <a:off x="3257265" y="932976"/>
          <a:ext cx="4722126" cy="457200"/>
        </p:xfrm>
        <a:graphic>
          <a:graphicData uri="http://schemas.openxmlformats.org/drawingml/2006/table">
            <a:tbl>
              <a:tblPr firstRow="1" bandRow="1"/>
              <a:tblGrid>
                <a:gridCol w="2361063">
                  <a:extLst>
                    <a:ext uri="{9D8B030D-6E8A-4147-A177-3AD203B41FA5}">
                      <a16:colId xmlns:a16="http://schemas.microsoft.com/office/drawing/2014/main" val="20000"/>
                    </a:ext>
                  </a:extLst>
                </a:gridCol>
                <a:gridCol w="2361063">
                  <a:extLst>
                    <a:ext uri="{9D8B030D-6E8A-4147-A177-3AD203B41FA5}">
                      <a16:colId xmlns:a16="http://schemas.microsoft.com/office/drawing/2014/main" val="20001"/>
                    </a:ext>
                  </a:extLst>
                </a:gridCol>
              </a:tblGrid>
              <a:tr h="372584">
                <a:tc>
                  <a:txBody>
                    <a:bodyPr/>
                    <a:lstStyle/>
                    <a:p>
                      <a:pPr algn="ctr"/>
                      <a:r>
                        <a:rPr lang="en-IN" sz="2400" b="1" dirty="0"/>
                        <a:t>Header</a:t>
                      </a:r>
                      <a:endParaRPr lang="en-US" sz="2400" b="1" dirty="0"/>
                    </a:p>
                  </a:txBody>
                  <a:tcPr/>
                </a:tc>
                <a:tc>
                  <a:txBody>
                    <a:bodyPr/>
                    <a:lstStyle/>
                    <a:p>
                      <a:pPr algn="ctr"/>
                      <a:r>
                        <a:rPr lang="en-IN" sz="2400" b="1" dirty="0"/>
                        <a:t>Data</a:t>
                      </a:r>
                      <a:endParaRPr lang="en-US" sz="2400" b="1" dirty="0"/>
                    </a:p>
                  </a:txBody>
                  <a:tcPr/>
                </a:tc>
                <a:extLst>
                  <a:ext uri="{0D108BD9-81ED-4DB2-BD59-A6C34878D82A}">
                    <a16:rowId xmlns:a16="http://schemas.microsoft.com/office/drawing/2014/main" val="10000"/>
                  </a:ext>
                </a:extLst>
              </a:tr>
            </a:tbl>
          </a:graphicData>
        </a:graphic>
      </p:graphicFrame>
      <p:cxnSp>
        <p:nvCxnSpPr>
          <p:cNvPr id="8" name="Straight Connector 7"/>
          <p:cNvCxnSpPr/>
          <p:nvPr/>
        </p:nvCxnSpPr>
        <p:spPr>
          <a:xfrm rot="10800000" flipV="1">
            <a:off x="2547584" y="1351128"/>
            <a:ext cx="2047162" cy="600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403678" y="1378424"/>
            <a:ext cx="4981432" cy="58685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46196" y="6000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447040" y="1082679"/>
            <a:ext cx="11744960" cy="6000792"/>
          </a:xfrm>
        </p:spPr>
        <p:txBody>
          <a:bodyPr>
            <a:normAutofit fontScale="92500"/>
          </a:bodyPr>
          <a:lstStyle/>
          <a:p>
            <a:pPr algn="just">
              <a:lnSpc>
                <a:spcPct val="150000"/>
              </a:lnSpc>
              <a:buNone/>
            </a:pPr>
            <a:r>
              <a:rPr lang="en-US" sz="2100" dirty="0">
                <a:solidFill>
                  <a:schemeClr val="bg2"/>
                </a:solidFill>
                <a:latin typeface="Calibri" pitchFamily="34" charset="0"/>
                <a:cs typeface="Calibri" pitchFamily="34" charset="0"/>
              </a:rPr>
              <a:t>1.  Source Port-</a:t>
            </a:r>
          </a:p>
          <a:p>
            <a:pPr algn="just">
              <a:lnSpc>
                <a:spcPct val="150000"/>
              </a:lnSpc>
            </a:pPr>
            <a:r>
              <a:rPr lang="en-US" sz="2100" dirty="0">
                <a:latin typeface="Calibri" pitchFamily="34" charset="0"/>
                <a:cs typeface="Calibri" pitchFamily="34" charset="0"/>
              </a:rPr>
              <a:t>Source Port is a 16 bit field.</a:t>
            </a:r>
          </a:p>
          <a:p>
            <a:pPr algn="just">
              <a:lnSpc>
                <a:spcPct val="150000"/>
              </a:lnSpc>
            </a:pPr>
            <a:r>
              <a:rPr lang="en-US" sz="2100" dirty="0">
                <a:latin typeface="Calibri" pitchFamily="34" charset="0"/>
                <a:cs typeface="Calibri" pitchFamily="34" charset="0"/>
              </a:rPr>
              <a:t>It identifies the port of the sending application.</a:t>
            </a:r>
          </a:p>
          <a:p>
            <a:pPr algn="just">
              <a:lnSpc>
                <a:spcPct val="150000"/>
              </a:lnSpc>
              <a:buNone/>
            </a:pPr>
            <a:r>
              <a:rPr lang="en-US" sz="2100" dirty="0">
                <a:solidFill>
                  <a:schemeClr val="bg2"/>
                </a:solidFill>
                <a:latin typeface="Calibri" pitchFamily="34" charset="0"/>
                <a:cs typeface="Calibri" pitchFamily="34" charset="0"/>
              </a:rPr>
              <a:t>2. Destination Port-</a:t>
            </a:r>
          </a:p>
          <a:p>
            <a:pPr algn="just">
              <a:lnSpc>
                <a:spcPct val="150000"/>
              </a:lnSpc>
            </a:pPr>
            <a:r>
              <a:rPr lang="en-US" sz="2100" dirty="0">
                <a:latin typeface="Calibri" pitchFamily="34" charset="0"/>
                <a:cs typeface="Calibri" pitchFamily="34" charset="0"/>
              </a:rPr>
              <a:t> Destination Port is a 16 bit field.</a:t>
            </a:r>
          </a:p>
          <a:p>
            <a:pPr algn="just">
              <a:lnSpc>
                <a:spcPct val="150000"/>
              </a:lnSpc>
            </a:pPr>
            <a:r>
              <a:rPr lang="en-US" sz="2100" dirty="0">
                <a:latin typeface="Calibri" pitchFamily="34" charset="0"/>
                <a:cs typeface="Calibri" pitchFamily="34" charset="0"/>
              </a:rPr>
              <a:t>It identifies the port of the receiving application.</a:t>
            </a:r>
          </a:p>
          <a:p>
            <a:pPr algn="just">
              <a:lnSpc>
                <a:spcPct val="150000"/>
              </a:lnSpc>
              <a:buNone/>
            </a:pPr>
            <a:r>
              <a:rPr lang="en-US" sz="2100" dirty="0">
                <a:solidFill>
                  <a:srgbClr val="FF0000"/>
                </a:solidFill>
                <a:latin typeface="Calibri" pitchFamily="34" charset="0"/>
                <a:cs typeface="Calibri" pitchFamily="34" charset="0"/>
              </a:rPr>
              <a:t> </a:t>
            </a:r>
            <a:r>
              <a:rPr lang="en-US" sz="2100" u="sng" dirty="0">
                <a:solidFill>
                  <a:srgbClr val="FF0000"/>
                </a:solidFill>
                <a:latin typeface="Calibri" pitchFamily="34" charset="0"/>
                <a:cs typeface="Calibri" pitchFamily="34" charset="0"/>
              </a:rPr>
              <a:t>NOTE</a:t>
            </a:r>
            <a:endParaRPr lang="en-US" sz="2100" dirty="0">
              <a:solidFill>
                <a:srgbClr val="FF0000"/>
              </a:solidFill>
              <a:latin typeface="Calibri" pitchFamily="34" charset="0"/>
              <a:cs typeface="Calibri" pitchFamily="34" charset="0"/>
            </a:endParaRPr>
          </a:p>
          <a:p>
            <a:pPr algn="just">
              <a:lnSpc>
                <a:spcPct val="150000"/>
              </a:lnSpc>
            </a:pPr>
            <a:r>
              <a:rPr lang="en-US" sz="2100" dirty="0">
                <a:latin typeface="Calibri" pitchFamily="34" charset="0"/>
                <a:cs typeface="Calibri" pitchFamily="34" charset="0"/>
              </a:rPr>
              <a:t>It is important to note-</a:t>
            </a:r>
          </a:p>
          <a:p>
            <a:pPr algn="just">
              <a:lnSpc>
                <a:spcPct val="150000"/>
              </a:lnSpc>
            </a:pPr>
            <a:r>
              <a:rPr lang="en-US" sz="2100" dirty="0">
                <a:latin typeface="Calibri" pitchFamily="34" charset="0"/>
                <a:cs typeface="Calibri" pitchFamily="34" charset="0"/>
              </a:rPr>
              <a:t>A TCP connection is uniquely identified by using- Combination of port numbers and IP Addresses of sender and receiver</a:t>
            </a:r>
          </a:p>
          <a:p>
            <a:pPr algn="just">
              <a:lnSpc>
                <a:spcPct val="150000"/>
              </a:lnSpc>
            </a:pPr>
            <a:r>
              <a:rPr lang="en-US" sz="2100" dirty="0">
                <a:latin typeface="Calibri" pitchFamily="34" charset="0"/>
                <a:cs typeface="Calibri" pitchFamily="34" charset="0"/>
              </a:rPr>
              <a:t>IP Addresses indicate which systems are communicating.</a:t>
            </a:r>
          </a:p>
          <a:p>
            <a:pPr algn="just">
              <a:lnSpc>
                <a:spcPct val="150000"/>
              </a:lnSpc>
            </a:pPr>
            <a:r>
              <a:rPr lang="en-US" sz="2100" dirty="0">
                <a:latin typeface="Calibri" pitchFamily="34" charset="0"/>
                <a:cs typeface="Calibri" pitchFamily="34" charset="0"/>
              </a:rPr>
              <a:t>Port numbers indicate which end to end sockets are communicating.</a:t>
            </a:r>
          </a:p>
          <a:p>
            <a:pPr algn="just">
              <a:lnSpc>
                <a:spcPct val="150000"/>
              </a:lnSpc>
              <a:buNone/>
            </a:pPr>
            <a:endParaRPr lang="en-US" sz="2100" dirty="0">
              <a:latin typeface="Calibri" pitchFamily="34" charset="0"/>
              <a:cs typeface="Calibri" pitchFamily="34" charset="0"/>
            </a:endParaRP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4" name="Picture 3">
            <a:extLst>
              <a:ext uri="{FF2B5EF4-FFF2-40B4-BE49-F238E27FC236}">
                <a16:creationId xmlns:a16="http://schemas.microsoft.com/office/drawing/2014/main" id="{60C8F58E-8E6E-9EDF-B39D-EAFC4524FDAA}"/>
              </a:ext>
            </a:extLst>
          </p:cNvPr>
          <p:cNvPicPr>
            <a:picLocks noChangeAspect="1"/>
          </p:cNvPicPr>
          <p:nvPr/>
        </p:nvPicPr>
        <p:blipFill>
          <a:blip r:embed="rId2"/>
          <a:stretch>
            <a:fillRect/>
          </a:stretch>
        </p:blipFill>
        <p:spPr>
          <a:xfrm>
            <a:off x="7426651" y="1711959"/>
            <a:ext cx="3566469" cy="238679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132080" y="1028998"/>
            <a:ext cx="8229600" cy="6000792"/>
          </a:xfrm>
        </p:spPr>
        <p:txBody>
          <a:bodyPr/>
          <a:lstStyle/>
          <a:p>
            <a:pPr algn="just">
              <a:buNone/>
            </a:pPr>
            <a:r>
              <a:rPr lang="en-US" sz="1800" dirty="0">
                <a:solidFill>
                  <a:schemeClr val="bg2"/>
                </a:solidFill>
                <a:latin typeface="Calibri" pitchFamily="34" charset="0"/>
                <a:cs typeface="Calibri" pitchFamily="34" charset="0"/>
              </a:rPr>
              <a:t>3. Sequence Number-</a:t>
            </a:r>
          </a:p>
          <a:p>
            <a:pPr algn="just"/>
            <a:r>
              <a:rPr lang="en-US" sz="1800" dirty="0">
                <a:latin typeface="Calibri" pitchFamily="34" charset="0"/>
                <a:cs typeface="Calibri" pitchFamily="34" charset="0"/>
              </a:rPr>
              <a:t>Sequence number is a 32 bit field.</a:t>
            </a:r>
          </a:p>
          <a:p>
            <a:pPr algn="just"/>
            <a:r>
              <a:rPr lang="en-US" sz="1800" dirty="0">
                <a:latin typeface="Calibri" pitchFamily="34" charset="0"/>
                <a:cs typeface="Calibri" pitchFamily="34" charset="0"/>
              </a:rPr>
              <a:t>TCP assigns a unique sequence number to each byte of data contained in the TCP segment.</a:t>
            </a:r>
          </a:p>
          <a:p>
            <a:pPr algn="just"/>
            <a:r>
              <a:rPr lang="en-US" sz="1800" dirty="0">
                <a:latin typeface="Calibri" pitchFamily="34" charset="0"/>
                <a:cs typeface="Calibri" pitchFamily="34" charset="0"/>
              </a:rPr>
              <a:t>This field contains the sequence number of the first data byte.</a:t>
            </a:r>
          </a:p>
          <a:p>
            <a:pPr algn="just">
              <a:buNone/>
            </a:pPr>
            <a:endParaRPr lang="en-US" sz="1800" u="sng" dirty="0">
              <a:latin typeface="Calibri" pitchFamily="34" charset="0"/>
              <a:cs typeface="Calibri" pitchFamily="34" charset="0"/>
            </a:endParaRPr>
          </a:p>
          <a:p>
            <a:pPr algn="just">
              <a:buNone/>
            </a:pPr>
            <a:r>
              <a:rPr lang="en-US" sz="1800" dirty="0">
                <a:solidFill>
                  <a:schemeClr val="bg2"/>
                </a:solidFill>
                <a:latin typeface="Calibri" pitchFamily="34" charset="0"/>
                <a:cs typeface="Calibri" pitchFamily="34" charset="0"/>
              </a:rPr>
              <a:t>4. Acknowledgement Number-</a:t>
            </a:r>
          </a:p>
          <a:p>
            <a:pPr algn="just"/>
            <a:r>
              <a:rPr lang="en-US" sz="1800" dirty="0">
                <a:latin typeface="Calibri" pitchFamily="34" charset="0"/>
                <a:cs typeface="Calibri" pitchFamily="34" charset="0"/>
              </a:rPr>
              <a:t> Acknowledgment number is a 32 bit field.</a:t>
            </a:r>
          </a:p>
          <a:p>
            <a:pPr algn="just"/>
            <a:r>
              <a:rPr lang="en-US" sz="1800" dirty="0">
                <a:latin typeface="Calibri" pitchFamily="34" charset="0"/>
                <a:cs typeface="Calibri" pitchFamily="34" charset="0"/>
              </a:rPr>
              <a:t>It contains sequence number of the data byte that receiver expects to receive next from the sender.</a:t>
            </a:r>
          </a:p>
          <a:p>
            <a:pPr algn="just"/>
            <a:r>
              <a:rPr lang="en-US" sz="1800" dirty="0">
                <a:latin typeface="Calibri" pitchFamily="34" charset="0"/>
                <a:cs typeface="Calibri" pitchFamily="34" charset="0"/>
              </a:rPr>
              <a:t>It is always sequence number of the last received data byte incremented by 1.</a:t>
            </a:r>
          </a:p>
          <a:p>
            <a:pPr algn="just">
              <a:buNone/>
            </a:pPr>
            <a:endParaRPr lang="en-US" sz="1800" dirty="0">
              <a:latin typeface="Calibri" pitchFamily="34" charset="0"/>
              <a:cs typeface="Calibri" pitchFamily="34" charset="0"/>
            </a:endParaRPr>
          </a:p>
          <a:p>
            <a:pPr algn="just">
              <a:buNone/>
            </a:pPr>
            <a:r>
              <a:rPr lang="en-US" sz="1800" dirty="0">
                <a:solidFill>
                  <a:schemeClr val="bg2"/>
                </a:solidFill>
                <a:latin typeface="Calibri" pitchFamily="34" charset="0"/>
                <a:cs typeface="Calibri" pitchFamily="34" charset="0"/>
              </a:rPr>
              <a:t>5. Header Length-</a:t>
            </a:r>
          </a:p>
          <a:p>
            <a:pPr algn="just"/>
            <a:r>
              <a:rPr lang="en-US" sz="1800" dirty="0">
                <a:latin typeface="Calibri" pitchFamily="34" charset="0"/>
                <a:cs typeface="Calibri" pitchFamily="34" charset="0"/>
              </a:rPr>
              <a:t>Header length is a 4 bit field.</a:t>
            </a:r>
          </a:p>
          <a:p>
            <a:pPr algn="just"/>
            <a:r>
              <a:rPr lang="en-US" sz="1800" dirty="0">
                <a:latin typeface="Calibri" pitchFamily="34" charset="0"/>
                <a:cs typeface="Calibri" pitchFamily="34" charset="0"/>
              </a:rPr>
              <a:t>It contains the length of TCP header.</a:t>
            </a:r>
          </a:p>
          <a:p>
            <a:pPr algn="just"/>
            <a:r>
              <a:rPr lang="en-US" sz="1800" dirty="0">
                <a:latin typeface="Calibri" pitchFamily="34" charset="0"/>
                <a:cs typeface="Calibri" pitchFamily="34" charset="0"/>
              </a:rPr>
              <a:t>It helps in knowing from where the actual data begins.</a:t>
            </a:r>
          </a:p>
          <a:p>
            <a:pPr algn="just"/>
            <a:r>
              <a:rPr lang="en-US" sz="1800" dirty="0">
                <a:latin typeface="Calibri" pitchFamily="34" charset="0"/>
                <a:cs typeface="Calibri" pitchFamily="34" charset="0"/>
              </a:rPr>
              <a:t> </a:t>
            </a:r>
            <a:r>
              <a:rPr lang="en-US" sz="1800" u="sng" dirty="0">
                <a:latin typeface="Calibri" pitchFamily="34" charset="0"/>
                <a:cs typeface="Calibri" pitchFamily="34" charset="0"/>
              </a:rPr>
              <a:t>Minimum and Maximum Header length-</a:t>
            </a:r>
            <a:endParaRPr lang="en-US" sz="1800" dirty="0">
              <a:latin typeface="Calibri" pitchFamily="34" charset="0"/>
              <a:cs typeface="Calibri" pitchFamily="34" charset="0"/>
            </a:endParaRPr>
          </a:p>
          <a:p>
            <a:pPr algn="just"/>
            <a:r>
              <a:rPr lang="en-US" sz="1800" dirty="0">
                <a:latin typeface="Calibri" pitchFamily="34" charset="0"/>
                <a:cs typeface="Calibri" pitchFamily="34" charset="0"/>
              </a:rPr>
              <a:t> The length of TCP header always lies in the range- [20 bytes , 60 bytes]</a:t>
            </a: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4" name="Picture 3">
            <a:extLst>
              <a:ext uri="{FF2B5EF4-FFF2-40B4-BE49-F238E27FC236}">
                <a16:creationId xmlns:a16="http://schemas.microsoft.com/office/drawing/2014/main" id="{0DB27F5D-54C0-E92F-102B-A800A1C14668}"/>
              </a:ext>
            </a:extLst>
          </p:cNvPr>
          <p:cNvPicPr>
            <a:picLocks noChangeAspect="1"/>
          </p:cNvPicPr>
          <p:nvPr/>
        </p:nvPicPr>
        <p:blipFill>
          <a:blip r:embed="rId2"/>
          <a:stretch>
            <a:fillRect/>
          </a:stretch>
        </p:blipFill>
        <p:spPr>
          <a:xfrm>
            <a:off x="8398961" y="2125368"/>
            <a:ext cx="3566469" cy="238374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111760" y="1314408"/>
            <a:ext cx="12202160" cy="6000792"/>
          </a:xfrm>
        </p:spPr>
        <p:txBody>
          <a:bodyPr>
            <a:normAutofit/>
          </a:bodyPr>
          <a:lstStyle/>
          <a:p>
            <a:pPr algn="just"/>
            <a:r>
              <a:rPr lang="en-US" sz="1800" dirty="0">
                <a:latin typeface="Calibri" pitchFamily="34" charset="0"/>
                <a:cs typeface="Calibri" pitchFamily="34" charset="0"/>
              </a:rPr>
              <a:t>The initial 5 rows of the TCP header are always used.</a:t>
            </a:r>
          </a:p>
          <a:p>
            <a:pPr algn="just"/>
            <a:r>
              <a:rPr lang="en-US" sz="1800" dirty="0">
                <a:latin typeface="Calibri" pitchFamily="34" charset="0"/>
                <a:cs typeface="Calibri" pitchFamily="34" charset="0"/>
              </a:rPr>
              <a:t>So, minimum length of TCP header = 5 x 4 bytes = 20 bytes.</a:t>
            </a:r>
          </a:p>
          <a:p>
            <a:pPr algn="just"/>
            <a:r>
              <a:rPr lang="en-US" sz="1800" dirty="0">
                <a:latin typeface="Calibri" pitchFamily="34" charset="0"/>
                <a:cs typeface="Calibri" pitchFamily="34" charset="0"/>
              </a:rPr>
              <a:t>The size of the 6th row representing the Options field vary.</a:t>
            </a:r>
          </a:p>
          <a:p>
            <a:pPr algn="just"/>
            <a:r>
              <a:rPr lang="en-US" sz="1800" dirty="0">
                <a:latin typeface="Calibri" pitchFamily="34" charset="0"/>
                <a:cs typeface="Calibri" pitchFamily="34" charset="0"/>
              </a:rPr>
              <a:t>The size of Options field can go up to 40 bytes.</a:t>
            </a:r>
          </a:p>
          <a:p>
            <a:pPr algn="just"/>
            <a:r>
              <a:rPr lang="en-US" sz="1800" dirty="0">
                <a:latin typeface="Calibri" pitchFamily="34" charset="0"/>
                <a:cs typeface="Calibri" pitchFamily="34" charset="0"/>
              </a:rPr>
              <a:t>So, maximum length of TCP header = 20 bytes + 40 bytes = 60 bytes.</a:t>
            </a:r>
          </a:p>
          <a:p>
            <a:pPr algn="just">
              <a:buNone/>
            </a:pPr>
            <a:endParaRPr lang="en-US" sz="1800" dirty="0">
              <a:latin typeface="Calibri" pitchFamily="34" charset="0"/>
              <a:cs typeface="Calibri" pitchFamily="34" charset="0"/>
            </a:endParaRPr>
          </a:p>
          <a:p>
            <a:pPr algn="just"/>
            <a:r>
              <a:rPr lang="en-US" sz="2000" u="sng" dirty="0">
                <a:solidFill>
                  <a:schemeClr val="bg2"/>
                </a:solidFill>
                <a:latin typeface="Calibri" pitchFamily="34" charset="0"/>
                <a:cs typeface="Calibri" pitchFamily="34" charset="0"/>
              </a:rPr>
              <a:t>Concept of Scaling Factor-</a:t>
            </a:r>
            <a:endParaRPr lang="en-US" sz="2000" dirty="0">
              <a:solidFill>
                <a:schemeClr val="bg2"/>
              </a:solidFill>
              <a:latin typeface="Calibri" pitchFamily="34" charset="0"/>
              <a:cs typeface="Calibri" pitchFamily="34" charset="0"/>
            </a:endParaRPr>
          </a:p>
          <a:p>
            <a:pPr algn="just"/>
            <a:r>
              <a:rPr lang="en-US" sz="1800" dirty="0">
                <a:latin typeface="Calibri" pitchFamily="34" charset="0"/>
                <a:cs typeface="Calibri" pitchFamily="34" charset="0"/>
              </a:rPr>
              <a:t> Header length is a 4 bit field.</a:t>
            </a:r>
          </a:p>
          <a:p>
            <a:pPr algn="just"/>
            <a:r>
              <a:rPr lang="en-US" sz="1800" dirty="0">
                <a:latin typeface="Calibri" pitchFamily="34" charset="0"/>
                <a:cs typeface="Calibri" pitchFamily="34" charset="0"/>
              </a:rPr>
              <a:t>So, the range of decimal values that can be represented is [0, 15].</a:t>
            </a:r>
          </a:p>
          <a:p>
            <a:pPr algn="just"/>
            <a:r>
              <a:rPr lang="en-US" sz="1800" dirty="0">
                <a:latin typeface="Calibri" pitchFamily="34" charset="0"/>
                <a:cs typeface="Calibri" pitchFamily="34" charset="0"/>
              </a:rPr>
              <a:t>But the range of header length is [20, 60].</a:t>
            </a:r>
          </a:p>
          <a:p>
            <a:pPr algn="just"/>
            <a:r>
              <a:rPr lang="en-US" sz="1800" dirty="0">
                <a:latin typeface="Calibri" pitchFamily="34" charset="0"/>
                <a:cs typeface="Calibri" pitchFamily="34" charset="0"/>
              </a:rPr>
              <a:t>So, to represent the header length, we use a scaling factor of 4.</a:t>
            </a:r>
          </a:p>
          <a:p>
            <a:pPr algn="just"/>
            <a:r>
              <a:rPr lang="en-US" sz="1800" dirty="0">
                <a:latin typeface="Calibri" pitchFamily="34" charset="0"/>
                <a:cs typeface="Calibri" pitchFamily="34" charset="0"/>
              </a:rPr>
              <a:t> In general, Header length = Header length field value x 4 bytes</a:t>
            </a:r>
          </a:p>
          <a:p>
            <a:r>
              <a:rPr lang="en-US" sz="1600" u="sng" dirty="0">
                <a:latin typeface="Calibri" pitchFamily="34" charset="0"/>
                <a:cs typeface="Calibri" pitchFamily="34" charset="0"/>
              </a:rPr>
              <a:t>Examples-</a:t>
            </a:r>
            <a:endParaRPr lang="en-US" sz="1600" dirty="0">
              <a:latin typeface="Calibri" pitchFamily="34" charset="0"/>
              <a:cs typeface="Calibri" pitchFamily="34" charset="0"/>
            </a:endParaRPr>
          </a:p>
          <a:p>
            <a:r>
              <a:rPr lang="en-US" sz="1600" dirty="0">
                <a:latin typeface="Calibri" pitchFamily="34" charset="0"/>
                <a:cs typeface="Calibri" pitchFamily="34" charset="0"/>
              </a:rPr>
              <a:t> If header length field contains decimal value 5 (represented as 0101), then-  Header length = 5 x 4 = 20 bytes</a:t>
            </a:r>
          </a:p>
          <a:p>
            <a:r>
              <a:rPr lang="en-US" sz="1600" dirty="0">
                <a:latin typeface="Calibri" pitchFamily="34" charset="0"/>
                <a:cs typeface="Calibri" pitchFamily="34" charset="0"/>
              </a:rPr>
              <a:t>If header length field contains decimal value 10 (represented as 1010), then-     Header length = 10 x 4 = 40 bytes</a:t>
            </a:r>
          </a:p>
          <a:p>
            <a:r>
              <a:rPr lang="en-US" sz="1600" dirty="0">
                <a:latin typeface="Calibri" pitchFamily="34" charset="0"/>
                <a:cs typeface="Calibri" pitchFamily="34" charset="0"/>
              </a:rPr>
              <a:t>If header length field contains decimal value 15 (represented as 1111), then-  Header length = 15 x 4 = 60 bytes</a:t>
            </a: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2" name="Picture 1">
            <a:extLst>
              <a:ext uri="{FF2B5EF4-FFF2-40B4-BE49-F238E27FC236}">
                <a16:creationId xmlns:a16="http://schemas.microsoft.com/office/drawing/2014/main" id="{AAE5F0ED-9FB7-59C3-9EEF-220F11FA8D5B}"/>
              </a:ext>
            </a:extLst>
          </p:cNvPr>
          <p:cNvPicPr>
            <a:picLocks noChangeAspect="1"/>
          </p:cNvPicPr>
          <p:nvPr/>
        </p:nvPicPr>
        <p:blipFill>
          <a:blip r:embed="rId2"/>
          <a:stretch>
            <a:fillRect/>
          </a:stretch>
        </p:blipFill>
        <p:spPr>
          <a:xfrm>
            <a:off x="8398961" y="2463799"/>
            <a:ext cx="3566469" cy="238679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0" y="1191558"/>
            <a:ext cx="8229600" cy="6000792"/>
          </a:xfrm>
        </p:spPr>
        <p:txBody>
          <a:bodyPr>
            <a:normAutofit/>
          </a:bodyPr>
          <a:lstStyle/>
          <a:p>
            <a:pPr algn="just">
              <a:lnSpc>
                <a:spcPct val="150000"/>
              </a:lnSpc>
              <a:buNone/>
            </a:pPr>
            <a:r>
              <a:rPr lang="en-US" sz="1800" dirty="0">
                <a:solidFill>
                  <a:schemeClr val="bg2"/>
                </a:solidFill>
                <a:latin typeface="Calibri" pitchFamily="34" charset="0"/>
                <a:cs typeface="Calibri" pitchFamily="34" charset="0"/>
              </a:rPr>
              <a:t>6.    Reserved Bits-</a:t>
            </a:r>
          </a:p>
          <a:p>
            <a:pPr algn="just">
              <a:lnSpc>
                <a:spcPct val="150000"/>
              </a:lnSpc>
            </a:pPr>
            <a:r>
              <a:rPr lang="en-US" sz="1800" dirty="0">
                <a:latin typeface="Calibri" pitchFamily="34" charset="0"/>
                <a:cs typeface="Calibri" pitchFamily="34" charset="0"/>
              </a:rPr>
              <a:t> The 6 bits are reserved.</a:t>
            </a:r>
          </a:p>
          <a:p>
            <a:pPr algn="just">
              <a:lnSpc>
                <a:spcPct val="150000"/>
              </a:lnSpc>
            </a:pPr>
            <a:r>
              <a:rPr lang="en-US" sz="1800" dirty="0">
                <a:latin typeface="Calibri" pitchFamily="34" charset="0"/>
                <a:cs typeface="Calibri" pitchFamily="34" charset="0"/>
              </a:rPr>
              <a:t>These bits are not used.</a:t>
            </a:r>
          </a:p>
          <a:p>
            <a:pPr algn="just">
              <a:lnSpc>
                <a:spcPct val="150000"/>
              </a:lnSpc>
              <a:buNone/>
            </a:pPr>
            <a:r>
              <a:rPr lang="en-US" sz="1800" dirty="0">
                <a:latin typeface="Calibri" pitchFamily="34" charset="0"/>
                <a:cs typeface="Calibri" pitchFamily="34" charset="0"/>
              </a:rPr>
              <a:t> </a:t>
            </a:r>
            <a:r>
              <a:rPr lang="en-US" sz="1800" dirty="0">
                <a:solidFill>
                  <a:schemeClr val="bg2"/>
                </a:solidFill>
                <a:latin typeface="Calibri" pitchFamily="34" charset="0"/>
                <a:cs typeface="Calibri" pitchFamily="34" charset="0"/>
              </a:rPr>
              <a:t>7. </a:t>
            </a:r>
            <a:r>
              <a:rPr lang="en-US" sz="1800" dirty="0">
                <a:solidFill>
                  <a:schemeClr val="bg2"/>
                </a:solidFill>
              </a:rPr>
              <a:t>Control Field- </a:t>
            </a:r>
            <a:r>
              <a:rPr lang="en-US" sz="1800" dirty="0"/>
              <a:t>This field defines 6 different control bits or flags as shown in Figure 4.2.2. One or more of these bits can be set at a time.</a:t>
            </a:r>
          </a:p>
          <a:p>
            <a:pPr algn="just">
              <a:lnSpc>
                <a:spcPct val="150000"/>
              </a:lnSpc>
              <a:buNone/>
            </a:pPr>
            <a:r>
              <a:rPr lang="en-US" sz="1800" dirty="0"/>
              <a:t>Control field : URG: Urgent pointer is valid.</a:t>
            </a:r>
          </a:p>
          <a:p>
            <a:pPr algn="just">
              <a:lnSpc>
                <a:spcPct val="150000"/>
              </a:lnSpc>
              <a:buNone/>
            </a:pPr>
            <a:r>
              <a:rPr lang="en-US" sz="1800" dirty="0"/>
              <a:t>		         ACK: Acknowledgment is valid. 	 PSH: Request for push.</a:t>
            </a:r>
          </a:p>
          <a:p>
            <a:pPr algn="just">
              <a:lnSpc>
                <a:spcPct val="150000"/>
              </a:lnSpc>
              <a:buNone/>
            </a:pPr>
            <a:r>
              <a:rPr lang="en-US" sz="1800" dirty="0"/>
              <a:t>		         RST: Reset the connection.              SYN: Synchronize sequence numbers 	         FIN: Terminate the connection.</a:t>
            </a:r>
          </a:p>
          <a:p>
            <a:pPr algn="ctr">
              <a:lnSpc>
                <a:spcPct val="150000"/>
              </a:lnSpc>
              <a:buNone/>
            </a:pPr>
            <a:r>
              <a:rPr lang="en-US" sz="1800" dirty="0"/>
              <a:t>		Figure 4.2.2 Flags in TCP Header	</a:t>
            </a: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475995901"/>
              </p:ext>
            </p:extLst>
          </p:nvPr>
        </p:nvGraphicFramePr>
        <p:xfrm>
          <a:off x="1066800" y="5988865"/>
          <a:ext cx="6096000" cy="37084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pPr algn="ctr"/>
                      <a:r>
                        <a:rPr lang="en-US" sz="1600" b="1" dirty="0"/>
                        <a:t>URG</a:t>
                      </a:r>
                    </a:p>
                  </a:txBody>
                  <a:tcPr/>
                </a:tc>
                <a:tc>
                  <a:txBody>
                    <a:bodyPr/>
                    <a:lstStyle/>
                    <a:p>
                      <a:pPr algn="ctr"/>
                      <a:r>
                        <a:rPr lang="en-US" sz="1600" b="1" dirty="0"/>
                        <a:t>ACK</a:t>
                      </a:r>
                    </a:p>
                  </a:txBody>
                  <a:tcPr/>
                </a:tc>
                <a:tc>
                  <a:txBody>
                    <a:bodyPr/>
                    <a:lstStyle/>
                    <a:p>
                      <a:pPr algn="ctr"/>
                      <a:r>
                        <a:rPr lang="en-US" sz="1600" b="1" dirty="0"/>
                        <a:t>PSH</a:t>
                      </a:r>
                    </a:p>
                  </a:txBody>
                  <a:tcPr/>
                </a:tc>
                <a:tc>
                  <a:txBody>
                    <a:bodyPr/>
                    <a:lstStyle/>
                    <a:p>
                      <a:pPr algn="ctr"/>
                      <a:r>
                        <a:rPr lang="en-US" sz="1600" b="1" dirty="0"/>
                        <a:t>RST</a:t>
                      </a:r>
                    </a:p>
                  </a:txBody>
                  <a:tcPr/>
                </a:tc>
                <a:tc>
                  <a:txBody>
                    <a:bodyPr/>
                    <a:lstStyle/>
                    <a:p>
                      <a:pPr algn="ctr"/>
                      <a:r>
                        <a:rPr lang="en-US" sz="1600" b="1" dirty="0"/>
                        <a:t>SYN</a:t>
                      </a:r>
                    </a:p>
                  </a:txBody>
                  <a:tcPr/>
                </a:tc>
                <a:tc>
                  <a:txBody>
                    <a:bodyPr/>
                    <a:lstStyle/>
                    <a:p>
                      <a:pPr algn="ctr"/>
                      <a:r>
                        <a:rPr lang="en-US" sz="1600" b="1" dirty="0"/>
                        <a:t>FIN</a:t>
                      </a:r>
                    </a:p>
                  </a:txBody>
                  <a:tcPr/>
                </a:tc>
                <a:extLst>
                  <a:ext uri="{0D108BD9-81ED-4DB2-BD59-A6C34878D82A}">
                    <a16:rowId xmlns:a16="http://schemas.microsoft.com/office/drawing/2014/main" val="10000"/>
                  </a:ext>
                </a:extLst>
              </a:tr>
            </a:tbl>
          </a:graphicData>
        </a:graphic>
      </p:graphicFrame>
      <p:pic>
        <p:nvPicPr>
          <p:cNvPr id="2" name="Picture 1">
            <a:extLst>
              <a:ext uri="{FF2B5EF4-FFF2-40B4-BE49-F238E27FC236}">
                <a16:creationId xmlns:a16="http://schemas.microsoft.com/office/drawing/2014/main" id="{DE98C8B7-597A-FABA-EFB8-88EF0C2B2432}"/>
              </a:ext>
            </a:extLst>
          </p:cNvPr>
          <p:cNvPicPr>
            <a:picLocks noChangeAspect="1"/>
          </p:cNvPicPr>
          <p:nvPr/>
        </p:nvPicPr>
        <p:blipFill>
          <a:blip r:embed="rId2"/>
          <a:stretch>
            <a:fillRect/>
          </a:stretch>
        </p:blipFill>
        <p:spPr>
          <a:xfrm>
            <a:off x="8311668" y="2255521"/>
            <a:ext cx="3741056" cy="250363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1981200" y="642918"/>
            <a:ext cx="8229600" cy="6000792"/>
          </a:xfrm>
        </p:spPr>
        <p:txBody>
          <a:bodyPr>
            <a:normAutofit/>
          </a:bodyPr>
          <a:lstStyle/>
          <a:p>
            <a:br>
              <a:rPr lang="en-US" sz="1800" dirty="0"/>
            </a:br>
            <a:endParaRPr lang="en-US" sz="1800" dirty="0">
              <a:latin typeface="Calibri" pitchFamily="34" charset="0"/>
              <a:cs typeface="Calibri" pitchFamily="34" charset="0"/>
            </a:endParaRP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754178346"/>
              </p:ext>
            </p:extLst>
          </p:nvPr>
        </p:nvGraphicFramePr>
        <p:xfrm>
          <a:off x="1047390" y="1569245"/>
          <a:ext cx="6400800" cy="3719510"/>
        </p:xfrm>
        <a:graphic>
          <a:graphicData uri="http://schemas.openxmlformats.org/drawingml/2006/table">
            <a:tbl>
              <a:tblPr firstRow="1" bandRow="1"/>
              <a:tblGrid>
                <a:gridCol w="1963949">
                  <a:extLst>
                    <a:ext uri="{9D8B030D-6E8A-4147-A177-3AD203B41FA5}">
                      <a16:colId xmlns:a16="http://schemas.microsoft.com/office/drawing/2014/main" val="20000"/>
                    </a:ext>
                  </a:extLst>
                </a:gridCol>
                <a:gridCol w="4436851">
                  <a:extLst>
                    <a:ext uri="{9D8B030D-6E8A-4147-A177-3AD203B41FA5}">
                      <a16:colId xmlns:a16="http://schemas.microsoft.com/office/drawing/2014/main" val="20001"/>
                    </a:ext>
                  </a:extLst>
                </a:gridCol>
              </a:tblGrid>
              <a:tr h="437515">
                <a:tc>
                  <a:txBody>
                    <a:bodyPr/>
                    <a:lstStyle/>
                    <a:p>
                      <a:pPr algn="ctr"/>
                      <a:r>
                        <a:rPr lang="en-US" sz="2000" b="1" dirty="0"/>
                        <a:t>Flag</a:t>
                      </a:r>
                    </a:p>
                  </a:txBody>
                  <a:tcPr/>
                </a:tc>
                <a:tc>
                  <a:txBody>
                    <a:bodyPr/>
                    <a:lstStyle/>
                    <a:p>
                      <a:pPr algn="l"/>
                      <a:r>
                        <a:rPr lang="en-US" sz="2000" b="1" dirty="0"/>
                        <a:t>Description</a:t>
                      </a:r>
                    </a:p>
                  </a:txBody>
                  <a:tcPr/>
                </a:tc>
                <a:extLst>
                  <a:ext uri="{0D108BD9-81ED-4DB2-BD59-A6C34878D82A}">
                    <a16:rowId xmlns:a16="http://schemas.microsoft.com/office/drawing/2014/main" val="10000"/>
                  </a:ext>
                </a:extLst>
              </a:tr>
              <a:tr h="409469">
                <a:tc>
                  <a:txBody>
                    <a:bodyPr/>
                    <a:lstStyle/>
                    <a:p>
                      <a:pPr algn="ctr"/>
                      <a:r>
                        <a:rPr lang="en-US" sz="1800" dirty="0"/>
                        <a:t>URG</a:t>
                      </a:r>
                    </a:p>
                  </a:txBody>
                  <a:tcPr/>
                </a:tc>
                <a:tc>
                  <a:txBody>
                    <a:bodyPr/>
                    <a:lstStyle/>
                    <a:p>
                      <a:pPr algn="l"/>
                      <a:r>
                        <a:rPr lang="en-US" sz="1800" dirty="0"/>
                        <a:t>The value of the urgent pointer field is valid. </a:t>
                      </a:r>
                    </a:p>
                  </a:txBody>
                  <a:tcPr/>
                </a:tc>
                <a:extLst>
                  <a:ext uri="{0D108BD9-81ED-4DB2-BD59-A6C34878D82A}">
                    <a16:rowId xmlns:a16="http://schemas.microsoft.com/office/drawing/2014/main" val="10001"/>
                  </a:ext>
                </a:extLst>
              </a:tr>
              <a:tr h="706754">
                <a:tc>
                  <a:txBody>
                    <a:bodyPr/>
                    <a:lstStyle/>
                    <a:p>
                      <a:pPr algn="ctr"/>
                      <a:r>
                        <a:rPr lang="en-US" sz="1800" dirty="0"/>
                        <a:t>ACK</a:t>
                      </a:r>
                    </a:p>
                  </a:txBody>
                  <a:tcPr/>
                </a:tc>
                <a:tc>
                  <a:txBody>
                    <a:bodyPr/>
                    <a:lstStyle/>
                    <a:p>
                      <a:pPr algn="l"/>
                      <a:r>
                        <a:rPr lang="en-US" sz="1800" dirty="0"/>
                        <a:t>The value of the acknowledgment field is valid</a:t>
                      </a:r>
                    </a:p>
                  </a:txBody>
                  <a:tcPr/>
                </a:tc>
                <a:extLst>
                  <a:ext uri="{0D108BD9-81ED-4DB2-BD59-A6C34878D82A}">
                    <a16:rowId xmlns:a16="http://schemas.microsoft.com/office/drawing/2014/main" val="10002"/>
                  </a:ext>
                </a:extLst>
              </a:tr>
              <a:tr h="409469">
                <a:tc>
                  <a:txBody>
                    <a:bodyPr/>
                    <a:lstStyle/>
                    <a:p>
                      <a:pPr algn="ctr"/>
                      <a:r>
                        <a:rPr lang="en-US" sz="1800" dirty="0"/>
                        <a:t>PSH</a:t>
                      </a:r>
                    </a:p>
                  </a:txBody>
                  <a:tcPr/>
                </a:tc>
                <a:tc>
                  <a:txBody>
                    <a:bodyPr/>
                    <a:lstStyle/>
                    <a:p>
                      <a:pPr algn="l"/>
                      <a:r>
                        <a:rPr lang="en-US" sz="1800" dirty="0"/>
                        <a:t>Push the data. </a:t>
                      </a:r>
                    </a:p>
                  </a:txBody>
                  <a:tcPr/>
                </a:tc>
                <a:extLst>
                  <a:ext uri="{0D108BD9-81ED-4DB2-BD59-A6C34878D82A}">
                    <a16:rowId xmlns:a16="http://schemas.microsoft.com/office/drawing/2014/main" val="10003"/>
                  </a:ext>
                </a:extLst>
              </a:tr>
              <a:tr h="409469">
                <a:tc>
                  <a:txBody>
                    <a:bodyPr/>
                    <a:lstStyle/>
                    <a:p>
                      <a:pPr algn="ctr"/>
                      <a:r>
                        <a:rPr lang="en-US" sz="1800" dirty="0"/>
                        <a:t>RST</a:t>
                      </a:r>
                    </a:p>
                  </a:txBody>
                  <a:tcPr/>
                </a:tc>
                <a:tc>
                  <a:txBody>
                    <a:bodyPr/>
                    <a:lstStyle/>
                    <a:p>
                      <a:pPr algn="l"/>
                      <a:r>
                        <a:rPr lang="en-US" sz="1800" dirty="0"/>
                        <a:t>Reset the connection</a:t>
                      </a:r>
                    </a:p>
                  </a:txBody>
                  <a:tcPr/>
                </a:tc>
                <a:extLst>
                  <a:ext uri="{0D108BD9-81ED-4DB2-BD59-A6C34878D82A}">
                    <a16:rowId xmlns:a16="http://schemas.microsoft.com/office/drawing/2014/main" val="10004"/>
                  </a:ext>
                </a:extLst>
              </a:tr>
              <a:tr h="706754">
                <a:tc>
                  <a:txBody>
                    <a:bodyPr/>
                    <a:lstStyle/>
                    <a:p>
                      <a:pPr algn="ctr"/>
                      <a:r>
                        <a:rPr lang="en-US" sz="1800" dirty="0"/>
                        <a:t>SYN</a:t>
                      </a:r>
                    </a:p>
                  </a:txBody>
                  <a:tcPr/>
                </a:tc>
                <a:tc>
                  <a:txBody>
                    <a:bodyPr/>
                    <a:lstStyle/>
                    <a:p>
                      <a:pPr algn="l"/>
                      <a:r>
                        <a:rPr lang="en-US" sz="1800" dirty="0"/>
                        <a:t>Synchronize sequence numbers during connection. </a:t>
                      </a:r>
                    </a:p>
                  </a:txBody>
                  <a:tcPr/>
                </a:tc>
                <a:extLst>
                  <a:ext uri="{0D108BD9-81ED-4DB2-BD59-A6C34878D82A}">
                    <a16:rowId xmlns:a16="http://schemas.microsoft.com/office/drawing/2014/main" val="10005"/>
                  </a:ext>
                </a:extLst>
              </a:tr>
              <a:tr h="409469">
                <a:tc>
                  <a:txBody>
                    <a:bodyPr/>
                    <a:lstStyle/>
                    <a:p>
                      <a:pPr algn="ctr"/>
                      <a:r>
                        <a:rPr lang="en-US" sz="1800" dirty="0"/>
                        <a:t>FIN</a:t>
                      </a:r>
                    </a:p>
                  </a:txBody>
                  <a:tcPr/>
                </a:tc>
                <a:tc>
                  <a:txBody>
                    <a:bodyPr/>
                    <a:lstStyle/>
                    <a:p>
                      <a:pPr algn="l"/>
                      <a:r>
                        <a:rPr lang="en-US" sz="1800" dirty="0"/>
                        <a:t>Terminate the connection</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111760" y="721816"/>
            <a:ext cx="8229600" cy="6619163"/>
          </a:xfrm>
        </p:spPr>
        <p:txBody>
          <a:bodyPr>
            <a:normAutofit lnSpcReduction="10000"/>
          </a:bodyPr>
          <a:lstStyle/>
          <a:p>
            <a:pPr algn="just">
              <a:lnSpc>
                <a:spcPct val="150000"/>
              </a:lnSpc>
              <a:buNone/>
            </a:pPr>
            <a:r>
              <a:rPr lang="en-US" sz="1800" dirty="0">
                <a:solidFill>
                  <a:schemeClr val="bg2"/>
                </a:solidFill>
                <a:latin typeface="Calibri" pitchFamily="34" charset="0"/>
                <a:cs typeface="Calibri" pitchFamily="34" charset="0"/>
              </a:rPr>
              <a:t>8. Window Size-</a:t>
            </a:r>
          </a:p>
          <a:p>
            <a:pPr algn="just">
              <a:lnSpc>
                <a:spcPct val="150000"/>
              </a:lnSpc>
            </a:pPr>
            <a:r>
              <a:rPr lang="en-US" sz="1800" dirty="0">
                <a:latin typeface="Calibri" pitchFamily="34" charset="0"/>
                <a:cs typeface="Calibri" pitchFamily="34" charset="0"/>
              </a:rPr>
              <a:t> Window size is a 16 bit field.</a:t>
            </a:r>
          </a:p>
          <a:p>
            <a:pPr algn="just">
              <a:lnSpc>
                <a:spcPct val="150000"/>
              </a:lnSpc>
            </a:pPr>
            <a:r>
              <a:rPr lang="en-US" sz="1800" dirty="0">
                <a:latin typeface="Calibri" pitchFamily="34" charset="0"/>
                <a:cs typeface="Calibri" pitchFamily="34" charset="0"/>
              </a:rPr>
              <a:t>It contains the size of the receiving window of the sender.</a:t>
            </a:r>
          </a:p>
          <a:p>
            <a:pPr algn="just">
              <a:lnSpc>
                <a:spcPct val="150000"/>
              </a:lnSpc>
            </a:pPr>
            <a:r>
              <a:rPr lang="en-US" sz="1800" dirty="0">
                <a:latin typeface="Calibri" pitchFamily="34" charset="0"/>
                <a:cs typeface="Calibri" pitchFamily="34" charset="0"/>
              </a:rPr>
              <a:t>It advertises how much data (in bytes) the sender can receive without acknowledgement.</a:t>
            </a:r>
          </a:p>
          <a:p>
            <a:pPr algn="just">
              <a:lnSpc>
                <a:spcPct val="150000"/>
              </a:lnSpc>
            </a:pPr>
            <a:r>
              <a:rPr lang="en-US" sz="1800" dirty="0">
                <a:latin typeface="Calibri" pitchFamily="34" charset="0"/>
                <a:cs typeface="Calibri" pitchFamily="34" charset="0"/>
              </a:rPr>
              <a:t>Thus, window size is used for Flow Control.</a:t>
            </a:r>
          </a:p>
          <a:p>
            <a:pPr algn="just">
              <a:lnSpc>
                <a:spcPct val="150000"/>
              </a:lnSpc>
              <a:buNone/>
            </a:pPr>
            <a:r>
              <a:rPr lang="en-US" sz="1800" u="sng" dirty="0">
                <a:solidFill>
                  <a:srgbClr val="FF0000"/>
                </a:solidFill>
                <a:latin typeface="Calibri" pitchFamily="34" charset="0"/>
                <a:cs typeface="Calibri" pitchFamily="34" charset="0"/>
              </a:rPr>
              <a:t>NOTE</a:t>
            </a:r>
            <a:endParaRPr lang="en-US" sz="1800" dirty="0">
              <a:solidFill>
                <a:srgbClr val="FF0000"/>
              </a:solidFill>
              <a:latin typeface="Calibri" pitchFamily="34" charset="0"/>
              <a:cs typeface="Calibri" pitchFamily="34" charset="0"/>
            </a:endParaRPr>
          </a:p>
          <a:p>
            <a:pPr algn="just">
              <a:lnSpc>
                <a:spcPct val="150000"/>
              </a:lnSpc>
            </a:pPr>
            <a:r>
              <a:rPr lang="en-US" sz="1800" dirty="0">
                <a:latin typeface="Calibri" pitchFamily="34" charset="0"/>
                <a:cs typeface="Calibri" pitchFamily="34" charset="0"/>
              </a:rPr>
              <a:t>It is important to note-</a:t>
            </a:r>
          </a:p>
          <a:p>
            <a:pPr algn="just">
              <a:lnSpc>
                <a:spcPct val="150000"/>
              </a:lnSpc>
            </a:pPr>
            <a:r>
              <a:rPr lang="en-US" sz="1800" dirty="0">
                <a:latin typeface="Calibri" pitchFamily="34" charset="0"/>
                <a:cs typeface="Calibri" pitchFamily="34" charset="0"/>
              </a:rPr>
              <a:t>The window size changes dynamically during data transmission.</a:t>
            </a:r>
          </a:p>
          <a:p>
            <a:pPr algn="just">
              <a:lnSpc>
                <a:spcPct val="150000"/>
              </a:lnSpc>
            </a:pPr>
            <a:r>
              <a:rPr lang="en-US" sz="1800" dirty="0">
                <a:latin typeface="Calibri" pitchFamily="34" charset="0"/>
                <a:cs typeface="Calibri" pitchFamily="34" charset="0"/>
              </a:rPr>
              <a:t>It usually increases during TCP transmission up to a point where congestion is detected.</a:t>
            </a:r>
          </a:p>
          <a:p>
            <a:pPr algn="just">
              <a:lnSpc>
                <a:spcPct val="150000"/>
              </a:lnSpc>
            </a:pPr>
            <a:r>
              <a:rPr lang="en-US" sz="1800" dirty="0">
                <a:latin typeface="Calibri" pitchFamily="34" charset="0"/>
                <a:cs typeface="Calibri" pitchFamily="34" charset="0"/>
              </a:rPr>
              <a:t>After congestion is detected, the window size is reduced to avoid having to drop packets.</a:t>
            </a:r>
          </a:p>
          <a:p>
            <a:pPr algn="just"/>
            <a:endParaRPr lang="en-US" sz="1800" dirty="0">
              <a:latin typeface="Calibri" pitchFamily="34" charset="0"/>
              <a:cs typeface="Calibri" pitchFamily="34" charset="0"/>
            </a:endParaRPr>
          </a:p>
          <a:p>
            <a:pPr>
              <a:buNone/>
            </a:pPr>
            <a:br>
              <a:rPr lang="en-US" sz="1800" dirty="0"/>
            </a:br>
            <a:endParaRPr lang="en-US" sz="1800" dirty="0">
              <a:latin typeface="Calibri" pitchFamily="34" charset="0"/>
              <a:cs typeface="Calibri" pitchFamily="34" charset="0"/>
            </a:endParaRP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2" name="Picture 1">
            <a:extLst>
              <a:ext uri="{FF2B5EF4-FFF2-40B4-BE49-F238E27FC236}">
                <a16:creationId xmlns:a16="http://schemas.microsoft.com/office/drawing/2014/main" id="{6F1F02CD-A05E-4AA2-9FA4-851C5EC4250D}"/>
              </a:ext>
            </a:extLst>
          </p:cNvPr>
          <p:cNvPicPr>
            <a:picLocks noChangeAspect="1"/>
          </p:cNvPicPr>
          <p:nvPr/>
        </p:nvPicPr>
        <p:blipFill>
          <a:blip r:embed="rId2"/>
          <a:stretch>
            <a:fillRect/>
          </a:stretch>
        </p:blipFill>
        <p:spPr>
          <a:xfrm>
            <a:off x="8398961" y="2443479"/>
            <a:ext cx="3566469" cy="238679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71120" y="857208"/>
            <a:ext cx="8229600" cy="6000792"/>
          </a:xfrm>
        </p:spPr>
        <p:txBody>
          <a:bodyPr>
            <a:normAutofit fontScale="92500" lnSpcReduction="20000"/>
          </a:bodyPr>
          <a:lstStyle/>
          <a:p>
            <a:pPr algn="just">
              <a:lnSpc>
                <a:spcPct val="150000"/>
              </a:lnSpc>
              <a:buNone/>
            </a:pPr>
            <a:r>
              <a:rPr lang="en-US" sz="1900" dirty="0">
                <a:solidFill>
                  <a:schemeClr val="bg2"/>
                </a:solidFill>
                <a:latin typeface="Calibri" pitchFamily="34" charset="0"/>
                <a:cs typeface="Calibri" pitchFamily="34" charset="0"/>
              </a:rPr>
              <a:t>9.  Checksum-</a:t>
            </a:r>
          </a:p>
          <a:p>
            <a:pPr algn="just">
              <a:lnSpc>
                <a:spcPct val="150000"/>
              </a:lnSpc>
            </a:pPr>
            <a:r>
              <a:rPr lang="en-US" sz="1900" dirty="0">
                <a:latin typeface="Calibri" pitchFamily="34" charset="0"/>
                <a:cs typeface="Calibri" pitchFamily="34" charset="0"/>
              </a:rPr>
              <a:t>Checksum is a 16 bit field used for error control.</a:t>
            </a:r>
          </a:p>
          <a:p>
            <a:pPr algn="just">
              <a:lnSpc>
                <a:spcPct val="150000"/>
              </a:lnSpc>
            </a:pPr>
            <a:r>
              <a:rPr lang="en-US" sz="1900" dirty="0">
                <a:latin typeface="Calibri" pitchFamily="34" charset="0"/>
                <a:cs typeface="Calibri" pitchFamily="34" charset="0"/>
              </a:rPr>
              <a:t>It verifies the integrity of data in the TCP payload.</a:t>
            </a:r>
          </a:p>
          <a:p>
            <a:pPr algn="just">
              <a:lnSpc>
                <a:spcPct val="150000"/>
              </a:lnSpc>
            </a:pPr>
            <a:r>
              <a:rPr lang="en-US" sz="1900" dirty="0">
                <a:latin typeface="Calibri" pitchFamily="34" charset="0"/>
                <a:cs typeface="Calibri" pitchFamily="34" charset="0"/>
              </a:rPr>
              <a:t>Sender adds CRC checksum to the checksum field before sending the data.</a:t>
            </a:r>
          </a:p>
          <a:p>
            <a:pPr algn="just">
              <a:lnSpc>
                <a:spcPct val="150000"/>
              </a:lnSpc>
            </a:pPr>
            <a:r>
              <a:rPr lang="en-US" sz="1900" dirty="0">
                <a:latin typeface="Calibri" pitchFamily="34" charset="0"/>
                <a:cs typeface="Calibri" pitchFamily="34" charset="0"/>
              </a:rPr>
              <a:t>Receiver rejects the data that fails the CRC check.</a:t>
            </a:r>
          </a:p>
          <a:p>
            <a:pPr algn="just">
              <a:lnSpc>
                <a:spcPct val="150000"/>
              </a:lnSpc>
              <a:buNone/>
            </a:pPr>
            <a:r>
              <a:rPr lang="en-US" sz="1900" dirty="0">
                <a:solidFill>
                  <a:schemeClr val="bg2"/>
                </a:solidFill>
                <a:latin typeface="Calibri" pitchFamily="34" charset="0"/>
                <a:cs typeface="Calibri" pitchFamily="34" charset="0"/>
              </a:rPr>
              <a:t>10. Urgent Pointer-</a:t>
            </a:r>
          </a:p>
          <a:p>
            <a:pPr algn="just">
              <a:lnSpc>
                <a:spcPct val="150000"/>
              </a:lnSpc>
            </a:pPr>
            <a:r>
              <a:rPr lang="en-US" sz="1900" dirty="0">
                <a:latin typeface="Calibri" pitchFamily="34" charset="0"/>
                <a:cs typeface="Calibri" pitchFamily="34" charset="0"/>
              </a:rPr>
              <a:t>Urgent pointer is a 16 bit field.</a:t>
            </a:r>
          </a:p>
          <a:p>
            <a:pPr algn="just">
              <a:lnSpc>
                <a:spcPct val="150000"/>
              </a:lnSpc>
            </a:pPr>
            <a:r>
              <a:rPr lang="en-US" sz="1900" dirty="0">
                <a:latin typeface="Calibri" pitchFamily="34" charset="0"/>
                <a:cs typeface="Calibri" pitchFamily="34" charset="0"/>
              </a:rPr>
              <a:t>It indicates how much data in the current segment counting from the first data byte is urgent.</a:t>
            </a:r>
          </a:p>
          <a:p>
            <a:pPr algn="just">
              <a:lnSpc>
                <a:spcPct val="150000"/>
              </a:lnSpc>
            </a:pPr>
            <a:r>
              <a:rPr lang="en-US" sz="1900" dirty="0">
                <a:latin typeface="Calibri" pitchFamily="34" charset="0"/>
                <a:cs typeface="Calibri" pitchFamily="34" charset="0"/>
              </a:rPr>
              <a:t>Urgent pointer added to the sequence number indicates the end of urgent data byte.</a:t>
            </a:r>
          </a:p>
          <a:p>
            <a:pPr algn="just">
              <a:lnSpc>
                <a:spcPct val="150000"/>
              </a:lnSpc>
            </a:pPr>
            <a:r>
              <a:rPr lang="en-US" sz="1900" dirty="0">
                <a:latin typeface="Calibri" pitchFamily="34" charset="0"/>
                <a:cs typeface="Calibri" pitchFamily="34" charset="0"/>
              </a:rPr>
              <a:t>This field is considered valid and evaluated only if the URG bit is set to 1.</a:t>
            </a:r>
          </a:p>
          <a:p>
            <a:pPr algn="just"/>
            <a:endParaRPr lang="en-US" sz="1800" dirty="0">
              <a:latin typeface="Calibri" pitchFamily="34" charset="0"/>
              <a:cs typeface="Calibri" pitchFamily="34" charset="0"/>
            </a:endParaRPr>
          </a:p>
          <a:p>
            <a:pPr>
              <a:buNone/>
            </a:pPr>
            <a:br>
              <a:rPr lang="en-US" sz="1800" dirty="0"/>
            </a:br>
            <a:endParaRPr lang="en-US" sz="1800" dirty="0">
              <a:latin typeface="Calibri" pitchFamily="34" charset="0"/>
              <a:cs typeface="Calibri" pitchFamily="34" charset="0"/>
            </a:endParaRP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4" name="Picture 3">
            <a:extLst>
              <a:ext uri="{FF2B5EF4-FFF2-40B4-BE49-F238E27FC236}">
                <a16:creationId xmlns:a16="http://schemas.microsoft.com/office/drawing/2014/main" id="{0B814372-451A-2103-9F77-7C8716842140}"/>
              </a:ext>
            </a:extLst>
          </p:cNvPr>
          <p:cNvPicPr>
            <a:picLocks noChangeAspect="1"/>
          </p:cNvPicPr>
          <p:nvPr/>
        </p:nvPicPr>
        <p:blipFill>
          <a:blip r:embed="rId2"/>
          <a:stretch>
            <a:fillRect/>
          </a:stretch>
        </p:blipFill>
        <p:spPr>
          <a:xfrm>
            <a:off x="8061805" y="1604160"/>
            <a:ext cx="3566469" cy="238983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52596" y="142852"/>
            <a:ext cx="8229600" cy="357190"/>
          </a:xfrm>
        </p:spPr>
        <p:txBody>
          <a:bodyPr>
            <a:normAutofit fontScale="90000"/>
          </a:bodyPr>
          <a:lstStyle/>
          <a:p>
            <a:pPr>
              <a:buFont typeface="Arial" pitchFamily="34" charset="0"/>
              <a:buChar char="•"/>
            </a:pPr>
            <a:r>
              <a:rPr lang="en-US" sz="2400" dirty="0">
                <a:latin typeface="Calibri" pitchFamily="34" charset="0"/>
                <a:cs typeface="Calibri" pitchFamily="34" charset="0"/>
              </a:rPr>
              <a:t>    TCP  Header:(Continued….)</a:t>
            </a:r>
          </a:p>
        </p:txBody>
      </p:sp>
      <p:sp>
        <p:nvSpPr>
          <p:cNvPr id="5" name="Content Placeholder 4"/>
          <p:cNvSpPr>
            <a:spLocks noGrp="1"/>
          </p:cNvSpPr>
          <p:nvPr>
            <p:ph idx="1"/>
          </p:nvPr>
        </p:nvSpPr>
        <p:spPr>
          <a:xfrm>
            <a:off x="375920" y="1597958"/>
            <a:ext cx="8229600" cy="6000792"/>
          </a:xfrm>
        </p:spPr>
        <p:txBody>
          <a:bodyPr/>
          <a:lstStyle/>
          <a:p>
            <a:pPr algn="just">
              <a:lnSpc>
                <a:spcPct val="150000"/>
              </a:lnSpc>
              <a:buNone/>
            </a:pPr>
            <a:r>
              <a:rPr lang="en-US" sz="1800" dirty="0">
                <a:solidFill>
                  <a:schemeClr val="bg2"/>
                </a:solidFill>
                <a:latin typeface="Calibri" pitchFamily="34" charset="0"/>
                <a:cs typeface="Calibri" pitchFamily="34" charset="0"/>
              </a:rPr>
              <a:t>11. Options-</a:t>
            </a:r>
          </a:p>
          <a:p>
            <a:pPr algn="just">
              <a:lnSpc>
                <a:spcPct val="150000"/>
              </a:lnSpc>
            </a:pPr>
            <a:r>
              <a:rPr lang="en-US" sz="1800" dirty="0">
                <a:latin typeface="Calibri" pitchFamily="34" charset="0"/>
                <a:cs typeface="Calibri" pitchFamily="34" charset="0"/>
              </a:rPr>
              <a:t> Options field is used for several purposes.</a:t>
            </a:r>
          </a:p>
          <a:p>
            <a:pPr algn="just">
              <a:lnSpc>
                <a:spcPct val="150000"/>
              </a:lnSpc>
            </a:pPr>
            <a:r>
              <a:rPr lang="en-US" sz="1800" dirty="0">
                <a:latin typeface="Calibri" pitchFamily="34" charset="0"/>
                <a:cs typeface="Calibri" pitchFamily="34" charset="0"/>
              </a:rPr>
              <a:t>The size of options field vary from 0 bytes to 40 bytes.</a:t>
            </a:r>
          </a:p>
          <a:p>
            <a:pPr algn="just">
              <a:lnSpc>
                <a:spcPct val="150000"/>
              </a:lnSpc>
            </a:pPr>
            <a:r>
              <a:rPr lang="en-US" sz="1800" dirty="0">
                <a:latin typeface="Calibri" pitchFamily="34" charset="0"/>
                <a:cs typeface="Calibri" pitchFamily="34" charset="0"/>
              </a:rPr>
              <a:t> Options field is generally used for the following purposes-</a:t>
            </a:r>
          </a:p>
          <a:p>
            <a:pPr algn="just">
              <a:lnSpc>
                <a:spcPct val="150000"/>
              </a:lnSpc>
              <a:buNone/>
            </a:pPr>
            <a:r>
              <a:rPr lang="en-US" sz="1800" dirty="0">
                <a:latin typeface="Calibri" pitchFamily="34" charset="0"/>
                <a:cs typeface="Calibri" pitchFamily="34" charset="0"/>
              </a:rPr>
              <a:t>		1. Time stamp</a:t>
            </a:r>
          </a:p>
          <a:p>
            <a:pPr algn="just">
              <a:lnSpc>
                <a:spcPct val="150000"/>
              </a:lnSpc>
              <a:buNone/>
            </a:pPr>
            <a:r>
              <a:rPr lang="en-US" sz="1800" dirty="0">
                <a:latin typeface="Calibri" pitchFamily="34" charset="0"/>
                <a:cs typeface="Calibri" pitchFamily="34" charset="0"/>
              </a:rPr>
              <a:t>		2. Window size extension</a:t>
            </a:r>
          </a:p>
          <a:p>
            <a:pPr algn="just">
              <a:lnSpc>
                <a:spcPct val="150000"/>
              </a:lnSpc>
              <a:buNone/>
            </a:pPr>
            <a:r>
              <a:rPr lang="en-US" sz="1800" dirty="0">
                <a:latin typeface="Calibri" pitchFamily="34" charset="0"/>
                <a:cs typeface="Calibri" pitchFamily="34" charset="0"/>
              </a:rPr>
              <a:t>		3. Parameter negotiation</a:t>
            </a:r>
          </a:p>
          <a:p>
            <a:pPr algn="just">
              <a:lnSpc>
                <a:spcPct val="150000"/>
              </a:lnSpc>
              <a:buNone/>
            </a:pPr>
            <a:r>
              <a:rPr lang="en-US" sz="1800" dirty="0">
                <a:latin typeface="Calibri" pitchFamily="34" charset="0"/>
                <a:cs typeface="Calibri" pitchFamily="34" charset="0"/>
              </a:rPr>
              <a:t>		4. Padding</a:t>
            </a:r>
          </a:p>
          <a:p>
            <a:pPr algn="just">
              <a:buNone/>
            </a:pPr>
            <a:br>
              <a:rPr lang="en-US" sz="1800" dirty="0"/>
            </a:br>
            <a:endParaRPr lang="en-US" sz="1800" dirty="0">
              <a:latin typeface="Calibri" pitchFamily="34" charset="0"/>
              <a:cs typeface="Calibri" pitchFamily="34" charset="0"/>
            </a:endParaRPr>
          </a:p>
          <a:p>
            <a:pPr>
              <a:buNone/>
            </a:pPr>
            <a:endParaRPr lang="en-US" sz="2000" dirty="0"/>
          </a:p>
          <a:p>
            <a:pPr indent="-457200" algn="just">
              <a:buAutoNum type="arabicPeriod" startAt="8"/>
            </a:pPr>
            <a:endParaRPr lang="en-US" sz="2000" dirty="0">
              <a:solidFill>
                <a:schemeClr val="tx2"/>
              </a:solidFill>
              <a:latin typeface="Calibri" pitchFamily="34" charset="0"/>
              <a:cs typeface="Calibri" pitchFamily="34" charset="0"/>
            </a:endParaRPr>
          </a:p>
          <a:p>
            <a:pPr algn="just">
              <a:buNone/>
            </a:pPr>
            <a:endParaRPr lang="en-US" sz="1800" dirty="0"/>
          </a:p>
          <a:p>
            <a:pPr algn="just">
              <a:lnSpc>
                <a:spcPct val="150000"/>
              </a:lnSpc>
              <a:buNone/>
            </a:pPr>
            <a:endParaRPr lang="en-US" sz="1800" dirty="0">
              <a:latin typeface="Calibri" pitchFamily="34" charset="0"/>
              <a:cs typeface="Calibri" pitchFamily="34" charset="0"/>
            </a:endParaRPr>
          </a:p>
        </p:txBody>
      </p:sp>
      <p:pic>
        <p:nvPicPr>
          <p:cNvPr id="2" name="Picture 1">
            <a:extLst>
              <a:ext uri="{FF2B5EF4-FFF2-40B4-BE49-F238E27FC236}">
                <a16:creationId xmlns:a16="http://schemas.microsoft.com/office/drawing/2014/main" id="{EF86F48E-F0A6-4A57-06AD-D38AE237EA9B}"/>
              </a:ext>
            </a:extLst>
          </p:cNvPr>
          <p:cNvPicPr>
            <a:picLocks noChangeAspect="1"/>
          </p:cNvPicPr>
          <p:nvPr/>
        </p:nvPicPr>
        <p:blipFill>
          <a:blip r:embed="rId2"/>
          <a:stretch>
            <a:fillRect/>
          </a:stretch>
        </p:blipFill>
        <p:spPr>
          <a:xfrm>
            <a:off x="6763201" y="1935479"/>
            <a:ext cx="5184521" cy="346964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11156"/>
          </a:xfrm>
        </p:spPr>
        <p:txBody>
          <a:bodyPr/>
          <a:lstStyle/>
          <a:p>
            <a:pPr algn="l">
              <a:buFont typeface="Arial" pitchFamily="34" charset="0"/>
              <a:buChar char="•"/>
            </a:pPr>
            <a:r>
              <a:rPr lang="en-US" sz="2400" dirty="0">
                <a:latin typeface="Calibri" pitchFamily="34" charset="0"/>
                <a:cs typeface="Calibri" pitchFamily="34" charset="0"/>
              </a:rPr>
              <a:t>   4.2.3 Three Way Handshake/TCP connection Establishment</a:t>
            </a:r>
          </a:p>
        </p:txBody>
      </p:sp>
      <p:sp>
        <p:nvSpPr>
          <p:cNvPr id="3" name="Content Placeholder 2"/>
          <p:cNvSpPr>
            <a:spLocks noGrp="1"/>
          </p:cNvSpPr>
          <p:nvPr>
            <p:ph idx="1"/>
          </p:nvPr>
        </p:nvSpPr>
        <p:spPr>
          <a:xfrm>
            <a:off x="142240" y="1242993"/>
            <a:ext cx="10607040" cy="5340369"/>
          </a:xfrm>
        </p:spPr>
        <p:txBody>
          <a:bodyPr/>
          <a:lstStyle/>
          <a:p>
            <a:pPr algn="just">
              <a:lnSpc>
                <a:spcPct val="150000"/>
              </a:lnSpc>
            </a:pPr>
            <a:r>
              <a:rPr lang="en-US" sz="2000" dirty="0">
                <a:latin typeface="Calibri" pitchFamily="34" charset="0"/>
                <a:cs typeface="Calibri" pitchFamily="34" charset="0"/>
              </a:rPr>
              <a:t>Three Way Handshake is a process used for establishing a TCP connection. </a:t>
            </a:r>
          </a:p>
          <a:p>
            <a:pPr algn="just">
              <a:lnSpc>
                <a:spcPct val="150000"/>
              </a:lnSpc>
              <a:buNone/>
            </a:pPr>
            <a:r>
              <a:rPr lang="en-US" sz="2000" dirty="0">
                <a:latin typeface="Calibri" pitchFamily="34" charset="0"/>
                <a:cs typeface="Calibri" pitchFamily="34" charset="0"/>
              </a:rPr>
              <a:t>	Consider-</a:t>
            </a:r>
          </a:p>
          <a:p>
            <a:pPr algn="just">
              <a:lnSpc>
                <a:spcPct val="150000"/>
              </a:lnSpc>
            </a:pPr>
            <a:r>
              <a:rPr lang="en-US" sz="2000" dirty="0">
                <a:latin typeface="Calibri" pitchFamily="34" charset="0"/>
                <a:cs typeface="Calibri" pitchFamily="34" charset="0"/>
              </a:rPr>
              <a:t>Client wants to establish a connection with the server.</a:t>
            </a:r>
          </a:p>
          <a:p>
            <a:pPr algn="just">
              <a:lnSpc>
                <a:spcPct val="150000"/>
              </a:lnSpc>
            </a:pPr>
            <a:r>
              <a:rPr lang="en-US" sz="2000" dirty="0">
                <a:latin typeface="Calibri" pitchFamily="34" charset="0"/>
                <a:cs typeface="Calibri" pitchFamily="34" charset="0"/>
              </a:rPr>
              <a:t>Before Three Way Handshake, both client and server are in closed state.</a:t>
            </a:r>
          </a:p>
          <a:p>
            <a:pPr algn="just">
              <a:lnSpc>
                <a:spcPct val="150000"/>
              </a:lnSpc>
            </a:pPr>
            <a:r>
              <a:rPr lang="en-US" sz="2000" dirty="0">
                <a:latin typeface="Calibri" pitchFamily="34" charset="0"/>
                <a:cs typeface="Calibri" pitchFamily="34" charset="0"/>
              </a:rPr>
              <a:t> TCP Handshake involves the following steps in establishing the connection-</a:t>
            </a:r>
          </a:p>
          <a:p>
            <a:pPr algn="just">
              <a:lnSpc>
                <a:spcPct val="150000"/>
              </a:lnSpc>
              <a:buNone/>
            </a:pPr>
            <a:r>
              <a:rPr lang="en-US" sz="2000" dirty="0">
                <a:solidFill>
                  <a:srgbClr val="FF0000"/>
                </a:solidFill>
                <a:latin typeface="Calibri" pitchFamily="34" charset="0"/>
                <a:cs typeface="Calibri" pitchFamily="34" charset="0"/>
              </a:rPr>
              <a:t>Step-01: SYN- For establishing a connection,</a:t>
            </a:r>
          </a:p>
          <a:p>
            <a:pPr algn="just">
              <a:lnSpc>
                <a:spcPct val="150000"/>
              </a:lnSpc>
            </a:pPr>
            <a:r>
              <a:rPr lang="en-US" sz="2000" dirty="0">
                <a:latin typeface="Calibri" pitchFamily="34" charset="0"/>
                <a:cs typeface="Calibri" pitchFamily="34" charset="0"/>
              </a:rPr>
              <a:t>Client sends a request segment to the server.</a:t>
            </a:r>
          </a:p>
          <a:p>
            <a:pPr algn="just">
              <a:lnSpc>
                <a:spcPct val="150000"/>
              </a:lnSpc>
            </a:pPr>
            <a:r>
              <a:rPr lang="en-US" sz="2000" dirty="0">
                <a:latin typeface="Calibri" pitchFamily="34" charset="0"/>
                <a:cs typeface="Calibri" pitchFamily="34" charset="0"/>
              </a:rPr>
              <a:t>Request segment consists only of TCP Header with an empty payload.</a:t>
            </a:r>
          </a:p>
          <a:p>
            <a:pPr algn="just">
              <a:lnSpc>
                <a:spcPct val="150000"/>
              </a:lnSpc>
            </a:pPr>
            <a:r>
              <a:rPr lang="en-US" sz="2000" dirty="0">
                <a:latin typeface="Calibri" pitchFamily="34" charset="0"/>
                <a:cs typeface="Calibri" pitchFamily="34" charset="0"/>
              </a:rPr>
              <a:t>Then, it waits for a reply segment from the server.</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42852"/>
            <a:ext cx="8229600" cy="500066"/>
          </a:xfrm>
        </p:spPr>
        <p:txBody>
          <a:bodyPr/>
          <a:lstStyle/>
          <a:p>
            <a:pPr>
              <a:buFont typeface="Arial" pitchFamily="34" charset="0"/>
              <a:buChar char="•"/>
            </a:pPr>
            <a:r>
              <a:rPr lang="en-US" sz="2400" dirty="0">
                <a:latin typeface="Calibri" pitchFamily="34" charset="0"/>
                <a:cs typeface="Calibri" pitchFamily="34" charset="0"/>
              </a:rPr>
              <a:t>   Three Way Handshake/TCP connection (Continued….)</a:t>
            </a:r>
          </a:p>
        </p:txBody>
      </p:sp>
      <p:sp>
        <p:nvSpPr>
          <p:cNvPr id="3" name="Content Placeholder 2"/>
          <p:cNvSpPr>
            <a:spLocks noGrp="1"/>
          </p:cNvSpPr>
          <p:nvPr>
            <p:ph idx="1"/>
          </p:nvPr>
        </p:nvSpPr>
        <p:spPr>
          <a:xfrm>
            <a:off x="103513" y="642918"/>
            <a:ext cx="8229600" cy="5929354"/>
          </a:xfrm>
        </p:spPr>
        <p:txBody>
          <a:bodyPr/>
          <a:lstStyle/>
          <a:p>
            <a:pPr algn="just">
              <a:lnSpc>
                <a:spcPct val="150000"/>
              </a:lnSpc>
            </a:pPr>
            <a:r>
              <a:rPr lang="en-US" sz="1800" dirty="0">
                <a:latin typeface="Calibri" pitchFamily="34" charset="0"/>
                <a:cs typeface="Calibri" pitchFamily="34" charset="0"/>
              </a:rPr>
              <a:t>Request segment contains the following information in TCP header-</a:t>
            </a:r>
          </a:p>
          <a:p>
            <a:pPr algn="just">
              <a:lnSpc>
                <a:spcPct val="150000"/>
              </a:lnSpc>
              <a:buNone/>
            </a:pPr>
            <a:r>
              <a:rPr lang="en-US" sz="1800" dirty="0">
                <a:latin typeface="Calibri" pitchFamily="34" charset="0"/>
                <a:cs typeface="Calibri" pitchFamily="34" charset="0"/>
              </a:rPr>
              <a:t>1.	Initial sequence number</a:t>
            </a:r>
          </a:p>
          <a:p>
            <a:pPr algn="just">
              <a:lnSpc>
                <a:spcPct val="150000"/>
              </a:lnSpc>
              <a:buNone/>
            </a:pPr>
            <a:r>
              <a:rPr lang="en-US" sz="1800" dirty="0">
                <a:latin typeface="Calibri" pitchFamily="34" charset="0"/>
                <a:cs typeface="Calibri" pitchFamily="34" charset="0"/>
              </a:rPr>
              <a:t>2.	SYN bit set to 1</a:t>
            </a:r>
          </a:p>
          <a:p>
            <a:pPr algn="just">
              <a:lnSpc>
                <a:spcPct val="150000"/>
              </a:lnSpc>
              <a:buNone/>
            </a:pPr>
            <a:r>
              <a:rPr lang="en-US" sz="1800" dirty="0">
                <a:latin typeface="Calibri" pitchFamily="34" charset="0"/>
                <a:cs typeface="Calibri" pitchFamily="34" charset="0"/>
              </a:rPr>
              <a:t>3.	Maximum segment size</a:t>
            </a:r>
          </a:p>
          <a:p>
            <a:pPr algn="just">
              <a:lnSpc>
                <a:spcPct val="150000"/>
              </a:lnSpc>
              <a:buNone/>
            </a:pPr>
            <a:r>
              <a:rPr lang="en-US" sz="1800" dirty="0">
                <a:latin typeface="Calibri" pitchFamily="34" charset="0"/>
                <a:cs typeface="Calibri" pitchFamily="34" charset="0"/>
              </a:rPr>
              <a:t>4.	Receiving window size</a:t>
            </a:r>
          </a:p>
          <a:p>
            <a:pPr algn="just">
              <a:lnSpc>
                <a:spcPct val="150000"/>
              </a:lnSpc>
              <a:buNone/>
            </a:pPr>
            <a:r>
              <a:rPr lang="en-US" sz="1800" dirty="0">
                <a:latin typeface="Calibri" pitchFamily="34" charset="0"/>
                <a:cs typeface="Calibri" pitchFamily="34" charset="0"/>
              </a:rPr>
              <a:t>1. 	Initial Sequence Number-</a:t>
            </a:r>
          </a:p>
          <a:p>
            <a:pPr algn="just">
              <a:lnSpc>
                <a:spcPct val="150000"/>
              </a:lnSpc>
            </a:pPr>
            <a:r>
              <a:rPr lang="en-US" sz="1800" dirty="0">
                <a:latin typeface="Calibri" pitchFamily="34" charset="0"/>
                <a:cs typeface="Calibri" pitchFamily="34" charset="0"/>
              </a:rPr>
              <a:t>Client sends the initial sequence number to the server.</a:t>
            </a:r>
          </a:p>
          <a:p>
            <a:pPr algn="just">
              <a:lnSpc>
                <a:spcPct val="150000"/>
              </a:lnSpc>
            </a:pPr>
            <a:r>
              <a:rPr lang="en-US" sz="1800" dirty="0">
                <a:latin typeface="Calibri" pitchFamily="34" charset="0"/>
                <a:cs typeface="Calibri" pitchFamily="34" charset="0"/>
              </a:rPr>
              <a:t>It is contained in the sequence number field.</a:t>
            </a:r>
          </a:p>
          <a:p>
            <a:pPr algn="just">
              <a:lnSpc>
                <a:spcPct val="150000"/>
              </a:lnSpc>
            </a:pPr>
            <a:r>
              <a:rPr lang="en-US" sz="1800" dirty="0">
                <a:latin typeface="Calibri" pitchFamily="34" charset="0"/>
                <a:cs typeface="Calibri" pitchFamily="34" charset="0"/>
              </a:rPr>
              <a:t>It is a randomly chosen 32 bit value.</a:t>
            </a:r>
          </a:p>
          <a:p>
            <a:pPr algn="just">
              <a:lnSpc>
                <a:spcPct val="150000"/>
              </a:lnSpc>
              <a:buNone/>
            </a:pPr>
            <a:r>
              <a:rPr lang="en-US" sz="1800" dirty="0">
                <a:latin typeface="Calibri" pitchFamily="34" charset="0"/>
                <a:cs typeface="Calibri" pitchFamily="34" charset="0"/>
              </a:rPr>
              <a:t>2. SYN Bit Set To 1-</a:t>
            </a:r>
          </a:p>
          <a:p>
            <a:pPr algn="just">
              <a:lnSpc>
                <a:spcPct val="150000"/>
              </a:lnSpc>
              <a:buNone/>
            </a:pPr>
            <a:r>
              <a:rPr lang="en-US" sz="1800" dirty="0">
                <a:latin typeface="Calibri" pitchFamily="34" charset="0"/>
                <a:cs typeface="Calibri" pitchFamily="34" charset="0"/>
              </a:rPr>
              <a:t>	Client sets SYN bit to 1 which indicates the server-</a:t>
            </a:r>
          </a:p>
          <a:p>
            <a:pPr algn="just"/>
            <a:r>
              <a:rPr lang="en-US" sz="1800" dirty="0">
                <a:latin typeface="Calibri" pitchFamily="34" charset="0"/>
                <a:cs typeface="Calibri" pitchFamily="34" charset="0"/>
              </a:rPr>
              <a:t>This segment contains the initial sequence number used by the client.</a:t>
            </a:r>
          </a:p>
          <a:p>
            <a:pPr algn="just"/>
            <a:r>
              <a:rPr lang="en-US" sz="1800" dirty="0">
                <a:latin typeface="Calibri" pitchFamily="34" charset="0"/>
                <a:cs typeface="Calibri" pitchFamily="34" charset="0"/>
              </a:rPr>
              <a:t>It has been sent for synchronizing the sequence numbers.</a:t>
            </a:r>
          </a:p>
          <a:p>
            <a:pPr algn="just">
              <a:lnSpc>
                <a:spcPct val="150000"/>
              </a:lnSpc>
            </a:pPr>
            <a:endParaRPr lang="en-US" sz="1800" dirty="0">
              <a:latin typeface="Calibri" pitchFamily="34" charset="0"/>
              <a:cs typeface="Calibri" pitchFamily="34" charset="0"/>
            </a:endParaRPr>
          </a:p>
          <a:p>
            <a:endParaRPr lang="en-US" dirty="0"/>
          </a:p>
        </p:txBody>
      </p:sp>
      <p:pic>
        <p:nvPicPr>
          <p:cNvPr id="6" name="Picture 5" descr="https://www.gatevidyalay.com/wp-content/uploads/2018/09/3-Way-Handshake-Step-01-SYN.png"/>
          <p:cNvPicPr/>
          <p:nvPr/>
        </p:nvPicPr>
        <p:blipFill>
          <a:blip r:embed="rId2"/>
          <a:srcRect/>
          <a:stretch>
            <a:fillRect/>
          </a:stretch>
        </p:blipFill>
        <p:spPr bwMode="auto">
          <a:xfrm>
            <a:off x="7167571" y="1428737"/>
            <a:ext cx="2676525" cy="2600325"/>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11156"/>
          </a:xfrm>
        </p:spPr>
        <p:txBody>
          <a:bodyPr/>
          <a:lstStyle/>
          <a:p>
            <a:pPr>
              <a:buFont typeface="Arial" pitchFamily="34" charset="0"/>
              <a:buChar char="•"/>
            </a:pPr>
            <a:r>
              <a:rPr lang="en-US" sz="2400" dirty="0">
                <a:latin typeface="Calibri" pitchFamily="34" charset="0"/>
                <a:cs typeface="Calibri" pitchFamily="34" charset="0"/>
              </a:rPr>
              <a:t>   Three Way Handshake/TCP connection (Continued….)</a:t>
            </a:r>
          </a:p>
        </p:txBody>
      </p:sp>
      <p:sp>
        <p:nvSpPr>
          <p:cNvPr id="3" name="Content Placeholder 2"/>
          <p:cNvSpPr>
            <a:spLocks noGrp="1"/>
          </p:cNvSpPr>
          <p:nvPr>
            <p:ph idx="1"/>
          </p:nvPr>
        </p:nvSpPr>
        <p:spPr>
          <a:xfrm>
            <a:off x="172720" y="785794"/>
            <a:ext cx="8229600" cy="5643602"/>
          </a:xfrm>
        </p:spPr>
        <p:txBody>
          <a:bodyPr/>
          <a:lstStyle/>
          <a:p>
            <a:pPr algn="just">
              <a:lnSpc>
                <a:spcPct val="150000"/>
              </a:lnSpc>
              <a:buNone/>
            </a:pPr>
            <a:r>
              <a:rPr lang="en-US" sz="1800" dirty="0">
                <a:latin typeface="Calibri" pitchFamily="34" charset="0"/>
                <a:cs typeface="Calibri" pitchFamily="34" charset="0"/>
              </a:rPr>
              <a:t>3. 	Maximum Segment Size (MSS)-</a:t>
            </a:r>
          </a:p>
          <a:p>
            <a:pPr algn="just">
              <a:lnSpc>
                <a:spcPct val="150000"/>
              </a:lnSpc>
            </a:pPr>
            <a:r>
              <a:rPr lang="en-US" sz="1800" dirty="0">
                <a:latin typeface="Calibri" pitchFamily="34" charset="0"/>
                <a:cs typeface="Calibri" pitchFamily="34" charset="0"/>
              </a:rPr>
              <a:t>Client sends its MSS to the server.</a:t>
            </a:r>
          </a:p>
          <a:p>
            <a:pPr algn="just">
              <a:lnSpc>
                <a:spcPct val="150000"/>
              </a:lnSpc>
            </a:pPr>
            <a:r>
              <a:rPr lang="en-US" sz="1800" dirty="0">
                <a:latin typeface="Calibri" pitchFamily="34" charset="0"/>
                <a:cs typeface="Calibri" pitchFamily="34" charset="0"/>
              </a:rPr>
              <a:t>It dictates the size of the largest data chunk that client can send and receive from the server.</a:t>
            </a:r>
          </a:p>
          <a:p>
            <a:pPr algn="just">
              <a:lnSpc>
                <a:spcPct val="150000"/>
              </a:lnSpc>
            </a:pPr>
            <a:r>
              <a:rPr lang="en-US" sz="1800" dirty="0">
                <a:latin typeface="Calibri" pitchFamily="34" charset="0"/>
                <a:cs typeface="Calibri" pitchFamily="34" charset="0"/>
              </a:rPr>
              <a:t>It is contained in the Options field.</a:t>
            </a:r>
          </a:p>
          <a:p>
            <a:pPr algn="just">
              <a:lnSpc>
                <a:spcPct val="150000"/>
              </a:lnSpc>
              <a:buNone/>
            </a:pPr>
            <a:r>
              <a:rPr lang="en-US" sz="1800" dirty="0">
                <a:latin typeface="Calibri" pitchFamily="34" charset="0"/>
                <a:cs typeface="Calibri" pitchFamily="34" charset="0"/>
              </a:rPr>
              <a:t>4.	Receiving Window Size-</a:t>
            </a:r>
          </a:p>
          <a:p>
            <a:pPr algn="just">
              <a:lnSpc>
                <a:spcPct val="150000"/>
              </a:lnSpc>
            </a:pPr>
            <a:r>
              <a:rPr lang="en-US" sz="1800" dirty="0">
                <a:latin typeface="Calibri" pitchFamily="34" charset="0"/>
                <a:cs typeface="Calibri" pitchFamily="34" charset="0"/>
              </a:rPr>
              <a:t>Client sends its receiving window size to the server.</a:t>
            </a:r>
          </a:p>
          <a:p>
            <a:pPr algn="just">
              <a:lnSpc>
                <a:spcPct val="150000"/>
              </a:lnSpc>
            </a:pPr>
            <a:r>
              <a:rPr lang="en-US" sz="1800" dirty="0">
                <a:latin typeface="Calibri" pitchFamily="34" charset="0"/>
                <a:cs typeface="Calibri" pitchFamily="34" charset="0"/>
              </a:rPr>
              <a:t>It dictates the limit of unacknowledged data that can be sent to the client.</a:t>
            </a:r>
          </a:p>
          <a:p>
            <a:pPr algn="just">
              <a:lnSpc>
                <a:spcPct val="150000"/>
              </a:lnSpc>
            </a:pPr>
            <a:r>
              <a:rPr lang="en-US" sz="1800" dirty="0">
                <a:latin typeface="Calibri" pitchFamily="34" charset="0"/>
                <a:cs typeface="Calibri" pitchFamily="34" charset="0"/>
              </a:rPr>
              <a:t>It is contained in the window size field.</a:t>
            </a:r>
          </a:p>
          <a:p>
            <a:pPr algn="just">
              <a:buNone/>
            </a:pPr>
            <a:r>
              <a:rPr lang="en-US" sz="1800" dirty="0">
                <a:solidFill>
                  <a:srgbClr val="FF0000"/>
                </a:solidFill>
                <a:latin typeface="Calibri" pitchFamily="34" charset="0"/>
                <a:cs typeface="Calibri" pitchFamily="34" charset="0"/>
              </a:rPr>
              <a:t>Step-02: SYN + ACK- After receiving the request segment,</a:t>
            </a:r>
          </a:p>
          <a:p>
            <a:pPr algn="just"/>
            <a:r>
              <a:rPr lang="en-US" sz="1800" dirty="0">
                <a:latin typeface="Calibri" pitchFamily="34" charset="0"/>
                <a:cs typeface="Calibri" pitchFamily="34" charset="0"/>
              </a:rPr>
              <a:t>Server responds to the client by sending the reply segment.</a:t>
            </a:r>
          </a:p>
          <a:p>
            <a:pPr algn="just"/>
            <a:r>
              <a:rPr lang="en-US" sz="1800" dirty="0">
                <a:latin typeface="Calibri" pitchFamily="34" charset="0"/>
                <a:cs typeface="Calibri" pitchFamily="34" charset="0"/>
              </a:rPr>
              <a:t>It informs the client of the parameters at the server side.</a:t>
            </a:r>
          </a:p>
          <a:p>
            <a:pPr algn="just">
              <a:lnSpc>
                <a:spcPct val="150000"/>
              </a:lnSpc>
            </a:pPr>
            <a:endParaRPr lang="en-US" sz="1800" dirty="0">
              <a:latin typeface="Calibri" pitchFamily="34" charset="0"/>
              <a:cs typeface="Calibri" pitchFamily="34" charset="0"/>
            </a:endParaRPr>
          </a:p>
          <a:p>
            <a:endParaRPr lang="en-US" dirty="0"/>
          </a:p>
        </p:txBody>
      </p:sp>
      <p:pic>
        <p:nvPicPr>
          <p:cNvPr id="6" name="Picture 5" descr="https://www.gatevidyalay.com/wp-content/uploads/2018/09/3-Way-Handshake-Step-02-SYN-ACK.png">
            <a:extLst>
              <a:ext uri="{FF2B5EF4-FFF2-40B4-BE49-F238E27FC236}">
                <a16:creationId xmlns:a16="http://schemas.microsoft.com/office/drawing/2014/main" id="{AB4C901F-AD58-256D-8498-FCE4F0726962}"/>
              </a:ext>
            </a:extLst>
          </p:cNvPr>
          <p:cNvPicPr/>
          <p:nvPr/>
        </p:nvPicPr>
        <p:blipFill>
          <a:blip r:embed="rId2"/>
          <a:srcRect/>
          <a:stretch>
            <a:fillRect/>
          </a:stretch>
        </p:blipFill>
        <p:spPr bwMode="auto">
          <a:xfrm>
            <a:off x="8872537" y="1956103"/>
            <a:ext cx="2676525" cy="3743325"/>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buFont typeface="Arial" pitchFamily="34" charset="0"/>
              <a:buChar char="•"/>
            </a:pPr>
            <a:r>
              <a:rPr lang="en-US" sz="2400" dirty="0">
                <a:latin typeface="Calibri" pitchFamily="34" charset="0"/>
                <a:cs typeface="Calibri" pitchFamily="34" charset="0"/>
              </a:rPr>
              <a:t>   Three Way Handshake/TCP connection (Continued….)</a:t>
            </a:r>
          </a:p>
        </p:txBody>
      </p:sp>
      <p:sp>
        <p:nvSpPr>
          <p:cNvPr id="3" name="Content Placeholder 2"/>
          <p:cNvSpPr>
            <a:spLocks noGrp="1"/>
          </p:cNvSpPr>
          <p:nvPr>
            <p:ph idx="1"/>
          </p:nvPr>
        </p:nvSpPr>
        <p:spPr>
          <a:xfrm>
            <a:off x="142240" y="785770"/>
            <a:ext cx="8229600" cy="6072230"/>
          </a:xfrm>
        </p:spPr>
        <p:txBody>
          <a:bodyPr/>
          <a:lstStyle/>
          <a:p>
            <a:pPr algn="just"/>
            <a:r>
              <a:rPr lang="en-US" sz="1800" dirty="0">
                <a:latin typeface="Calibri" pitchFamily="34" charset="0"/>
                <a:cs typeface="Calibri" pitchFamily="34" charset="0"/>
              </a:rPr>
              <a:t>Reply segment contains the following information in TCP header-</a:t>
            </a:r>
          </a:p>
          <a:p>
            <a:pPr algn="just">
              <a:buNone/>
            </a:pPr>
            <a:r>
              <a:rPr lang="en-US" sz="1800" dirty="0">
                <a:latin typeface="Calibri" pitchFamily="34" charset="0"/>
                <a:cs typeface="Calibri" pitchFamily="34" charset="0"/>
              </a:rPr>
              <a:t>1.	Initial sequence number</a:t>
            </a:r>
          </a:p>
          <a:p>
            <a:pPr algn="just">
              <a:buNone/>
            </a:pPr>
            <a:r>
              <a:rPr lang="en-US" sz="1800" dirty="0">
                <a:latin typeface="Calibri" pitchFamily="34" charset="0"/>
                <a:cs typeface="Calibri" pitchFamily="34" charset="0"/>
              </a:rPr>
              <a:t>2.	SYN bit set to 1</a:t>
            </a:r>
          </a:p>
          <a:p>
            <a:pPr algn="just">
              <a:buNone/>
            </a:pPr>
            <a:r>
              <a:rPr lang="en-US" sz="1800" dirty="0">
                <a:latin typeface="Calibri" pitchFamily="34" charset="0"/>
                <a:cs typeface="Calibri" pitchFamily="34" charset="0"/>
              </a:rPr>
              <a:t>3.	Maximum segment size</a:t>
            </a:r>
          </a:p>
          <a:p>
            <a:pPr algn="just">
              <a:buNone/>
            </a:pPr>
            <a:r>
              <a:rPr lang="en-US" sz="1800" dirty="0">
                <a:latin typeface="Calibri" pitchFamily="34" charset="0"/>
                <a:cs typeface="Calibri" pitchFamily="34" charset="0"/>
              </a:rPr>
              <a:t>4.	Receiving window size</a:t>
            </a:r>
          </a:p>
          <a:p>
            <a:pPr algn="just">
              <a:buNone/>
            </a:pPr>
            <a:r>
              <a:rPr lang="en-US" sz="1800" dirty="0">
                <a:latin typeface="Calibri" pitchFamily="34" charset="0"/>
                <a:cs typeface="Calibri" pitchFamily="34" charset="0"/>
              </a:rPr>
              <a:t>5.	Acknowledgment number</a:t>
            </a:r>
          </a:p>
          <a:p>
            <a:pPr algn="just">
              <a:buNone/>
            </a:pPr>
            <a:r>
              <a:rPr lang="en-US" sz="1800" dirty="0">
                <a:latin typeface="Calibri" pitchFamily="34" charset="0"/>
                <a:cs typeface="Calibri" pitchFamily="34" charset="0"/>
              </a:rPr>
              <a:t>6.	ACK bit set to 1</a:t>
            </a:r>
          </a:p>
          <a:p>
            <a:pPr algn="just">
              <a:lnSpc>
                <a:spcPct val="150000"/>
              </a:lnSpc>
              <a:buNone/>
            </a:pPr>
            <a:r>
              <a:rPr lang="en-US" sz="1800" dirty="0">
                <a:latin typeface="Calibri" pitchFamily="34" charset="0"/>
                <a:cs typeface="Calibri" pitchFamily="34" charset="0"/>
              </a:rPr>
              <a:t>1. Initial Sequence Number-</a:t>
            </a:r>
          </a:p>
          <a:p>
            <a:pPr algn="just">
              <a:lnSpc>
                <a:spcPct val="150000"/>
              </a:lnSpc>
            </a:pPr>
            <a:r>
              <a:rPr lang="en-US" sz="1800" dirty="0">
                <a:latin typeface="Calibri" pitchFamily="34" charset="0"/>
                <a:cs typeface="Calibri" pitchFamily="34" charset="0"/>
              </a:rPr>
              <a:t> Server sends the initial sequence number to the client.</a:t>
            </a:r>
          </a:p>
          <a:p>
            <a:pPr algn="just">
              <a:lnSpc>
                <a:spcPct val="150000"/>
              </a:lnSpc>
            </a:pPr>
            <a:r>
              <a:rPr lang="en-US" sz="1800" dirty="0">
                <a:latin typeface="Calibri" pitchFamily="34" charset="0"/>
                <a:cs typeface="Calibri" pitchFamily="34" charset="0"/>
              </a:rPr>
              <a:t>It is contained in the sequence number field.</a:t>
            </a:r>
          </a:p>
          <a:p>
            <a:pPr algn="just">
              <a:lnSpc>
                <a:spcPct val="150000"/>
              </a:lnSpc>
            </a:pPr>
            <a:r>
              <a:rPr lang="en-US" sz="1800" dirty="0">
                <a:latin typeface="Calibri" pitchFamily="34" charset="0"/>
                <a:cs typeface="Calibri" pitchFamily="34" charset="0"/>
              </a:rPr>
              <a:t>It is a randomly chosen 32 bit value.</a:t>
            </a:r>
          </a:p>
          <a:p>
            <a:pPr>
              <a:lnSpc>
                <a:spcPct val="150000"/>
              </a:lnSpc>
              <a:buNone/>
            </a:pPr>
            <a:r>
              <a:rPr lang="en-US" sz="1800" dirty="0">
                <a:latin typeface="Calibri" pitchFamily="34" charset="0"/>
                <a:cs typeface="Calibri" pitchFamily="34" charset="0"/>
              </a:rPr>
              <a:t>2. SYN Bit Set To 1-</a:t>
            </a:r>
          </a:p>
          <a:p>
            <a:pPr>
              <a:lnSpc>
                <a:spcPct val="150000"/>
              </a:lnSpc>
            </a:pPr>
            <a:r>
              <a:rPr lang="en-US" sz="1800" dirty="0">
                <a:latin typeface="Calibri" pitchFamily="34" charset="0"/>
                <a:cs typeface="Calibri" pitchFamily="34" charset="0"/>
              </a:rPr>
              <a:t> Server sets SYN bit to 1 which indicates the client-</a:t>
            </a:r>
          </a:p>
          <a:p>
            <a:pPr>
              <a:lnSpc>
                <a:spcPct val="150000"/>
              </a:lnSpc>
            </a:pPr>
            <a:r>
              <a:rPr lang="en-US" sz="1800" dirty="0">
                <a:latin typeface="Calibri" pitchFamily="34" charset="0"/>
                <a:cs typeface="Calibri" pitchFamily="34" charset="0"/>
              </a:rPr>
              <a:t>This segment contains the initial sequence number used by the server.</a:t>
            </a:r>
          </a:p>
          <a:p>
            <a:pPr>
              <a:lnSpc>
                <a:spcPct val="150000"/>
              </a:lnSpc>
            </a:pPr>
            <a:r>
              <a:rPr lang="en-US" sz="1800" dirty="0">
                <a:latin typeface="Calibri" pitchFamily="34" charset="0"/>
                <a:cs typeface="Calibri" pitchFamily="34" charset="0"/>
              </a:rPr>
              <a:t>It has been sent for synchronizing the sequence numbers.</a:t>
            </a:r>
          </a:p>
          <a:p>
            <a:pPr algn="just">
              <a:lnSpc>
                <a:spcPct val="150000"/>
              </a:lnSpc>
            </a:pPr>
            <a:endParaRPr lang="en-US" sz="1800" dirty="0">
              <a:latin typeface="Calibri" pitchFamily="34" charset="0"/>
              <a:cs typeface="Calibri" pitchFamily="34" charset="0"/>
            </a:endParaRPr>
          </a:p>
          <a:p>
            <a:pPr algn="just">
              <a:lnSpc>
                <a:spcPct val="150000"/>
              </a:lnSpc>
              <a:buAutoNum type="arabicPeriod" startAt="3"/>
            </a:pPr>
            <a:endParaRPr lang="en-US" sz="1800" dirty="0">
              <a:latin typeface="Calibri" pitchFamily="34" charset="0"/>
              <a:cs typeface="Calibri" pitchFamily="34" charset="0"/>
            </a:endParaRPr>
          </a:p>
          <a:p>
            <a:endParaRPr lang="en-US" dirty="0"/>
          </a:p>
        </p:txBody>
      </p:sp>
      <p:pic>
        <p:nvPicPr>
          <p:cNvPr id="4" name="Picture 3" descr="https://www.gatevidyalay.com/wp-content/uploads/2018/09/3-Way-Handshake-Step-02-SYN-ACK.png"/>
          <p:cNvPicPr/>
          <p:nvPr/>
        </p:nvPicPr>
        <p:blipFill>
          <a:blip r:embed="rId2"/>
          <a:srcRect/>
          <a:stretch>
            <a:fillRect/>
          </a:stretch>
        </p:blipFill>
        <p:spPr bwMode="auto">
          <a:xfrm>
            <a:off x="7524761" y="1214423"/>
            <a:ext cx="2676525" cy="374332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buFont typeface="Arial" pitchFamily="34" charset="0"/>
              <a:buChar char="•"/>
            </a:pPr>
            <a:r>
              <a:rPr lang="en-US" sz="2400" dirty="0">
                <a:latin typeface="Calibri" pitchFamily="34" charset="0"/>
                <a:cs typeface="Calibri" pitchFamily="34" charset="0"/>
              </a:rPr>
              <a:t>   Three Way Handshake/TCP connection (Continued….)</a:t>
            </a:r>
          </a:p>
        </p:txBody>
      </p:sp>
      <p:sp>
        <p:nvSpPr>
          <p:cNvPr id="3" name="Content Placeholder 2"/>
          <p:cNvSpPr>
            <a:spLocks noGrp="1"/>
          </p:cNvSpPr>
          <p:nvPr>
            <p:ph idx="1"/>
          </p:nvPr>
        </p:nvSpPr>
        <p:spPr>
          <a:xfrm>
            <a:off x="0" y="662602"/>
            <a:ext cx="8229600" cy="6072230"/>
          </a:xfrm>
        </p:spPr>
        <p:txBody>
          <a:bodyPr/>
          <a:lstStyle/>
          <a:p>
            <a:pPr algn="just">
              <a:buNone/>
            </a:pPr>
            <a:r>
              <a:rPr lang="en-US" sz="1800" dirty="0">
                <a:latin typeface="Calibri" pitchFamily="34" charset="0"/>
                <a:cs typeface="Calibri" pitchFamily="34" charset="0"/>
              </a:rPr>
              <a:t>3. Maximum Segment Size (MSS)-</a:t>
            </a:r>
          </a:p>
          <a:p>
            <a:pPr algn="just"/>
            <a:r>
              <a:rPr lang="en-US" sz="1800" dirty="0">
                <a:latin typeface="Calibri" pitchFamily="34" charset="0"/>
                <a:cs typeface="Calibri" pitchFamily="34" charset="0"/>
              </a:rPr>
              <a:t>Server sends its MSS to the client.</a:t>
            </a:r>
          </a:p>
          <a:p>
            <a:pPr algn="just"/>
            <a:r>
              <a:rPr lang="en-US" sz="1800" dirty="0">
                <a:latin typeface="Calibri" pitchFamily="34" charset="0"/>
                <a:cs typeface="Calibri" pitchFamily="34" charset="0"/>
              </a:rPr>
              <a:t>It dictates the size of the largest data chunk that server can send and receive from the client.</a:t>
            </a:r>
          </a:p>
          <a:p>
            <a:pPr algn="just"/>
            <a:r>
              <a:rPr lang="en-US" sz="1800" dirty="0">
                <a:latin typeface="Calibri" pitchFamily="34" charset="0"/>
                <a:cs typeface="Calibri" pitchFamily="34" charset="0"/>
              </a:rPr>
              <a:t>It is contained in the Options field.</a:t>
            </a:r>
          </a:p>
          <a:p>
            <a:pPr algn="just">
              <a:buNone/>
            </a:pPr>
            <a:r>
              <a:rPr lang="en-US" sz="1800" dirty="0">
                <a:latin typeface="Calibri" pitchFamily="34" charset="0"/>
                <a:cs typeface="Calibri" pitchFamily="34" charset="0"/>
              </a:rPr>
              <a:t>4. Receiving Window Size-</a:t>
            </a:r>
          </a:p>
          <a:p>
            <a:pPr algn="just"/>
            <a:r>
              <a:rPr lang="en-US" sz="1800" dirty="0">
                <a:latin typeface="Calibri" pitchFamily="34" charset="0"/>
                <a:cs typeface="Calibri" pitchFamily="34" charset="0"/>
              </a:rPr>
              <a:t> Server sends its receiving window size to the client.</a:t>
            </a:r>
          </a:p>
          <a:p>
            <a:pPr algn="just"/>
            <a:r>
              <a:rPr lang="en-US" sz="1800" dirty="0">
                <a:latin typeface="Calibri" pitchFamily="34" charset="0"/>
                <a:cs typeface="Calibri" pitchFamily="34" charset="0"/>
              </a:rPr>
              <a:t>It dictates the limit of unacknowledged data that can be sent to the server.</a:t>
            </a:r>
          </a:p>
          <a:p>
            <a:pPr algn="just"/>
            <a:r>
              <a:rPr lang="en-US" sz="1800" dirty="0">
                <a:latin typeface="Calibri" pitchFamily="34" charset="0"/>
                <a:cs typeface="Calibri" pitchFamily="34" charset="0"/>
              </a:rPr>
              <a:t>It is contained in the window size field.</a:t>
            </a:r>
          </a:p>
          <a:p>
            <a:pPr algn="just">
              <a:buNone/>
            </a:pPr>
            <a:r>
              <a:rPr lang="en-US" sz="1800" dirty="0">
                <a:latin typeface="Calibri" pitchFamily="34" charset="0"/>
                <a:cs typeface="Calibri" pitchFamily="34" charset="0"/>
              </a:rPr>
              <a:t>5. Acknowledgement Number-</a:t>
            </a:r>
          </a:p>
          <a:p>
            <a:pPr algn="just"/>
            <a:r>
              <a:rPr lang="en-US" sz="1800" dirty="0">
                <a:latin typeface="Calibri" pitchFamily="34" charset="0"/>
                <a:cs typeface="Calibri" pitchFamily="34" charset="0"/>
              </a:rPr>
              <a:t>Server sends the initial sequence number incremented by 1 as an acknowledgement number.</a:t>
            </a:r>
          </a:p>
          <a:p>
            <a:pPr algn="just"/>
            <a:r>
              <a:rPr lang="en-US" sz="1800" dirty="0">
                <a:latin typeface="Calibri" pitchFamily="34" charset="0"/>
                <a:cs typeface="Calibri" pitchFamily="34" charset="0"/>
              </a:rPr>
              <a:t>It dictates the sequence number of the next data byte that server expects to receive from the client.</a:t>
            </a:r>
          </a:p>
          <a:p>
            <a:pPr algn="just">
              <a:buNone/>
            </a:pPr>
            <a:r>
              <a:rPr lang="en-US" sz="1800" dirty="0">
                <a:latin typeface="Calibri" pitchFamily="34" charset="0"/>
                <a:cs typeface="Calibri" pitchFamily="34" charset="0"/>
              </a:rPr>
              <a:t>6. ACK Bit Set To 1-</a:t>
            </a:r>
          </a:p>
          <a:p>
            <a:r>
              <a:rPr lang="en-US" sz="1800" dirty="0">
                <a:latin typeface="Calibri" pitchFamily="34" charset="0"/>
                <a:cs typeface="Calibri" pitchFamily="34" charset="0"/>
              </a:rPr>
              <a:t>Server sets ACK bit to 1.</a:t>
            </a:r>
          </a:p>
          <a:p>
            <a:r>
              <a:rPr lang="en-US" sz="1800" dirty="0">
                <a:latin typeface="Calibri" pitchFamily="34" charset="0"/>
                <a:cs typeface="Calibri" pitchFamily="34" charset="0"/>
              </a:rPr>
              <a:t>It indicates the client that the acknowledgement number field in the current segment is valid.</a:t>
            </a:r>
          </a:p>
          <a:p>
            <a:pPr>
              <a:buNone/>
            </a:pPr>
            <a:endParaRPr lang="en-US" sz="1800" dirty="0"/>
          </a:p>
          <a:p>
            <a:pPr algn="just">
              <a:lnSpc>
                <a:spcPct val="150000"/>
              </a:lnSpc>
            </a:pPr>
            <a:endParaRPr lang="en-US" sz="1800" dirty="0">
              <a:latin typeface="Calibri" pitchFamily="34" charset="0"/>
              <a:cs typeface="Calibri" pitchFamily="34" charset="0"/>
            </a:endParaRPr>
          </a:p>
          <a:p>
            <a:pPr algn="just">
              <a:lnSpc>
                <a:spcPct val="150000"/>
              </a:lnSpc>
              <a:buAutoNum type="arabicPeriod" startAt="3"/>
            </a:pPr>
            <a:endParaRPr lang="en-US" sz="1800" dirty="0">
              <a:latin typeface="Calibri" pitchFamily="34" charset="0"/>
              <a:cs typeface="Calibri" pitchFamily="34" charset="0"/>
            </a:endParaRPr>
          </a:p>
          <a:p>
            <a:endParaRPr lang="en-US" dirty="0"/>
          </a:p>
        </p:txBody>
      </p:sp>
      <p:pic>
        <p:nvPicPr>
          <p:cNvPr id="5" name="Picture 4">
            <a:extLst>
              <a:ext uri="{FF2B5EF4-FFF2-40B4-BE49-F238E27FC236}">
                <a16:creationId xmlns:a16="http://schemas.microsoft.com/office/drawing/2014/main" id="{C7464BE7-F132-3318-5774-6E9FA66B4C71}"/>
              </a:ext>
            </a:extLst>
          </p:cNvPr>
          <p:cNvPicPr>
            <a:picLocks noChangeAspect="1"/>
          </p:cNvPicPr>
          <p:nvPr/>
        </p:nvPicPr>
        <p:blipFill>
          <a:blip r:embed="rId2"/>
          <a:stretch>
            <a:fillRect/>
          </a:stretch>
        </p:blipFill>
        <p:spPr>
          <a:xfrm>
            <a:off x="9136772" y="1669126"/>
            <a:ext cx="2676376" cy="374326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buFont typeface="Arial" pitchFamily="34" charset="0"/>
              <a:buChar char="•"/>
            </a:pPr>
            <a:r>
              <a:rPr lang="en-US" sz="2400" dirty="0">
                <a:latin typeface="Calibri" pitchFamily="34" charset="0"/>
                <a:cs typeface="Calibri" pitchFamily="34" charset="0"/>
              </a:rPr>
              <a:t>   Three Way Handshake/TCP connection (Continued….)</a:t>
            </a:r>
          </a:p>
        </p:txBody>
      </p:sp>
      <p:sp>
        <p:nvSpPr>
          <p:cNvPr id="3" name="Content Placeholder 2"/>
          <p:cNvSpPr>
            <a:spLocks noGrp="1"/>
          </p:cNvSpPr>
          <p:nvPr>
            <p:ph idx="1"/>
          </p:nvPr>
        </p:nvSpPr>
        <p:spPr>
          <a:xfrm>
            <a:off x="91440" y="709630"/>
            <a:ext cx="8229600" cy="6143668"/>
          </a:xfrm>
        </p:spPr>
        <p:txBody>
          <a:bodyPr>
            <a:normAutofit/>
          </a:bodyPr>
          <a:lstStyle/>
          <a:p>
            <a:pPr algn="just">
              <a:lnSpc>
                <a:spcPct val="150000"/>
              </a:lnSpc>
              <a:buNone/>
            </a:pPr>
            <a:r>
              <a:rPr lang="en-US" sz="1800" dirty="0">
                <a:latin typeface="Calibri" pitchFamily="34" charset="0"/>
                <a:cs typeface="Calibri" pitchFamily="34" charset="0"/>
              </a:rPr>
              <a:t>Step-03: ACK- After receiving the reply segment,</a:t>
            </a:r>
          </a:p>
          <a:p>
            <a:pPr algn="just">
              <a:lnSpc>
                <a:spcPct val="150000"/>
              </a:lnSpc>
            </a:pPr>
            <a:r>
              <a:rPr lang="en-US" sz="1800" dirty="0">
                <a:latin typeface="Calibri" pitchFamily="34" charset="0"/>
                <a:cs typeface="Calibri" pitchFamily="34" charset="0"/>
              </a:rPr>
              <a:t>Client acknowledges the response of server.</a:t>
            </a:r>
          </a:p>
          <a:p>
            <a:pPr algn="just">
              <a:lnSpc>
                <a:spcPct val="150000"/>
              </a:lnSpc>
            </a:pPr>
            <a:r>
              <a:rPr lang="en-US" sz="1800" dirty="0">
                <a:latin typeface="Calibri" pitchFamily="34" charset="0"/>
                <a:cs typeface="Calibri" pitchFamily="34" charset="0"/>
              </a:rPr>
              <a:t>It acknowledges the server by sending a pure </a:t>
            </a:r>
          </a:p>
          <a:p>
            <a:pPr algn="just">
              <a:lnSpc>
                <a:spcPct val="150000"/>
              </a:lnSpc>
              <a:buNone/>
            </a:pPr>
            <a:r>
              <a:rPr lang="en-US" sz="1800" dirty="0">
                <a:latin typeface="Calibri" pitchFamily="34" charset="0"/>
                <a:cs typeface="Calibri" pitchFamily="34" charset="0"/>
              </a:rPr>
              <a:t>	acknowledgement.</a:t>
            </a:r>
          </a:p>
          <a:p>
            <a:pPr algn="just">
              <a:lnSpc>
                <a:spcPct val="150000"/>
              </a:lnSpc>
              <a:buNone/>
            </a:pPr>
            <a:r>
              <a:rPr lang="en-US" sz="1800" dirty="0">
                <a:latin typeface="Calibri" pitchFamily="34" charset="0"/>
                <a:cs typeface="Calibri" pitchFamily="34" charset="0"/>
              </a:rPr>
              <a:t>With these, a </a:t>
            </a:r>
            <a:r>
              <a:rPr lang="en-US" sz="1800" u="sng" dirty="0">
                <a:latin typeface="Calibri" pitchFamily="34" charset="0"/>
                <a:cs typeface="Calibri" pitchFamily="34" charset="0"/>
                <a:hlinkClick r:id="rId2"/>
              </a:rPr>
              <a:t>Full Duplex</a:t>
            </a:r>
            <a:r>
              <a:rPr lang="en-US" sz="1800" dirty="0">
                <a:latin typeface="Calibri" pitchFamily="34" charset="0"/>
                <a:cs typeface="Calibri" pitchFamily="34" charset="0"/>
              </a:rPr>
              <a:t> connection is established.</a:t>
            </a:r>
          </a:p>
          <a:p>
            <a:pPr algn="just">
              <a:lnSpc>
                <a:spcPct val="150000"/>
              </a:lnSpc>
              <a:buNone/>
            </a:pPr>
            <a:r>
              <a:rPr lang="en-US" sz="2000" u="sng" dirty="0">
                <a:solidFill>
                  <a:schemeClr val="bg2"/>
                </a:solidFill>
                <a:latin typeface="Calibri" pitchFamily="34" charset="0"/>
                <a:cs typeface="Calibri" pitchFamily="34" charset="0"/>
              </a:rPr>
              <a:t>Important Points-</a:t>
            </a:r>
            <a:endParaRPr lang="en-US" sz="2000" dirty="0">
              <a:solidFill>
                <a:schemeClr val="bg2"/>
              </a:solidFill>
              <a:latin typeface="Calibri" pitchFamily="34" charset="0"/>
              <a:cs typeface="Calibri" pitchFamily="34" charset="0"/>
            </a:endParaRPr>
          </a:p>
          <a:p>
            <a:pPr algn="just">
              <a:lnSpc>
                <a:spcPct val="150000"/>
              </a:lnSpc>
              <a:buNone/>
            </a:pPr>
            <a:r>
              <a:rPr lang="en-US" sz="1800" dirty="0">
                <a:latin typeface="Calibri" pitchFamily="34" charset="0"/>
                <a:cs typeface="Calibri" pitchFamily="34" charset="0"/>
              </a:rPr>
              <a:t>Point-01:</a:t>
            </a:r>
          </a:p>
          <a:p>
            <a:pPr algn="just">
              <a:lnSpc>
                <a:spcPct val="150000"/>
              </a:lnSpc>
              <a:buNone/>
            </a:pPr>
            <a:r>
              <a:rPr lang="en-US" sz="1800" dirty="0">
                <a:latin typeface="Calibri" pitchFamily="34" charset="0"/>
                <a:cs typeface="Calibri" pitchFamily="34" charset="0"/>
              </a:rPr>
              <a:t>In step-01 and step-02-</a:t>
            </a:r>
          </a:p>
          <a:p>
            <a:pPr algn="just">
              <a:lnSpc>
                <a:spcPct val="150000"/>
              </a:lnSpc>
            </a:pPr>
            <a:r>
              <a:rPr lang="en-US" sz="1800" dirty="0">
                <a:latin typeface="Calibri" pitchFamily="34" charset="0"/>
                <a:cs typeface="Calibri" pitchFamily="34" charset="0"/>
              </a:rPr>
              <a:t>The connection parameters are established for the first side.</a:t>
            </a:r>
          </a:p>
          <a:p>
            <a:pPr algn="just">
              <a:lnSpc>
                <a:spcPct val="150000"/>
              </a:lnSpc>
            </a:pPr>
            <a:r>
              <a:rPr lang="en-US" sz="1800" dirty="0">
                <a:latin typeface="Calibri" pitchFamily="34" charset="0"/>
                <a:cs typeface="Calibri" pitchFamily="34" charset="0"/>
              </a:rPr>
              <a:t>They are acknowledged by the second side.</a:t>
            </a:r>
          </a:p>
          <a:p>
            <a:pPr algn="just">
              <a:buNone/>
            </a:pPr>
            <a:r>
              <a:rPr lang="en-US" sz="1800" dirty="0">
                <a:latin typeface="Calibri" pitchFamily="34" charset="0"/>
                <a:cs typeface="Calibri" pitchFamily="34" charset="0"/>
              </a:rPr>
              <a:t>In step-02 and step-03-</a:t>
            </a:r>
          </a:p>
          <a:p>
            <a:pPr algn="just"/>
            <a:r>
              <a:rPr lang="en-US" sz="1800" dirty="0">
                <a:latin typeface="Calibri" pitchFamily="34" charset="0"/>
                <a:cs typeface="Calibri" pitchFamily="34" charset="0"/>
              </a:rPr>
              <a:t>The connection parameters are established for the second side.</a:t>
            </a:r>
          </a:p>
          <a:p>
            <a:pPr algn="just"/>
            <a:r>
              <a:rPr lang="en-US" sz="1800" dirty="0">
                <a:latin typeface="Calibri" pitchFamily="34" charset="0"/>
                <a:cs typeface="Calibri" pitchFamily="34" charset="0"/>
              </a:rPr>
              <a:t>They are acknowledged by the first side.</a:t>
            </a:r>
          </a:p>
          <a:p>
            <a:pPr>
              <a:buNone/>
            </a:pPr>
            <a:endParaRPr lang="en-US" sz="1800" dirty="0"/>
          </a:p>
          <a:p>
            <a:pPr algn="just">
              <a:lnSpc>
                <a:spcPct val="150000"/>
              </a:lnSpc>
            </a:pPr>
            <a:endParaRPr lang="en-US" sz="1800" dirty="0">
              <a:latin typeface="Calibri" pitchFamily="34" charset="0"/>
              <a:cs typeface="Calibri" pitchFamily="34" charset="0"/>
            </a:endParaRPr>
          </a:p>
          <a:p>
            <a:pPr algn="just">
              <a:lnSpc>
                <a:spcPct val="150000"/>
              </a:lnSpc>
              <a:buAutoNum type="arabicPeriod" startAt="3"/>
            </a:pPr>
            <a:endParaRPr lang="en-US" sz="1800" dirty="0">
              <a:latin typeface="Calibri" pitchFamily="34" charset="0"/>
              <a:cs typeface="Calibri" pitchFamily="34" charset="0"/>
            </a:endParaRPr>
          </a:p>
          <a:p>
            <a:endParaRPr lang="en-US" dirty="0"/>
          </a:p>
        </p:txBody>
      </p:sp>
      <p:pic>
        <p:nvPicPr>
          <p:cNvPr id="4" name="Picture 3" descr="https://www.gatevidyalay.com/wp-content/uploads/2018/09/3-Way-Handshake-Step-03-ACK.png"/>
          <p:cNvPicPr/>
          <p:nvPr/>
        </p:nvPicPr>
        <p:blipFill>
          <a:blip r:embed="rId3"/>
          <a:srcRect/>
          <a:stretch>
            <a:fillRect/>
          </a:stretch>
        </p:blipFill>
        <p:spPr bwMode="auto">
          <a:xfrm>
            <a:off x="7739074" y="785795"/>
            <a:ext cx="2643206" cy="536257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11156"/>
          </a:xfrm>
        </p:spPr>
        <p:txBody>
          <a:bodyPr/>
          <a:lstStyle/>
          <a:p>
            <a:pPr algn="l">
              <a:buFont typeface="Arial" pitchFamily="34" charset="0"/>
              <a:buChar char="•"/>
            </a:pPr>
            <a:r>
              <a:rPr lang="en-US" sz="2400" dirty="0">
                <a:latin typeface="Calibri" pitchFamily="34" charset="0"/>
                <a:cs typeface="Calibri" pitchFamily="34" charset="0"/>
              </a:rPr>
              <a:t>   4.2.4 Four Way Handshake/TCP connection Release:</a:t>
            </a:r>
          </a:p>
        </p:txBody>
      </p:sp>
      <p:sp>
        <p:nvSpPr>
          <p:cNvPr id="3" name="Content Placeholder 2"/>
          <p:cNvSpPr>
            <a:spLocks noGrp="1"/>
          </p:cNvSpPr>
          <p:nvPr>
            <p:ph idx="1"/>
          </p:nvPr>
        </p:nvSpPr>
        <p:spPr>
          <a:xfrm>
            <a:off x="0" y="785794"/>
            <a:ext cx="8229600" cy="5751484"/>
          </a:xfrm>
        </p:spPr>
        <p:txBody>
          <a:bodyPr>
            <a:normAutofit fontScale="70000" lnSpcReduction="20000"/>
          </a:bodyPr>
          <a:lstStyle/>
          <a:p>
            <a:pPr algn="just">
              <a:lnSpc>
                <a:spcPct val="170000"/>
              </a:lnSpc>
            </a:pPr>
            <a:r>
              <a:rPr lang="en-US" sz="2600" dirty="0"/>
              <a:t>Suppose, the client needs to send some data to the server, it will be sent through a TCP. </a:t>
            </a:r>
          </a:p>
          <a:p>
            <a:pPr algn="just">
              <a:lnSpc>
                <a:spcPct val="170000"/>
              </a:lnSpc>
            </a:pPr>
            <a:r>
              <a:rPr lang="en-US" sz="2600" dirty="0"/>
              <a:t>TCP create a connection between the client and the server. Once the connection is successfully established and the data is transferred to the server. Thus, the next step will be to close the connection. </a:t>
            </a:r>
          </a:p>
          <a:p>
            <a:pPr algn="just" fontAlgn="base">
              <a:lnSpc>
                <a:spcPct val="170000"/>
              </a:lnSpc>
            </a:pPr>
            <a:r>
              <a:rPr lang="en-US" sz="2600" dirty="0"/>
              <a:t>To terminate an established TCP connection, TCP uses Four Way Handshake method.</a:t>
            </a:r>
          </a:p>
          <a:p>
            <a:pPr algn="just" fontAlgn="base">
              <a:lnSpc>
                <a:spcPct val="170000"/>
              </a:lnSpc>
            </a:pPr>
            <a:r>
              <a:rPr lang="en-US" sz="2600" dirty="0"/>
              <a:t>The following 4 TCP packets are needed to be exchanged. </a:t>
            </a:r>
          </a:p>
          <a:p>
            <a:pPr fontAlgn="base">
              <a:lnSpc>
                <a:spcPct val="170000"/>
              </a:lnSpc>
              <a:buNone/>
            </a:pPr>
            <a:r>
              <a:rPr lang="en-US" sz="2600" dirty="0"/>
              <a:t>1. 	Host A → Host B: FIN flag set.</a:t>
            </a:r>
          </a:p>
          <a:p>
            <a:pPr fontAlgn="base">
              <a:lnSpc>
                <a:spcPct val="170000"/>
              </a:lnSpc>
              <a:buNone/>
            </a:pPr>
            <a:r>
              <a:rPr lang="en-US" sz="2600" dirty="0"/>
              <a:t>2. 	Host B → Host A: ACK flag set.</a:t>
            </a:r>
          </a:p>
          <a:p>
            <a:pPr fontAlgn="base">
              <a:lnSpc>
                <a:spcPct val="170000"/>
              </a:lnSpc>
              <a:buNone/>
            </a:pPr>
            <a:r>
              <a:rPr lang="en-US" sz="2600" dirty="0"/>
              <a:t>3. 	Host B → Host A: FIN flag set.</a:t>
            </a:r>
          </a:p>
          <a:p>
            <a:pPr fontAlgn="base">
              <a:lnSpc>
                <a:spcPct val="170000"/>
              </a:lnSpc>
              <a:buNone/>
            </a:pPr>
            <a:r>
              <a:rPr lang="en-US" sz="2600" dirty="0"/>
              <a:t>4. 	Host A → Host B: ACK flag set.</a:t>
            </a:r>
          </a:p>
          <a:p>
            <a:pPr algn="just">
              <a:lnSpc>
                <a:spcPct val="150000"/>
              </a:lnSpc>
              <a:buNone/>
            </a:pPr>
            <a:endParaRPr lang="en-US" dirty="0"/>
          </a:p>
        </p:txBody>
      </p:sp>
      <p:pic>
        <p:nvPicPr>
          <p:cNvPr id="4" name="Picture 3" descr="https://www.gatevidyalay.com/wp-content/uploads/2018/09/3-Way-Handshake-Step-03-ACK.png">
            <a:extLst>
              <a:ext uri="{FF2B5EF4-FFF2-40B4-BE49-F238E27FC236}">
                <a16:creationId xmlns:a16="http://schemas.microsoft.com/office/drawing/2014/main" id="{C2CB00B2-FAA3-CB4F-AE9F-1E178EB4A5C7}"/>
              </a:ext>
            </a:extLst>
          </p:cNvPr>
          <p:cNvPicPr/>
          <p:nvPr/>
        </p:nvPicPr>
        <p:blipFill>
          <a:blip r:embed="rId2"/>
          <a:srcRect/>
          <a:stretch>
            <a:fillRect/>
          </a:stretch>
        </p:blipFill>
        <p:spPr bwMode="auto">
          <a:xfrm>
            <a:off x="9293554" y="1375075"/>
            <a:ext cx="2643206" cy="536257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11156"/>
          </a:xfrm>
        </p:spPr>
        <p:txBody>
          <a:bodyPr>
            <a:normAutofit fontScale="90000"/>
          </a:bodyPr>
          <a:lstStyle/>
          <a:p>
            <a:pPr algn="l">
              <a:buFont typeface="Arial" pitchFamily="34" charset="0"/>
              <a:buChar char="•"/>
            </a:pPr>
            <a:r>
              <a:rPr lang="en-US" sz="2400" dirty="0">
                <a:latin typeface="Calibri" pitchFamily="34" charset="0"/>
                <a:cs typeface="Calibri" pitchFamily="34" charset="0"/>
              </a:rPr>
              <a:t>   Four Way Handshake/TCP connection Release:         (Continue….)</a:t>
            </a:r>
          </a:p>
        </p:txBody>
      </p:sp>
      <p:sp>
        <p:nvSpPr>
          <p:cNvPr id="3" name="Content Placeholder 2"/>
          <p:cNvSpPr>
            <a:spLocks noGrp="1"/>
          </p:cNvSpPr>
          <p:nvPr>
            <p:ph idx="1"/>
          </p:nvPr>
        </p:nvSpPr>
        <p:spPr>
          <a:xfrm>
            <a:off x="0" y="785794"/>
            <a:ext cx="8229600" cy="5505824"/>
          </a:xfrm>
        </p:spPr>
        <p:txBody>
          <a:bodyPr>
            <a:normAutofit fontScale="62500" lnSpcReduction="20000"/>
          </a:bodyPr>
          <a:lstStyle/>
          <a:p>
            <a:pPr algn="just" fontAlgn="base">
              <a:lnSpc>
                <a:spcPct val="170000"/>
              </a:lnSpc>
            </a:pPr>
            <a:r>
              <a:rPr lang="en-US" sz="2600" dirty="0"/>
              <a:t>These 4 steps are known as a TCP 4-way handshake, which is necessary to terminate a TCP connection.</a:t>
            </a:r>
          </a:p>
          <a:p>
            <a:pPr algn="just" fontAlgn="base">
              <a:lnSpc>
                <a:spcPct val="170000"/>
              </a:lnSpc>
            </a:pPr>
            <a:r>
              <a:rPr lang="en-US" sz="2600" dirty="0"/>
              <a:t> For the termination of the established TCP connection, the following steps are necessary for the process. Which are given down below:</a:t>
            </a:r>
          </a:p>
          <a:p>
            <a:pPr algn="just" fontAlgn="base">
              <a:lnSpc>
                <a:spcPct val="170000"/>
              </a:lnSpc>
              <a:buNone/>
            </a:pPr>
            <a:r>
              <a:rPr lang="en-US" sz="2600" dirty="0"/>
              <a:t>Step 1: Firstly, from one side of the connection, either from the client or the server the FIN flag will be sent as the request for the termination of the connection.</a:t>
            </a:r>
          </a:p>
          <a:p>
            <a:pPr algn="just" fontAlgn="base">
              <a:lnSpc>
                <a:spcPct val="170000"/>
              </a:lnSpc>
              <a:buNone/>
            </a:pPr>
            <a:r>
              <a:rPr lang="en-US" sz="2600" dirty="0"/>
              <a:t>Step 2: In the second step, whoever receives the FIN flag will then be sending an ACK flag as the acknowledgment for the closing request to the other side.</a:t>
            </a:r>
          </a:p>
          <a:p>
            <a:pPr algn="just" fontAlgn="base">
              <a:lnSpc>
                <a:spcPct val="170000"/>
              </a:lnSpc>
              <a:buNone/>
            </a:pPr>
            <a:r>
              <a:rPr lang="en-US" sz="2600" dirty="0"/>
              <a:t>Step3 : And, at the Later step, the server will also send a FIN flag as the closing signal to the other side.</a:t>
            </a:r>
          </a:p>
          <a:p>
            <a:pPr algn="just" fontAlgn="base">
              <a:lnSpc>
                <a:spcPct val="170000"/>
              </a:lnSpc>
              <a:buNone/>
            </a:pPr>
            <a:r>
              <a:rPr lang="en-US" sz="2600" dirty="0"/>
              <a:t>Step 4: In the final step, the TCP, who received the final FIN flag, will be sending an ACK flag as the final Acknowledgement for the suggested connection closing.</a:t>
            </a:r>
          </a:p>
          <a:p>
            <a:pPr algn="just">
              <a:lnSpc>
                <a:spcPct val="150000"/>
              </a:lnSpc>
            </a:pPr>
            <a:endParaRPr lang="en-US" dirty="0"/>
          </a:p>
        </p:txBody>
      </p:sp>
      <p:pic>
        <p:nvPicPr>
          <p:cNvPr id="4" name="Content Placeholder 3" descr="Lightbox">
            <a:extLst>
              <a:ext uri="{FF2B5EF4-FFF2-40B4-BE49-F238E27FC236}">
                <a16:creationId xmlns:a16="http://schemas.microsoft.com/office/drawing/2014/main" id="{68FAD36A-BD94-316C-F2A9-88E0204F74DE}"/>
              </a:ext>
            </a:extLst>
          </p:cNvPr>
          <p:cNvPicPr>
            <a:picLocks/>
          </p:cNvPicPr>
          <p:nvPr/>
        </p:nvPicPr>
        <p:blipFill>
          <a:blip r:embed="rId2"/>
          <a:srcRect/>
          <a:stretch>
            <a:fillRect/>
          </a:stretch>
        </p:blipFill>
        <p:spPr bwMode="auto">
          <a:xfrm>
            <a:off x="7990461" y="2449691"/>
            <a:ext cx="3866259" cy="217803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11156"/>
          </a:xfrm>
        </p:spPr>
        <p:txBody>
          <a:bodyPr>
            <a:normAutofit fontScale="90000"/>
          </a:bodyPr>
          <a:lstStyle/>
          <a:p>
            <a:pPr algn="l">
              <a:buFont typeface="Arial" pitchFamily="34" charset="0"/>
              <a:buChar char="•"/>
            </a:pPr>
            <a:r>
              <a:rPr lang="en-US" sz="2400" dirty="0">
                <a:latin typeface="Calibri" pitchFamily="34" charset="0"/>
                <a:cs typeface="Calibri" pitchFamily="34" charset="0"/>
              </a:rPr>
              <a:t>   Four Way Handshake/TCP connection Release:         (Continue….)</a:t>
            </a:r>
          </a:p>
        </p:txBody>
      </p:sp>
      <p:sp>
        <p:nvSpPr>
          <p:cNvPr id="3" name="Content Placeholder 2"/>
          <p:cNvSpPr>
            <a:spLocks noGrp="1"/>
          </p:cNvSpPr>
          <p:nvPr>
            <p:ph idx="1"/>
          </p:nvPr>
        </p:nvSpPr>
        <p:spPr>
          <a:xfrm>
            <a:off x="152400" y="1352176"/>
            <a:ext cx="8229600" cy="5505824"/>
          </a:xfrm>
        </p:spPr>
        <p:txBody>
          <a:bodyPr>
            <a:normAutofit/>
          </a:bodyPr>
          <a:lstStyle/>
          <a:p>
            <a:pPr algn="just" fontAlgn="base"/>
            <a:r>
              <a:rPr lang="en-US" sz="2000" dirty="0"/>
              <a:t>Since the Four main steps are required to close an active connection, so, it is called a four-way handshake. The process is as shown in following figure.</a:t>
            </a:r>
          </a:p>
          <a:p>
            <a:pPr algn="ctr" fontAlgn="base">
              <a:buNone/>
            </a:pPr>
            <a:r>
              <a:rPr lang="en-IN" sz="2000" dirty="0"/>
              <a:t>Figure: Four Way Handshake in TCP</a:t>
            </a:r>
            <a:endParaRPr lang="en-US" sz="2000" dirty="0"/>
          </a:p>
        </p:txBody>
      </p:sp>
      <p:pic>
        <p:nvPicPr>
          <p:cNvPr id="4" name="Content Placeholder 3" descr="Lightbox"/>
          <p:cNvPicPr>
            <a:picLocks/>
          </p:cNvPicPr>
          <p:nvPr/>
        </p:nvPicPr>
        <p:blipFill>
          <a:blip r:embed="rId2"/>
          <a:srcRect/>
          <a:stretch>
            <a:fillRect/>
          </a:stretch>
        </p:blipFill>
        <p:spPr bwMode="auto">
          <a:xfrm>
            <a:off x="1609981" y="2942610"/>
            <a:ext cx="6373504" cy="3166281"/>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03535"/>
          </a:xfrm>
        </p:spPr>
        <p:txBody>
          <a:bodyPr>
            <a:normAutofit fontScale="90000"/>
          </a:bodyPr>
          <a:lstStyle/>
          <a:p>
            <a:pPr algn="just"/>
            <a:r>
              <a:rPr lang="en-US" sz="2400" dirty="0">
                <a:latin typeface="Calibri" pitchFamily="34" charset="0"/>
                <a:cs typeface="Calibri" pitchFamily="34" charset="0"/>
              </a:rPr>
              <a:t> Q. Explain what happens when 2 hosts simultaneously try to establish a connection in </a:t>
            </a:r>
            <a:r>
              <a:rPr lang="en-US" sz="2400" dirty="0" err="1">
                <a:latin typeface="Calibri" pitchFamily="34" charset="0"/>
                <a:cs typeface="Calibri" pitchFamily="34" charset="0"/>
              </a:rPr>
              <a:t>tcp</a:t>
            </a:r>
            <a:r>
              <a:rPr lang="en-US" sz="2400" dirty="0">
                <a:latin typeface="Calibri" pitchFamily="34" charset="0"/>
                <a:cs typeface="Calibri" pitchFamily="34" charset="0"/>
              </a:rPr>
              <a:t>.</a:t>
            </a:r>
          </a:p>
        </p:txBody>
      </p:sp>
      <p:sp>
        <p:nvSpPr>
          <p:cNvPr id="3" name="Content Placeholder 2"/>
          <p:cNvSpPr>
            <a:spLocks noGrp="1"/>
          </p:cNvSpPr>
          <p:nvPr>
            <p:ph idx="1"/>
          </p:nvPr>
        </p:nvSpPr>
        <p:spPr>
          <a:xfrm>
            <a:off x="-71120" y="1397213"/>
            <a:ext cx="12151360" cy="5186149"/>
          </a:xfrm>
        </p:spPr>
        <p:txBody>
          <a:bodyPr>
            <a:normAutofit/>
          </a:bodyPr>
          <a:lstStyle/>
          <a:p>
            <a:pPr algn="just" fontAlgn="base"/>
            <a:r>
              <a:rPr lang="en-US" sz="2000" dirty="0"/>
              <a:t>If two hosts try to establish a connection simultaneously between the same two sockets, then the events sequence is demonstrated in the figure under such circumstances. </a:t>
            </a:r>
            <a:r>
              <a:rPr lang="en-US" sz="2000" dirty="0">
                <a:solidFill>
                  <a:srgbClr val="FF0000"/>
                </a:solidFill>
              </a:rPr>
              <a:t>Only one connection is established. </a:t>
            </a:r>
            <a:r>
              <a:rPr lang="en-US" sz="2000" dirty="0"/>
              <a:t>It cannot select both the links because their endpoints identify connections.</a:t>
            </a:r>
          </a:p>
        </p:txBody>
      </p:sp>
      <p:pic>
        <p:nvPicPr>
          <p:cNvPr id="5" name="Picture 4" descr="https://www.tutorialspoint.com/assets/questions/media/51930/Page-68-Image-113.jpg"/>
          <p:cNvPicPr/>
          <p:nvPr/>
        </p:nvPicPr>
        <p:blipFill>
          <a:blip r:embed="rId2"/>
          <a:srcRect/>
          <a:stretch>
            <a:fillRect/>
          </a:stretch>
        </p:blipFill>
        <p:spPr bwMode="auto">
          <a:xfrm>
            <a:off x="2348856" y="2993258"/>
            <a:ext cx="5943600" cy="3029802"/>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35046"/>
          </a:xfrm>
        </p:spPr>
        <p:txBody>
          <a:bodyPr>
            <a:normAutofit fontScale="90000"/>
          </a:bodyPr>
          <a:lstStyle/>
          <a:p>
            <a:pPr algn="just"/>
            <a:r>
              <a:rPr lang="en-US" sz="2400" dirty="0">
                <a:latin typeface="Calibri" pitchFamily="34" charset="0"/>
                <a:cs typeface="Calibri" pitchFamily="34" charset="0"/>
              </a:rPr>
              <a:t> 4.2.5 TCP State Transition Diagram:</a:t>
            </a:r>
          </a:p>
        </p:txBody>
      </p:sp>
      <p:sp>
        <p:nvSpPr>
          <p:cNvPr id="3" name="Content Placeholder 2"/>
          <p:cNvSpPr>
            <a:spLocks noGrp="1"/>
          </p:cNvSpPr>
          <p:nvPr>
            <p:ph idx="1"/>
          </p:nvPr>
        </p:nvSpPr>
        <p:spPr>
          <a:xfrm>
            <a:off x="132080" y="1529763"/>
            <a:ext cx="11927840" cy="5513695"/>
          </a:xfrm>
        </p:spPr>
        <p:txBody>
          <a:bodyPr>
            <a:normAutofit/>
          </a:bodyPr>
          <a:lstStyle/>
          <a:p>
            <a:pPr algn="just" fontAlgn="base">
              <a:lnSpc>
                <a:spcPct val="150000"/>
              </a:lnSpc>
            </a:pPr>
            <a:r>
              <a:rPr lang="en-US" sz="1800" dirty="0"/>
              <a:t>To observe the events happening during connection establishment, connection termination, and data transfer, TCP is specified as the finite state machine (FSM) as shown in Figure 4.2.5.1.</a:t>
            </a:r>
          </a:p>
          <a:p>
            <a:pPr algn="just" fontAlgn="base">
              <a:lnSpc>
                <a:spcPct val="150000"/>
              </a:lnSpc>
            </a:pPr>
            <a:r>
              <a:rPr lang="en-US" sz="1800" dirty="0"/>
              <a:t> Here two FSMs used by the TCP client and server combined in one diagram. </a:t>
            </a:r>
          </a:p>
          <a:p>
            <a:pPr algn="just" fontAlgn="base">
              <a:lnSpc>
                <a:spcPct val="150000"/>
              </a:lnSpc>
            </a:pPr>
            <a:r>
              <a:rPr lang="en-US" sz="1800" dirty="0"/>
              <a:t>The rounded-corner rectangles represent the states. The transition from one state to another is shown using directed lines. Each line has two strings separated by a slash. The first string is the input, what TCP receives. The second is the output, what TCP sends. </a:t>
            </a:r>
          </a:p>
          <a:p>
            <a:pPr algn="just" fontAlgn="base">
              <a:lnSpc>
                <a:spcPct val="150000"/>
              </a:lnSpc>
            </a:pPr>
            <a:r>
              <a:rPr lang="en-US" sz="1800" dirty="0"/>
              <a:t>The dotted black lines in the figure represent the transition that a server normally goes through; the solid black lines show the transitions that a client normally goes through. In some situations, a server transitions through a solid line or a client transitions through a dotted line.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435046"/>
          </a:xfrm>
        </p:spPr>
        <p:txBody>
          <a:bodyPr>
            <a:normAutofit fontScale="90000"/>
          </a:bodyPr>
          <a:lstStyle/>
          <a:p>
            <a:pPr algn="just"/>
            <a:r>
              <a:rPr lang="en-US" sz="2400" dirty="0">
                <a:latin typeface="Calibri" pitchFamily="34" charset="0"/>
                <a:cs typeface="Calibri" pitchFamily="34" charset="0"/>
              </a:rPr>
              <a:t> </a:t>
            </a:r>
            <a:r>
              <a:rPr lang="en-US" sz="2200" dirty="0">
                <a:latin typeface="Calibri" pitchFamily="34" charset="0"/>
                <a:cs typeface="Calibri" pitchFamily="34" charset="0"/>
              </a:rPr>
              <a:t>4.2.5 TCP State Transition Diagram:		   (Continue……)</a:t>
            </a:r>
          </a:p>
        </p:txBody>
      </p:sp>
      <p:sp>
        <p:nvSpPr>
          <p:cNvPr id="3" name="Content Placeholder 2"/>
          <p:cNvSpPr>
            <a:spLocks noGrp="1"/>
          </p:cNvSpPr>
          <p:nvPr>
            <p:ph idx="1"/>
          </p:nvPr>
        </p:nvSpPr>
        <p:spPr>
          <a:xfrm>
            <a:off x="1981200" y="382138"/>
            <a:ext cx="8229600" cy="5909480"/>
          </a:xfrm>
        </p:spPr>
        <p:txBody>
          <a:bodyPr>
            <a:normAutofit/>
          </a:bodyPr>
          <a:lstStyle/>
          <a:p>
            <a:pPr algn="just" fontAlgn="base"/>
            <a:r>
              <a:rPr lang="en-US" sz="1600" dirty="0"/>
              <a:t>The colored lines show special situations. The rounded-corner rectangle marked ESTABLISHED has two sets of states, a set for the client and another for the server, that are used for flow and error control. </a:t>
            </a:r>
          </a:p>
          <a:p>
            <a:pPr algn="just" fontAlgn="base"/>
            <a:r>
              <a:rPr lang="en-IN" sz="1800" dirty="0"/>
              <a:t>The total eleven states in such a state machine are given in following table.</a:t>
            </a:r>
            <a:endParaRPr lang="en-US" sz="1800" dirty="0"/>
          </a:p>
        </p:txBody>
      </p:sp>
      <p:graphicFrame>
        <p:nvGraphicFramePr>
          <p:cNvPr id="4" name="Table 3"/>
          <p:cNvGraphicFramePr>
            <a:graphicFrameLocks noGrp="1"/>
          </p:cNvGraphicFramePr>
          <p:nvPr/>
        </p:nvGraphicFramePr>
        <p:xfrm>
          <a:off x="2643117" y="1765489"/>
          <a:ext cx="6974007" cy="4953000"/>
        </p:xfrm>
        <a:graphic>
          <a:graphicData uri="http://schemas.openxmlformats.org/drawingml/2006/table">
            <a:tbl>
              <a:tblPr firstRow="1" bandRow="1"/>
              <a:tblGrid>
                <a:gridCol w="777923">
                  <a:extLst>
                    <a:ext uri="{9D8B030D-6E8A-4147-A177-3AD203B41FA5}">
                      <a16:colId xmlns:a16="http://schemas.microsoft.com/office/drawing/2014/main" val="20000"/>
                    </a:ext>
                  </a:extLst>
                </a:gridCol>
                <a:gridCol w="1255358">
                  <a:extLst>
                    <a:ext uri="{9D8B030D-6E8A-4147-A177-3AD203B41FA5}">
                      <a16:colId xmlns:a16="http://schemas.microsoft.com/office/drawing/2014/main" val="20001"/>
                    </a:ext>
                  </a:extLst>
                </a:gridCol>
                <a:gridCol w="4940726">
                  <a:extLst>
                    <a:ext uri="{9D8B030D-6E8A-4147-A177-3AD203B41FA5}">
                      <a16:colId xmlns:a16="http://schemas.microsoft.com/office/drawing/2014/main" val="20002"/>
                    </a:ext>
                  </a:extLst>
                </a:gridCol>
              </a:tblGrid>
              <a:tr h="370840">
                <a:tc>
                  <a:txBody>
                    <a:bodyPr/>
                    <a:lstStyle/>
                    <a:p>
                      <a:pPr algn="ctr"/>
                      <a:r>
                        <a:rPr lang="en-IN" sz="1600" b="1" dirty="0">
                          <a:solidFill>
                            <a:schemeClr val="bg1"/>
                          </a:solidFill>
                        </a:rPr>
                        <a:t>Sr. No.</a:t>
                      </a:r>
                      <a:endParaRPr lang="en-US" sz="1600" b="1" dirty="0">
                        <a:solidFill>
                          <a:schemeClr val="bg1"/>
                        </a:solidFill>
                      </a:endParaRPr>
                    </a:p>
                  </a:txBody>
                  <a:tcPr/>
                </a:tc>
                <a:tc>
                  <a:txBody>
                    <a:bodyPr/>
                    <a:lstStyle/>
                    <a:p>
                      <a:pPr algn="l"/>
                      <a:r>
                        <a:rPr lang="en-IN" sz="1600" b="1" dirty="0">
                          <a:solidFill>
                            <a:schemeClr val="bg1"/>
                          </a:solidFill>
                        </a:rPr>
                        <a:t>State</a:t>
                      </a:r>
                      <a:endParaRPr lang="en-US" sz="1600" b="1" dirty="0">
                        <a:solidFill>
                          <a:schemeClr val="bg1"/>
                        </a:solidFill>
                      </a:endParaRPr>
                    </a:p>
                  </a:txBody>
                  <a:tcPr/>
                </a:tc>
                <a:tc>
                  <a:txBody>
                    <a:bodyPr/>
                    <a:lstStyle/>
                    <a:p>
                      <a:pPr algn="l"/>
                      <a:r>
                        <a:rPr lang="en-IN" sz="1600" b="1" dirty="0">
                          <a:solidFill>
                            <a:schemeClr val="bg1"/>
                          </a:solidFill>
                        </a:rPr>
                        <a:t>Description</a:t>
                      </a:r>
                      <a:endParaRPr lang="en-US" sz="1600" b="1" dirty="0">
                        <a:solidFill>
                          <a:schemeClr val="bg1"/>
                        </a:solidFill>
                      </a:endParaRPr>
                    </a:p>
                  </a:txBody>
                  <a:tcPr/>
                </a:tc>
                <a:extLst>
                  <a:ext uri="{0D108BD9-81ED-4DB2-BD59-A6C34878D82A}">
                    <a16:rowId xmlns:a16="http://schemas.microsoft.com/office/drawing/2014/main" val="10000"/>
                  </a:ext>
                </a:extLst>
              </a:tr>
              <a:tr h="370840">
                <a:tc>
                  <a:txBody>
                    <a:bodyPr/>
                    <a:lstStyle/>
                    <a:p>
                      <a:pPr algn="ctr"/>
                      <a:r>
                        <a:rPr lang="en-IN" dirty="0"/>
                        <a:t>1</a:t>
                      </a:r>
                      <a:endParaRPr lang="en-US" dirty="0"/>
                    </a:p>
                  </a:txBody>
                  <a:tcPr/>
                </a:tc>
                <a:tc>
                  <a:txBody>
                    <a:bodyPr/>
                    <a:lstStyle/>
                    <a:p>
                      <a:r>
                        <a:rPr lang="en-IN" dirty="0"/>
                        <a:t>CLOSED</a:t>
                      </a:r>
                      <a:endParaRPr lang="en-US" dirty="0"/>
                    </a:p>
                  </a:txBody>
                  <a:tcPr/>
                </a:tc>
                <a:tc>
                  <a:txBody>
                    <a:bodyPr/>
                    <a:lstStyle/>
                    <a:p>
                      <a:r>
                        <a:rPr lang="en-IN" dirty="0"/>
                        <a:t>No connection</a:t>
                      </a:r>
                      <a:r>
                        <a:rPr lang="en-IN" baseline="0" dirty="0"/>
                        <a:t> exists</a:t>
                      </a:r>
                      <a:endParaRPr lang="en-US" dirty="0"/>
                    </a:p>
                  </a:txBody>
                  <a:tcPr/>
                </a:tc>
                <a:extLst>
                  <a:ext uri="{0D108BD9-81ED-4DB2-BD59-A6C34878D82A}">
                    <a16:rowId xmlns:a16="http://schemas.microsoft.com/office/drawing/2014/main" val="10001"/>
                  </a:ext>
                </a:extLst>
              </a:tr>
              <a:tr h="370840">
                <a:tc>
                  <a:txBody>
                    <a:bodyPr/>
                    <a:lstStyle/>
                    <a:p>
                      <a:pPr algn="ctr"/>
                      <a:r>
                        <a:rPr lang="en-IN" dirty="0"/>
                        <a:t>2</a:t>
                      </a:r>
                      <a:endParaRPr lang="en-US" dirty="0"/>
                    </a:p>
                  </a:txBody>
                  <a:tcPr/>
                </a:tc>
                <a:tc>
                  <a:txBody>
                    <a:bodyPr/>
                    <a:lstStyle/>
                    <a:p>
                      <a:r>
                        <a:rPr lang="en-IN" dirty="0"/>
                        <a:t>LISTEN</a:t>
                      </a:r>
                      <a:endParaRPr lang="en-US" dirty="0"/>
                    </a:p>
                  </a:txBody>
                  <a:tcPr/>
                </a:tc>
                <a:tc>
                  <a:txBody>
                    <a:bodyPr/>
                    <a:lstStyle/>
                    <a:p>
                      <a:r>
                        <a:rPr lang="en-IN" dirty="0"/>
                        <a:t>Passive open received; waiting for SYN</a:t>
                      </a:r>
                      <a:endParaRPr lang="en-US" dirty="0"/>
                    </a:p>
                  </a:txBody>
                  <a:tcPr/>
                </a:tc>
                <a:extLst>
                  <a:ext uri="{0D108BD9-81ED-4DB2-BD59-A6C34878D82A}">
                    <a16:rowId xmlns:a16="http://schemas.microsoft.com/office/drawing/2014/main" val="10002"/>
                  </a:ext>
                </a:extLst>
              </a:tr>
              <a:tr h="370840">
                <a:tc>
                  <a:txBody>
                    <a:bodyPr/>
                    <a:lstStyle/>
                    <a:p>
                      <a:pPr algn="ctr"/>
                      <a:r>
                        <a:rPr lang="en-IN" dirty="0"/>
                        <a:t>3</a:t>
                      </a:r>
                      <a:endParaRPr lang="en-US" dirty="0"/>
                    </a:p>
                  </a:txBody>
                  <a:tcPr/>
                </a:tc>
                <a:tc>
                  <a:txBody>
                    <a:bodyPr/>
                    <a:lstStyle/>
                    <a:p>
                      <a:r>
                        <a:rPr lang="en-IN" dirty="0"/>
                        <a:t>SYN-SENT</a:t>
                      </a:r>
                      <a:endParaRPr lang="en-US" dirty="0"/>
                    </a:p>
                  </a:txBody>
                  <a:tcPr/>
                </a:tc>
                <a:tc>
                  <a:txBody>
                    <a:bodyPr/>
                    <a:lstStyle/>
                    <a:p>
                      <a:r>
                        <a:rPr lang="en-IN" dirty="0"/>
                        <a:t>SYN sent; waiting</a:t>
                      </a:r>
                      <a:r>
                        <a:rPr lang="en-IN" baseline="0" dirty="0"/>
                        <a:t> for ACK</a:t>
                      </a:r>
                      <a:endParaRPr lang="en-US" dirty="0"/>
                    </a:p>
                  </a:txBody>
                  <a:tcPr/>
                </a:tc>
                <a:extLst>
                  <a:ext uri="{0D108BD9-81ED-4DB2-BD59-A6C34878D82A}">
                    <a16:rowId xmlns:a16="http://schemas.microsoft.com/office/drawing/2014/main" val="10003"/>
                  </a:ext>
                </a:extLst>
              </a:tr>
              <a:tr h="370840">
                <a:tc>
                  <a:txBody>
                    <a:bodyPr/>
                    <a:lstStyle/>
                    <a:p>
                      <a:pPr algn="ctr"/>
                      <a:r>
                        <a:rPr lang="en-IN" dirty="0"/>
                        <a:t>4</a:t>
                      </a:r>
                      <a:endParaRPr lang="en-US" dirty="0"/>
                    </a:p>
                  </a:txBody>
                  <a:tcPr/>
                </a:tc>
                <a:tc>
                  <a:txBody>
                    <a:bodyPr/>
                    <a:lstStyle/>
                    <a:p>
                      <a:r>
                        <a:rPr lang="en-IN" dirty="0"/>
                        <a:t>SYN-RCVD</a:t>
                      </a:r>
                      <a:endParaRPr lang="en-US" dirty="0"/>
                    </a:p>
                  </a:txBody>
                  <a:tcPr/>
                </a:tc>
                <a:tc>
                  <a:txBody>
                    <a:bodyPr/>
                    <a:lstStyle/>
                    <a:p>
                      <a:r>
                        <a:rPr lang="en-IN" dirty="0"/>
                        <a:t>SYN + ACK sent; waiting for ACK</a:t>
                      </a:r>
                      <a:endParaRPr lang="en-US" dirty="0"/>
                    </a:p>
                  </a:txBody>
                  <a:tcPr/>
                </a:tc>
                <a:extLst>
                  <a:ext uri="{0D108BD9-81ED-4DB2-BD59-A6C34878D82A}">
                    <a16:rowId xmlns:a16="http://schemas.microsoft.com/office/drawing/2014/main" val="10004"/>
                  </a:ext>
                </a:extLst>
              </a:tr>
              <a:tr h="370840">
                <a:tc>
                  <a:txBody>
                    <a:bodyPr/>
                    <a:lstStyle/>
                    <a:p>
                      <a:pPr algn="ctr"/>
                      <a:r>
                        <a:rPr lang="en-IN" dirty="0"/>
                        <a:t>5</a:t>
                      </a:r>
                      <a:endParaRPr lang="en-US" dirty="0"/>
                    </a:p>
                  </a:txBody>
                  <a:tcPr/>
                </a:tc>
                <a:tc>
                  <a:txBody>
                    <a:bodyPr/>
                    <a:lstStyle/>
                    <a:p>
                      <a:r>
                        <a:rPr lang="en-IN" dirty="0"/>
                        <a:t>ESTABLISHED</a:t>
                      </a:r>
                      <a:endParaRPr lang="en-US" dirty="0"/>
                    </a:p>
                  </a:txBody>
                  <a:tcPr/>
                </a:tc>
                <a:tc>
                  <a:txBody>
                    <a:bodyPr/>
                    <a:lstStyle/>
                    <a:p>
                      <a:r>
                        <a:rPr lang="en-IN" dirty="0"/>
                        <a:t>Connection established; data transfer in progress</a:t>
                      </a:r>
                      <a:endParaRPr lang="en-US" dirty="0"/>
                    </a:p>
                  </a:txBody>
                  <a:tcPr/>
                </a:tc>
                <a:extLst>
                  <a:ext uri="{0D108BD9-81ED-4DB2-BD59-A6C34878D82A}">
                    <a16:rowId xmlns:a16="http://schemas.microsoft.com/office/drawing/2014/main" val="10005"/>
                  </a:ext>
                </a:extLst>
              </a:tr>
              <a:tr h="370840">
                <a:tc>
                  <a:txBody>
                    <a:bodyPr/>
                    <a:lstStyle/>
                    <a:p>
                      <a:pPr algn="ctr"/>
                      <a:r>
                        <a:rPr lang="en-IN" dirty="0"/>
                        <a:t>6</a:t>
                      </a:r>
                      <a:endParaRPr lang="en-US" dirty="0"/>
                    </a:p>
                  </a:txBody>
                  <a:tcPr/>
                </a:tc>
                <a:tc>
                  <a:txBody>
                    <a:bodyPr/>
                    <a:lstStyle/>
                    <a:p>
                      <a:r>
                        <a:rPr lang="en-IN" dirty="0"/>
                        <a:t>FIN-WAIT-1</a:t>
                      </a:r>
                      <a:endParaRPr lang="en-US" dirty="0"/>
                    </a:p>
                  </a:txBody>
                  <a:tcPr/>
                </a:tc>
                <a:tc>
                  <a:txBody>
                    <a:bodyPr/>
                    <a:lstStyle/>
                    <a:p>
                      <a:r>
                        <a:rPr lang="en-IN" dirty="0"/>
                        <a:t>First FIN sent; waiting for ACK</a:t>
                      </a:r>
                      <a:endParaRPr lang="en-US" dirty="0"/>
                    </a:p>
                  </a:txBody>
                  <a:tcPr/>
                </a:tc>
                <a:extLst>
                  <a:ext uri="{0D108BD9-81ED-4DB2-BD59-A6C34878D82A}">
                    <a16:rowId xmlns:a16="http://schemas.microsoft.com/office/drawing/2014/main" val="10006"/>
                  </a:ext>
                </a:extLst>
              </a:tr>
              <a:tr h="370840">
                <a:tc>
                  <a:txBody>
                    <a:bodyPr/>
                    <a:lstStyle/>
                    <a:p>
                      <a:pPr algn="ctr"/>
                      <a:r>
                        <a:rPr lang="en-IN" dirty="0"/>
                        <a:t>7</a:t>
                      </a:r>
                      <a:endParaRPr lang="en-US" dirty="0"/>
                    </a:p>
                  </a:txBody>
                  <a:tcPr/>
                </a:tc>
                <a:tc>
                  <a:txBody>
                    <a:bodyPr/>
                    <a:lstStyle/>
                    <a:p>
                      <a:r>
                        <a:rPr lang="en-IN" dirty="0"/>
                        <a:t>FIN-WAIT-2</a:t>
                      </a:r>
                      <a:endParaRPr lang="en-US" dirty="0"/>
                    </a:p>
                  </a:txBody>
                  <a:tcPr/>
                </a:tc>
                <a:tc>
                  <a:txBody>
                    <a:bodyPr/>
                    <a:lstStyle/>
                    <a:p>
                      <a:r>
                        <a:rPr lang="en-IN" dirty="0"/>
                        <a:t>ACK to first FIN received; waiting for second FIN</a:t>
                      </a:r>
                      <a:endParaRPr lang="en-US" dirty="0"/>
                    </a:p>
                  </a:txBody>
                  <a:tcPr/>
                </a:tc>
                <a:extLst>
                  <a:ext uri="{0D108BD9-81ED-4DB2-BD59-A6C34878D82A}">
                    <a16:rowId xmlns:a16="http://schemas.microsoft.com/office/drawing/2014/main" val="10007"/>
                  </a:ext>
                </a:extLst>
              </a:tr>
              <a:tr h="370840">
                <a:tc>
                  <a:txBody>
                    <a:bodyPr/>
                    <a:lstStyle/>
                    <a:p>
                      <a:pPr algn="ctr"/>
                      <a:r>
                        <a:rPr lang="en-IN" dirty="0"/>
                        <a:t>8</a:t>
                      </a:r>
                      <a:endParaRPr lang="en-US" dirty="0"/>
                    </a:p>
                  </a:txBody>
                  <a:tcPr/>
                </a:tc>
                <a:tc>
                  <a:txBody>
                    <a:bodyPr/>
                    <a:lstStyle/>
                    <a:p>
                      <a:r>
                        <a:rPr lang="en-IN" dirty="0"/>
                        <a:t>CLOSE-WAIT</a:t>
                      </a:r>
                      <a:endParaRPr lang="en-US" dirty="0"/>
                    </a:p>
                  </a:txBody>
                  <a:tcPr/>
                </a:tc>
                <a:tc>
                  <a:txBody>
                    <a:bodyPr/>
                    <a:lstStyle/>
                    <a:p>
                      <a:r>
                        <a:rPr lang="en-IN" dirty="0"/>
                        <a:t>First FIN</a:t>
                      </a:r>
                      <a:r>
                        <a:rPr lang="en-IN" baseline="0" dirty="0"/>
                        <a:t> received, ACK sent; waiting for application to close.</a:t>
                      </a:r>
                      <a:endParaRPr lang="en-US" dirty="0"/>
                    </a:p>
                  </a:txBody>
                  <a:tcPr/>
                </a:tc>
                <a:extLst>
                  <a:ext uri="{0D108BD9-81ED-4DB2-BD59-A6C34878D82A}">
                    <a16:rowId xmlns:a16="http://schemas.microsoft.com/office/drawing/2014/main" val="10008"/>
                  </a:ext>
                </a:extLst>
              </a:tr>
              <a:tr h="370840">
                <a:tc>
                  <a:txBody>
                    <a:bodyPr/>
                    <a:lstStyle/>
                    <a:p>
                      <a:pPr algn="ctr"/>
                      <a:r>
                        <a:rPr lang="en-IN" dirty="0"/>
                        <a:t>9</a:t>
                      </a:r>
                      <a:endParaRPr lang="en-US" dirty="0"/>
                    </a:p>
                  </a:txBody>
                  <a:tcPr/>
                </a:tc>
                <a:tc>
                  <a:txBody>
                    <a:bodyPr/>
                    <a:lstStyle/>
                    <a:p>
                      <a:r>
                        <a:rPr lang="en-IN" dirty="0"/>
                        <a:t>TIME-WAIT</a:t>
                      </a:r>
                      <a:endParaRPr lang="en-US" dirty="0"/>
                    </a:p>
                  </a:txBody>
                  <a:tcPr/>
                </a:tc>
                <a:tc>
                  <a:txBody>
                    <a:bodyPr/>
                    <a:lstStyle/>
                    <a:p>
                      <a:r>
                        <a:rPr lang="en-IN" dirty="0"/>
                        <a:t>Second</a:t>
                      </a:r>
                      <a:r>
                        <a:rPr lang="en-IN" baseline="0" dirty="0"/>
                        <a:t>  F</a:t>
                      </a:r>
                      <a:r>
                        <a:rPr lang="en-IN" dirty="0"/>
                        <a:t>IN</a:t>
                      </a:r>
                      <a:r>
                        <a:rPr lang="en-IN" baseline="0" dirty="0"/>
                        <a:t> received, ACK sent; waiting for 2MSL time-out.</a:t>
                      </a:r>
                      <a:endParaRPr lang="en-US" dirty="0"/>
                    </a:p>
                  </a:txBody>
                  <a:tcPr/>
                </a:tc>
                <a:extLst>
                  <a:ext uri="{0D108BD9-81ED-4DB2-BD59-A6C34878D82A}">
                    <a16:rowId xmlns:a16="http://schemas.microsoft.com/office/drawing/2014/main" val="10009"/>
                  </a:ext>
                </a:extLst>
              </a:tr>
              <a:tr h="370840">
                <a:tc>
                  <a:txBody>
                    <a:bodyPr/>
                    <a:lstStyle/>
                    <a:p>
                      <a:pPr algn="ctr"/>
                      <a:r>
                        <a:rPr lang="en-IN" dirty="0"/>
                        <a:t>10</a:t>
                      </a:r>
                      <a:endParaRPr lang="en-US" dirty="0"/>
                    </a:p>
                  </a:txBody>
                  <a:tcPr/>
                </a:tc>
                <a:tc>
                  <a:txBody>
                    <a:bodyPr/>
                    <a:lstStyle/>
                    <a:p>
                      <a:r>
                        <a:rPr lang="en-IN" dirty="0"/>
                        <a:t>LAST-ACK</a:t>
                      </a:r>
                      <a:endParaRPr lang="en-US" dirty="0"/>
                    </a:p>
                  </a:txBody>
                  <a:tcPr/>
                </a:tc>
                <a:tc>
                  <a:txBody>
                    <a:bodyPr/>
                    <a:lstStyle/>
                    <a:p>
                      <a:r>
                        <a:rPr lang="en-IN" dirty="0"/>
                        <a:t>Second FIN sent; waiting for ACK.</a:t>
                      </a:r>
                      <a:endParaRPr lang="en-US" dirty="0"/>
                    </a:p>
                  </a:txBody>
                  <a:tcPr/>
                </a:tc>
                <a:extLst>
                  <a:ext uri="{0D108BD9-81ED-4DB2-BD59-A6C34878D82A}">
                    <a16:rowId xmlns:a16="http://schemas.microsoft.com/office/drawing/2014/main" val="10010"/>
                  </a:ext>
                </a:extLst>
              </a:tr>
              <a:tr h="370840">
                <a:tc>
                  <a:txBody>
                    <a:bodyPr/>
                    <a:lstStyle/>
                    <a:p>
                      <a:pPr algn="ctr"/>
                      <a:r>
                        <a:rPr lang="en-IN" dirty="0"/>
                        <a:t>11</a:t>
                      </a:r>
                      <a:endParaRPr lang="en-US" dirty="0"/>
                    </a:p>
                  </a:txBody>
                  <a:tcPr/>
                </a:tc>
                <a:tc>
                  <a:txBody>
                    <a:bodyPr/>
                    <a:lstStyle/>
                    <a:p>
                      <a:r>
                        <a:rPr lang="en-IN" dirty="0"/>
                        <a:t>CLOSING</a:t>
                      </a:r>
                      <a:endParaRPr lang="en-US" dirty="0"/>
                    </a:p>
                  </a:txBody>
                  <a:tcPr/>
                </a:tc>
                <a:tc>
                  <a:txBody>
                    <a:bodyPr/>
                    <a:lstStyle/>
                    <a:p>
                      <a:r>
                        <a:rPr lang="en-IN" dirty="0"/>
                        <a:t>Both sides</a:t>
                      </a:r>
                      <a:r>
                        <a:rPr lang="en-IN" baseline="0" dirty="0"/>
                        <a:t> decided to close simultaneous.</a:t>
                      </a:r>
                      <a:endParaRPr lang="en-US" dirty="0"/>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67158"/>
            <a:ext cx="8229600" cy="435046"/>
          </a:xfrm>
        </p:spPr>
        <p:txBody>
          <a:bodyPr>
            <a:normAutofit fontScale="90000"/>
          </a:bodyPr>
          <a:lstStyle/>
          <a:p>
            <a:pPr algn="just"/>
            <a:r>
              <a:rPr lang="en-US" sz="2400" dirty="0">
                <a:latin typeface="Calibri" pitchFamily="34" charset="0"/>
                <a:cs typeface="Calibri" pitchFamily="34" charset="0"/>
              </a:rPr>
              <a:t> </a:t>
            </a:r>
            <a:r>
              <a:rPr lang="en-US" sz="2200" dirty="0">
                <a:latin typeface="Calibri" pitchFamily="34" charset="0"/>
                <a:cs typeface="Calibri" pitchFamily="34" charset="0"/>
              </a:rPr>
              <a:t>4.2.5 TCP State Transition Diagram:		   (Continue……)</a:t>
            </a:r>
          </a:p>
        </p:txBody>
      </p:sp>
      <p:sp>
        <p:nvSpPr>
          <p:cNvPr id="3" name="Content Placeholder 2"/>
          <p:cNvSpPr>
            <a:spLocks noGrp="1"/>
          </p:cNvSpPr>
          <p:nvPr>
            <p:ph idx="1"/>
          </p:nvPr>
        </p:nvSpPr>
        <p:spPr>
          <a:xfrm>
            <a:off x="1879600" y="1225418"/>
            <a:ext cx="8229600" cy="5909480"/>
          </a:xfrm>
        </p:spPr>
        <p:txBody>
          <a:bodyPr>
            <a:normAutofit/>
          </a:bodyPr>
          <a:lstStyle/>
          <a:p>
            <a:pPr algn="ctr" fontAlgn="base">
              <a:buNone/>
            </a:pPr>
            <a:r>
              <a:rPr lang="en-IN" sz="1600" dirty="0"/>
              <a:t>Figure 4.2.5.1 TCP State Transition Diagram.</a:t>
            </a:r>
            <a:endParaRPr lang="en-US" sz="1800" dirty="0"/>
          </a:p>
        </p:txBody>
      </p:sp>
      <p:pic>
        <p:nvPicPr>
          <p:cNvPr id="6" name="Picture 5" descr="enter image description here"/>
          <p:cNvPicPr/>
          <p:nvPr/>
        </p:nvPicPr>
        <p:blipFill>
          <a:blip r:embed="rId2"/>
          <a:srcRect/>
          <a:stretch>
            <a:fillRect/>
          </a:stretch>
        </p:blipFill>
        <p:spPr bwMode="auto">
          <a:xfrm>
            <a:off x="3129117" y="1561240"/>
            <a:ext cx="5933766" cy="491462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435046"/>
          </a:xfrm>
        </p:spPr>
        <p:txBody>
          <a:bodyPr>
            <a:normAutofit fontScale="90000"/>
          </a:bodyPr>
          <a:lstStyle/>
          <a:p>
            <a:pPr algn="just"/>
            <a:r>
              <a:rPr lang="en-US" sz="2400" dirty="0">
                <a:latin typeface="Calibri" pitchFamily="34" charset="0"/>
                <a:cs typeface="Calibri" pitchFamily="34" charset="0"/>
              </a:rPr>
              <a:t> </a:t>
            </a:r>
            <a:r>
              <a:rPr lang="en-US" sz="2200" dirty="0">
                <a:latin typeface="Calibri" pitchFamily="34" charset="0"/>
                <a:cs typeface="Calibri" pitchFamily="34" charset="0"/>
              </a:rPr>
              <a:t>4.2.5 TCP State Transition Diagram:		   (Continue……)</a:t>
            </a:r>
          </a:p>
        </p:txBody>
      </p:sp>
      <p:sp>
        <p:nvSpPr>
          <p:cNvPr id="3" name="Content Placeholder 2"/>
          <p:cNvSpPr>
            <a:spLocks noGrp="1"/>
          </p:cNvSpPr>
          <p:nvPr>
            <p:ph idx="1"/>
          </p:nvPr>
        </p:nvSpPr>
        <p:spPr>
          <a:xfrm>
            <a:off x="0" y="1342954"/>
            <a:ext cx="11907520" cy="5326418"/>
          </a:xfrm>
        </p:spPr>
        <p:txBody>
          <a:bodyPr>
            <a:normAutofit fontScale="92500"/>
          </a:bodyPr>
          <a:lstStyle/>
          <a:p>
            <a:pPr algn="just" fontAlgn="base">
              <a:lnSpc>
                <a:spcPct val="150000"/>
              </a:lnSpc>
            </a:pPr>
            <a:r>
              <a:rPr lang="en-US" sz="1800" dirty="0"/>
              <a:t>Consider the scenario. Figure 4.2.5.2 shows the state transition diagram for this scenario. The client process issues an active open command to its TCP to request a connection to a specific socket address. </a:t>
            </a:r>
          </a:p>
          <a:p>
            <a:pPr algn="just" fontAlgn="base">
              <a:lnSpc>
                <a:spcPct val="150000"/>
              </a:lnSpc>
            </a:pPr>
            <a:r>
              <a:rPr lang="en-US" sz="1800" dirty="0"/>
              <a:t>TCP sends a SYN segment and moves to the SYN-SENT state. </a:t>
            </a:r>
          </a:p>
          <a:p>
            <a:pPr algn="just" fontAlgn="base">
              <a:lnSpc>
                <a:spcPct val="150000"/>
              </a:lnSpc>
            </a:pPr>
            <a:r>
              <a:rPr lang="en-US" sz="1800" dirty="0"/>
              <a:t>After receiving the SYN +ACK segment, TCP sends an ACK segment and goes to the ESTABLISHED state. Data are transferred, possibly in both directions, and acknowledged. </a:t>
            </a:r>
          </a:p>
          <a:p>
            <a:pPr algn="just" fontAlgn="base">
              <a:lnSpc>
                <a:spcPct val="150000"/>
              </a:lnSpc>
            </a:pPr>
            <a:r>
              <a:rPr lang="en-US" sz="1800" dirty="0"/>
              <a:t>When the client process has no more data to send, it issues a command called an active close. The TCP sends a FIN segment and goes to the FINWAIT1 state. When it receives the ACK segment, it goes to the FIN-WAIT-2 state.</a:t>
            </a:r>
          </a:p>
          <a:p>
            <a:pPr algn="just" fontAlgn="base">
              <a:lnSpc>
                <a:spcPct val="150000"/>
              </a:lnSpc>
            </a:pPr>
            <a:r>
              <a:rPr lang="en-US" sz="1800" dirty="0"/>
              <a:t> When the client receives a FIN segment, it sends an ACK segment and goes to the TIME-WAIT state. The client remains in this state for 2 MSL .MSL is the maximum time a TCP segment is expected to live, or stay in the network. When the corresponding timer expires, the client goes to the CLOSED state. The server process issues a passive open command. The server TCP goes to the LISTEN state and remains there passively until it receives a SYN segment.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435046"/>
          </a:xfrm>
        </p:spPr>
        <p:txBody>
          <a:bodyPr>
            <a:normAutofit fontScale="90000"/>
          </a:bodyPr>
          <a:lstStyle/>
          <a:p>
            <a:pPr algn="just"/>
            <a:r>
              <a:rPr lang="en-US" sz="2400" dirty="0">
                <a:latin typeface="Calibri" pitchFamily="34" charset="0"/>
                <a:cs typeface="Calibri" pitchFamily="34" charset="0"/>
              </a:rPr>
              <a:t> </a:t>
            </a:r>
            <a:r>
              <a:rPr lang="en-US" sz="2200" dirty="0">
                <a:latin typeface="Calibri" pitchFamily="34" charset="0"/>
                <a:cs typeface="Calibri" pitchFamily="34" charset="0"/>
              </a:rPr>
              <a:t>4.2.5 TCP State Transition Diagram:		   (Continue……)</a:t>
            </a:r>
          </a:p>
        </p:txBody>
      </p:sp>
      <p:sp>
        <p:nvSpPr>
          <p:cNvPr id="3" name="Content Placeholder 2"/>
          <p:cNvSpPr>
            <a:spLocks noGrp="1"/>
          </p:cNvSpPr>
          <p:nvPr>
            <p:ph idx="1"/>
          </p:nvPr>
        </p:nvSpPr>
        <p:spPr>
          <a:xfrm>
            <a:off x="121920" y="1334068"/>
            <a:ext cx="11948160" cy="5076891"/>
          </a:xfrm>
        </p:spPr>
        <p:txBody>
          <a:bodyPr>
            <a:normAutofit/>
          </a:bodyPr>
          <a:lstStyle/>
          <a:p>
            <a:pPr algn="just" fontAlgn="base">
              <a:lnSpc>
                <a:spcPct val="150000"/>
              </a:lnSpc>
            </a:pPr>
            <a:r>
              <a:rPr lang="en-US" sz="1800" dirty="0"/>
              <a:t>The TCP then sends a SYN +ACK segment and goes to the SYN-RCVD state, waiting for the client to send an ACK segment. After receiving the ACK segment, TCP goes to the ESTABLISHED state, where data transfer can take place. TCP remains in this state until it receives a FIN segment from the client signifying that there are no more data to be exchanged and the connection can be </a:t>
            </a:r>
            <a:r>
              <a:rPr lang="en-US" sz="1800" dirty="0" err="1"/>
              <a:t>closed.The</a:t>
            </a:r>
            <a:r>
              <a:rPr lang="en-US" sz="1800" dirty="0"/>
              <a:t> server, upon receiving the FIN segment, sends all queued data to the server with a virtual EOF marker, which means that the connection must be closed. It sends an ACK segment and goes to the CLOSEWAIT state, but postpones acknowledging the FIN segment received from the client until it receives a passive close command from its process. After receiving the passive close command, the server sends a FIN segment to the client and goes to the LASTACK state, waiting for the final ACK. When the ACK segment is received from the </a:t>
            </a:r>
            <a:r>
              <a:rPr lang="en-US" sz="1800" dirty="0" err="1"/>
              <a:t>client,the</a:t>
            </a:r>
            <a:r>
              <a:rPr lang="en-US" sz="1800" dirty="0"/>
              <a:t> server goes to the CLOSE state.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686860"/>
            <a:ext cx="8229600" cy="435046"/>
          </a:xfrm>
        </p:spPr>
        <p:txBody>
          <a:bodyPr>
            <a:normAutofit fontScale="90000"/>
          </a:bodyPr>
          <a:lstStyle/>
          <a:p>
            <a:pPr algn="just"/>
            <a:r>
              <a:rPr lang="en-US" sz="2400" dirty="0">
                <a:latin typeface="Calibri" pitchFamily="34" charset="0"/>
                <a:cs typeface="Calibri" pitchFamily="34" charset="0"/>
              </a:rPr>
              <a:t> </a:t>
            </a:r>
            <a:r>
              <a:rPr lang="en-US" sz="2200" dirty="0">
                <a:latin typeface="Calibri" pitchFamily="34" charset="0"/>
                <a:cs typeface="Calibri" pitchFamily="34" charset="0"/>
              </a:rPr>
              <a:t>4.2.5 TCP State Transition Diagram:		   (Continue……)</a:t>
            </a:r>
          </a:p>
        </p:txBody>
      </p:sp>
      <p:sp>
        <p:nvSpPr>
          <p:cNvPr id="3" name="Content Placeholder 2"/>
          <p:cNvSpPr>
            <a:spLocks noGrp="1"/>
          </p:cNvSpPr>
          <p:nvPr>
            <p:ph idx="1"/>
          </p:nvPr>
        </p:nvSpPr>
        <p:spPr>
          <a:xfrm>
            <a:off x="1812315" y="1814698"/>
            <a:ext cx="8229600" cy="5909480"/>
          </a:xfrm>
        </p:spPr>
        <p:txBody>
          <a:bodyPr>
            <a:normAutofit/>
          </a:bodyPr>
          <a:lstStyle/>
          <a:p>
            <a:pPr algn="just" fontAlgn="base">
              <a:lnSpc>
                <a:spcPct val="150000"/>
              </a:lnSpc>
            </a:pPr>
            <a:r>
              <a:rPr lang="en-US" sz="1800" dirty="0"/>
              <a:t>Figure 4.2.5.2 Separate TCP State Transition Diagram for Client and Server.</a:t>
            </a:r>
          </a:p>
          <a:p>
            <a:pPr algn="just" fontAlgn="base">
              <a:lnSpc>
                <a:spcPct val="150000"/>
              </a:lnSpc>
            </a:pPr>
            <a:endParaRPr lang="en-US" sz="1800" dirty="0"/>
          </a:p>
        </p:txBody>
      </p:sp>
      <p:pic>
        <p:nvPicPr>
          <p:cNvPr id="5" name="Picture 4" descr="4.4 STATE TRANSITION DIAGRAM To observe the events happening during  connection establishment, connection termination, and data"/>
          <p:cNvPicPr/>
          <p:nvPr/>
        </p:nvPicPr>
        <p:blipFill>
          <a:blip r:embed="rId2"/>
          <a:srcRect/>
          <a:stretch>
            <a:fillRect/>
          </a:stretch>
        </p:blipFill>
        <p:spPr bwMode="auto">
          <a:xfrm>
            <a:off x="3206751" y="2765236"/>
            <a:ext cx="5440729" cy="290945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4.2.6  TCP Services</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66040" y="1150282"/>
            <a:ext cx="12059920" cy="6143668"/>
          </a:xfrm>
        </p:spPr>
        <p:txBody>
          <a:bodyPr>
            <a:normAutofit/>
          </a:bodyPr>
          <a:lstStyle/>
          <a:p>
            <a:pPr algn="just">
              <a:lnSpc>
                <a:spcPct val="150000"/>
              </a:lnSpc>
              <a:buNone/>
            </a:pPr>
            <a:r>
              <a:rPr lang="en-US" sz="2000" dirty="0">
                <a:solidFill>
                  <a:schemeClr val="bg2"/>
                </a:solidFill>
              </a:rPr>
              <a:t>1.	Process-to-Process Communication:</a:t>
            </a:r>
          </a:p>
          <a:p>
            <a:pPr algn="just">
              <a:lnSpc>
                <a:spcPct val="150000"/>
              </a:lnSpc>
            </a:pPr>
            <a:r>
              <a:rPr lang="en-US" sz="1800" dirty="0"/>
              <a:t>TCP provides process-to-process communication i.e. the transfer of data takes place between individual processes executing on end systems. This is done using port numbers or port addresses.</a:t>
            </a:r>
          </a:p>
          <a:p>
            <a:pPr algn="just">
              <a:lnSpc>
                <a:spcPct val="150000"/>
              </a:lnSpc>
            </a:pPr>
            <a:r>
              <a:rPr lang="en-US" sz="1800" dirty="0"/>
              <a:t>Port numbers are 16-bit long that help to identify which process is sending or receiving data on a host. The  following table 4.2.4.1 lists some well-known port numbers used by TCP.</a:t>
            </a:r>
          </a:p>
          <a:p>
            <a:pPr algn="just">
              <a:lnSpc>
                <a:spcPct val="150000"/>
              </a:lnSpc>
              <a:buNone/>
            </a:pPr>
            <a:r>
              <a:rPr lang="en-IN" sz="2000" dirty="0">
                <a:solidFill>
                  <a:schemeClr val="bg2"/>
                </a:solidFill>
              </a:rPr>
              <a:t>2. 	</a:t>
            </a:r>
            <a:r>
              <a:rPr lang="en-US" sz="2000" dirty="0">
                <a:solidFill>
                  <a:schemeClr val="bg2"/>
                </a:solidFill>
              </a:rPr>
              <a:t>Stream Delivery Service:</a:t>
            </a:r>
          </a:p>
          <a:p>
            <a:pPr algn="just">
              <a:lnSpc>
                <a:spcPct val="150000"/>
              </a:lnSpc>
            </a:pPr>
            <a:r>
              <a:rPr lang="en-US" sz="1800" dirty="0"/>
              <a:t>TCP is a stream-oriented protocol. TCP, allows the sending process to deliver data as a stream of bytes and allows the receiving process to obtain data as a stream of bytes.</a:t>
            </a:r>
          </a:p>
          <a:p>
            <a:pPr algn="just">
              <a:lnSpc>
                <a:spcPct val="150000"/>
              </a:lnSpc>
            </a:pPr>
            <a:r>
              <a:rPr lang="en-US" sz="1800" dirty="0"/>
              <a:t>TCP creates an environment in which the two processes seem to be connected by an imaginary "tube" that carries their data across the Internet. This imaginary environment is shown in the following figure 4.2.4.1. The sending process produces (writes to) the stream of bytes, and the receiving process consumes (reads from) them.</a:t>
            </a:r>
          </a:p>
          <a:p>
            <a:pPr algn="just">
              <a:lnSpc>
                <a:spcPct val="150000"/>
              </a:lnSpc>
              <a:buNone/>
            </a:pPr>
            <a:endParaRPr lang="en-US" sz="1800" dirty="0"/>
          </a:p>
          <a:p>
            <a:pPr algn="just">
              <a:lnSpc>
                <a:spcPct val="150000"/>
              </a:lnSpc>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4.2.6  TCP Services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1981200" y="500042"/>
            <a:ext cx="8229600" cy="6143668"/>
          </a:xfrm>
        </p:spPr>
        <p:txBody>
          <a:bodyPr>
            <a:normAutofit/>
          </a:bodyPr>
          <a:lstStyle/>
          <a:p>
            <a:pPr algn="just">
              <a:lnSpc>
                <a:spcPct val="150000"/>
              </a:lnSpc>
            </a:pPr>
            <a:r>
              <a:rPr lang="en-IN" sz="1800" dirty="0">
                <a:latin typeface="Calibri" pitchFamily="34" charset="0"/>
                <a:cs typeface="Calibri" pitchFamily="34" charset="0"/>
              </a:rPr>
              <a:t>Table 4.2.4.1 Well Known Ports of TCP </a:t>
            </a: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a:p>
            <a:endParaRPr lang="en-US" dirty="0"/>
          </a:p>
        </p:txBody>
      </p:sp>
      <p:pic>
        <p:nvPicPr>
          <p:cNvPr id="4" name="Picture 3" descr="tcp services_port numbers"/>
          <p:cNvPicPr/>
          <p:nvPr/>
        </p:nvPicPr>
        <p:blipFill>
          <a:blip r:embed="rId2"/>
          <a:srcRect/>
          <a:stretch>
            <a:fillRect/>
          </a:stretch>
        </p:blipFill>
        <p:spPr bwMode="auto">
          <a:xfrm>
            <a:off x="2752299" y="1023584"/>
            <a:ext cx="6605516" cy="5650172"/>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4.2.6  TCP Services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1981200" y="500042"/>
            <a:ext cx="8229600" cy="6143668"/>
          </a:xfrm>
        </p:spPr>
        <p:txBody>
          <a:bodyPr>
            <a:normAutofit/>
          </a:bodyPr>
          <a:lstStyle/>
          <a:p>
            <a:pPr algn="ctr">
              <a:lnSpc>
                <a:spcPct val="150000"/>
              </a:lnSpc>
              <a:buNone/>
            </a:pPr>
            <a:endParaRPr lang="en-IN" sz="1800" dirty="0">
              <a:solidFill>
                <a:schemeClr val="bg2"/>
              </a:solidFill>
              <a:latin typeface="Calibri" pitchFamily="34" charset="0"/>
              <a:cs typeface="Calibri" pitchFamily="34" charset="0"/>
            </a:endParaRPr>
          </a:p>
          <a:p>
            <a:pPr algn="ctr">
              <a:lnSpc>
                <a:spcPct val="150000"/>
              </a:lnSpc>
              <a:buNone/>
            </a:pPr>
            <a:r>
              <a:rPr lang="en-IN" sz="2000" dirty="0">
                <a:solidFill>
                  <a:schemeClr val="bg2"/>
                </a:solidFill>
                <a:latin typeface="Calibri" pitchFamily="34" charset="0"/>
                <a:cs typeface="Calibri" pitchFamily="34" charset="0"/>
              </a:rPr>
              <a:t>Figure 4.2.4.1 Stream Delivery</a:t>
            </a:r>
            <a:endParaRPr lang="en-US" sz="2000" dirty="0">
              <a:solidFill>
                <a:schemeClr val="bg2"/>
              </a:solidFill>
              <a:latin typeface="Calibri" pitchFamily="34" charset="0"/>
              <a:cs typeface="Calibri" pitchFamily="34" charset="0"/>
            </a:endParaRPr>
          </a:p>
        </p:txBody>
      </p:sp>
      <p:pic>
        <p:nvPicPr>
          <p:cNvPr id="5" name="Picture 4" descr="tcp services_stream Delivery"/>
          <p:cNvPicPr/>
          <p:nvPr/>
        </p:nvPicPr>
        <p:blipFill>
          <a:blip r:embed="rId2"/>
          <a:srcRect/>
          <a:stretch>
            <a:fillRect/>
          </a:stretch>
        </p:blipFill>
        <p:spPr bwMode="auto">
          <a:xfrm>
            <a:off x="3084877" y="2123507"/>
            <a:ext cx="5749290" cy="2748744"/>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4.2.6  TCP Services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0" y="1201082"/>
            <a:ext cx="11704320" cy="6143668"/>
          </a:xfrm>
        </p:spPr>
        <p:txBody>
          <a:bodyPr>
            <a:normAutofit/>
          </a:bodyPr>
          <a:lstStyle/>
          <a:p>
            <a:pPr algn="just">
              <a:lnSpc>
                <a:spcPct val="150000"/>
              </a:lnSpc>
              <a:buNone/>
            </a:pPr>
            <a:r>
              <a:rPr lang="en-US" sz="2000" dirty="0">
                <a:solidFill>
                  <a:schemeClr val="bg2"/>
                </a:solidFill>
              </a:rPr>
              <a:t>3.	Sending and Receiving Buffers:</a:t>
            </a:r>
          </a:p>
          <a:p>
            <a:pPr algn="just">
              <a:lnSpc>
                <a:spcPct val="150000"/>
              </a:lnSpc>
            </a:pPr>
            <a:r>
              <a:rPr lang="en-US" sz="1800" dirty="0"/>
              <a:t>Because the sending and the receiving processes may not write or read data at the same speed, TCP needs buffers for storage. </a:t>
            </a:r>
          </a:p>
          <a:p>
            <a:pPr algn="just">
              <a:lnSpc>
                <a:spcPct val="160000"/>
              </a:lnSpc>
            </a:pPr>
            <a:r>
              <a:rPr lang="en-US" sz="1800" dirty="0"/>
              <a:t>There are two buffers, the sending buffer and the receiving buffer, one for each direction and these buffers are also necessary for flow and error control mechanisms used by TCP.</a:t>
            </a:r>
          </a:p>
          <a:p>
            <a:pPr algn="just">
              <a:lnSpc>
                <a:spcPct val="160000"/>
              </a:lnSpc>
              <a:buNone/>
            </a:pPr>
            <a:r>
              <a:rPr lang="en-US" sz="2000" dirty="0">
                <a:solidFill>
                  <a:schemeClr val="bg2"/>
                </a:solidFill>
              </a:rPr>
              <a:t>4.    Bytes and Segments: </a:t>
            </a:r>
          </a:p>
          <a:p>
            <a:pPr algn="just">
              <a:lnSpc>
                <a:spcPct val="160000"/>
              </a:lnSpc>
            </a:pPr>
            <a:r>
              <a:rPr lang="en-US" sz="1800" dirty="0"/>
              <a:t>The buffering handles the disparity between the speed of the producing and consuming processes, we need one more step before we can send data. </a:t>
            </a:r>
          </a:p>
          <a:p>
            <a:pPr algn="just">
              <a:lnSpc>
                <a:spcPct val="160000"/>
              </a:lnSpc>
            </a:pPr>
            <a:r>
              <a:rPr lang="en-US" sz="1800" dirty="0"/>
              <a:t>The IP layer, as a service provider for TCP, needs to send data in packets, not as a stream of bytes. At the transport layer, TCP groups a number of bytes together into a packet called a segment. TCP adds a header to each segment (for control purposes) and delivers the segment to the IP layer for transmission.</a:t>
            </a:r>
          </a:p>
          <a:p>
            <a:pPr algn="just">
              <a:lnSpc>
                <a:spcPct val="150000"/>
              </a:lnSpc>
            </a:pPr>
            <a:endParaRPr lang="en-US" sz="1800" dirty="0">
              <a:solidFill>
                <a:schemeClr val="bg2"/>
              </a:solidFill>
              <a:latin typeface="Calibri" pitchFamily="34" charset="0"/>
              <a:cs typeface="Calibri"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4.2.6  TCP Services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0" y="1373802"/>
            <a:ext cx="11877040" cy="6143668"/>
          </a:xfrm>
        </p:spPr>
        <p:txBody>
          <a:bodyPr>
            <a:normAutofit/>
          </a:bodyPr>
          <a:lstStyle/>
          <a:p>
            <a:pPr algn="just">
              <a:lnSpc>
                <a:spcPct val="150000"/>
              </a:lnSpc>
            </a:pPr>
            <a:r>
              <a:rPr lang="en-US" sz="1800" dirty="0"/>
              <a:t>The segments are encapsulated in IP </a:t>
            </a:r>
            <a:r>
              <a:rPr lang="en-US" sz="1800" dirty="0" err="1"/>
              <a:t>datagrams</a:t>
            </a:r>
            <a:r>
              <a:rPr lang="en-US" sz="1800" dirty="0"/>
              <a:t> and transmitted. </a:t>
            </a:r>
          </a:p>
          <a:p>
            <a:pPr algn="just">
              <a:lnSpc>
                <a:spcPct val="150000"/>
              </a:lnSpc>
            </a:pPr>
            <a:r>
              <a:rPr lang="en-US" sz="1800" dirty="0"/>
              <a:t>This entire operation is transparent to the receiving process. The segments may be received out of order, lost, or corrupted and resent. </a:t>
            </a:r>
          </a:p>
          <a:p>
            <a:pPr algn="just">
              <a:lnSpc>
                <a:spcPct val="150000"/>
              </a:lnSpc>
            </a:pPr>
            <a:r>
              <a:rPr lang="en-US" sz="1800" dirty="0"/>
              <a:t>All these are handled by TCP with the receiving process unaware of any activities.</a:t>
            </a:r>
          </a:p>
          <a:p>
            <a:pPr marL="571500" indent="-457200" algn="just">
              <a:lnSpc>
                <a:spcPct val="150000"/>
              </a:lnSpc>
              <a:buNone/>
            </a:pPr>
            <a:r>
              <a:rPr lang="en-US" sz="2000" dirty="0">
                <a:solidFill>
                  <a:schemeClr val="bg2"/>
                </a:solidFill>
              </a:rPr>
              <a:t>5.	Full-Duplex Communication:</a:t>
            </a:r>
          </a:p>
          <a:p>
            <a:pPr marL="571500" indent="-457200" algn="just">
              <a:lnSpc>
                <a:spcPct val="150000"/>
              </a:lnSpc>
            </a:pPr>
            <a:r>
              <a:rPr lang="en-US" sz="1800" dirty="0"/>
              <a:t>TCP offers full-duplex service, in which data can flow in both directions at the same time. </a:t>
            </a:r>
          </a:p>
          <a:p>
            <a:pPr marL="571500" indent="-457200" algn="just">
              <a:lnSpc>
                <a:spcPct val="150000"/>
              </a:lnSpc>
            </a:pPr>
            <a:r>
              <a:rPr lang="en-US" sz="1800" dirty="0"/>
              <a:t>Each TCP then has a sending and receiving buffer, and segments move in both directions.</a:t>
            </a:r>
          </a:p>
          <a:p>
            <a:pPr marL="571500" indent="-457200">
              <a:lnSpc>
                <a:spcPct val="150000"/>
              </a:lnSpc>
              <a:buNone/>
            </a:pPr>
            <a:r>
              <a:rPr lang="en-US" sz="2000" dirty="0">
                <a:solidFill>
                  <a:schemeClr val="bg2"/>
                </a:solidFill>
              </a:rPr>
              <a:t>6.     Connection-Oriented Service:</a:t>
            </a:r>
            <a:endParaRPr lang="en-US" sz="1800" dirty="0">
              <a:solidFill>
                <a:schemeClr val="bg2"/>
              </a:solidFill>
            </a:endParaRPr>
          </a:p>
          <a:p>
            <a:pPr>
              <a:lnSpc>
                <a:spcPct val="150000"/>
              </a:lnSpc>
            </a:pPr>
            <a:r>
              <a:rPr lang="en-US" sz="1800" dirty="0"/>
              <a:t>TCP is a connection-oriented protocol. When a process at site A wants to send and receive data from another process at site B, the following occurs:</a:t>
            </a:r>
          </a:p>
          <a:p>
            <a:pPr>
              <a:buNone/>
            </a:pPr>
            <a:endParaRPr lang="en-US" sz="1800" dirty="0"/>
          </a:p>
          <a:p>
            <a:pPr marL="571500" indent="-457200" algn="just">
              <a:lnSpc>
                <a:spcPct val="150000"/>
              </a:lnSpc>
            </a:pPr>
            <a:endParaRPr lang="en-US" sz="1800" dirty="0"/>
          </a:p>
          <a:p>
            <a:pPr algn="just">
              <a:lnSpc>
                <a:spcPct val="150000"/>
              </a:lnSpc>
              <a:buNone/>
            </a:pPr>
            <a:endParaRPr lang="en-US" sz="1800" dirty="0"/>
          </a:p>
          <a:p>
            <a:pPr algn="just">
              <a:lnSpc>
                <a:spcPct val="150000"/>
              </a:lnSpc>
            </a:pPr>
            <a:endParaRPr lang="en-US" sz="1800" dirty="0">
              <a:solidFill>
                <a:schemeClr val="bg2"/>
              </a:solidFill>
              <a:latin typeface="Calibri" pitchFamily="34" charset="0"/>
              <a:cs typeface="Calibri"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4.2.6  TCP Services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1981200" y="500042"/>
            <a:ext cx="8229600" cy="6143668"/>
          </a:xfrm>
        </p:spPr>
        <p:txBody>
          <a:bodyPr>
            <a:normAutofit/>
          </a:bodyPr>
          <a:lstStyle/>
          <a:p>
            <a:pPr algn="just">
              <a:lnSpc>
                <a:spcPct val="150000"/>
              </a:lnSpc>
              <a:buNone/>
            </a:pPr>
            <a:r>
              <a:rPr lang="en-US" sz="1800" dirty="0"/>
              <a:t>1. 	The two TCPs establish a connection between them.</a:t>
            </a:r>
          </a:p>
          <a:p>
            <a:pPr algn="just">
              <a:lnSpc>
                <a:spcPct val="150000"/>
              </a:lnSpc>
              <a:buNone/>
            </a:pPr>
            <a:r>
              <a:rPr lang="en-US" sz="1800" dirty="0"/>
              <a:t>2.  	Data are exchanged in both directions.</a:t>
            </a:r>
          </a:p>
          <a:p>
            <a:pPr algn="just">
              <a:lnSpc>
                <a:spcPct val="150000"/>
              </a:lnSpc>
              <a:buAutoNum type="arabicPeriod" startAt="3"/>
            </a:pPr>
            <a:r>
              <a:rPr lang="en-US" sz="1800" dirty="0"/>
              <a:t>The connection is terminated.</a:t>
            </a:r>
          </a:p>
          <a:p>
            <a:pPr algn="just">
              <a:lnSpc>
                <a:spcPct val="150000"/>
              </a:lnSpc>
              <a:buNone/>
            </a:pPr>
            <a:r>
              <a:rPr lang="en-IN" sz="1800" dirty="0"/>
              <a:t>(Note: This is a logical connection, not physical).</a:t>
            </a:r>
          </a:p>
          <a:p>
            <a:pPr marL="571500" indent="-457200">
              <a:lnSpc>
                <a:spcPct val="150000"/>
              </a:lnSpc>
              <a:buAutoNum type="arabicPeriod" startAt="7"/>
            </a:pPr>
            <a:r>
              <a:rPr lang="en-US" sz="2000" dirty="0">
                <a:solidFill>
                  <a:schemeClr val="bg2"/>
                </a:solidFill>
              </a:rPr>
              <a:t>Reliable Service:</a:t>
            </a:r>
          </a:p>
          <a:p>
            <a:pPr>
              <a:lnSpc>
                <a:spcPct val="150000"/>
              </a:lnSpc>
            </a:pPr>
            <a:r>
              <a:rPr lang="en-US" sz="1800" dirty="0"/>
              <a:t>TCP is a reliable transport protocol. It uses an acknowledgment mechanism to check the safe and sound arrival of data. </a:t>
            </a:r>
          </a:p>
          <a:p>
            <a:pPr>
              <a:lnSpc>
                <a:spcPct val="150000"/>
              </a:lnSpc>
            </a:pPr>
            <a:r>
              <a:rPr lang="en-IN" sz="1800" dirty="0"/>
              <a:t>TCP uses checksum for error control.</a:t>
            </a:r>
            <a:endParaRPr lang="en-US" sz="1800" dirty="0"/>
          </a:p>
          <a:p>
            <a:pPr marL="571500" indent="-457200" algn="just">
              <a:lnSpc>
                <a:spcPct val="150000"/>
              </a:lnSpc>
            </a:pPr>
            <a:endParaRPr lang="en-US" sz="1800" dirty="0"/>
          </a:p>
          <a:p>
            <a:pPr algn="just">
              <a:lnSpc>
                <a:spcPct val="150000"/>
              </a:lnSpc>
              <a:buNone/>
            </a:pPr>
            <a:endParaRPr lang="en-US" sz="1800" dirty="0"/>
          </a:p>
          <a:p>
            <a:pPr algn="just">
              <a:lnSpc>
                <a:spcPct val="150000"/>
              </a:lnSpc>
            </a:pPr>
            <a:endParaRPr lang="en-US" sz="1800" dirty="0">
              <a:solidFill>
                <a:schemeClr val="bg2"/>
              </a:solidFill>
              <a:latin typeface="Calibri" pitchFamily="34" charset="0"/>
              <a:cs typeface="Calibri"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9600" y="589280"/>
            <a:ext cx="8229600" cy="571480"/>
          </a:xfrm>
        </p:spPr>
        <p:txBody>
          <a:bodyPr/>
          <a:lstStyle/>
          <a:p>
            <a:pPr algn="l"/>
            <a:r>
              <a:rPr lang="en-IN" sz="2400" dirty="0">
                <a:latin typeface="Calibri" pitchFamily="34" charset="0"/>
                <a:cs typeface="Calibri" pitchFamily="34" charset="0"/>
              </a:rPr>
              <a:t>4.2.7 Flow Control in TCP:</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40640" y="1302682"/>
            <a:ext cx="11958320" cy="6143668"/>
          </a:xfrm>
        </p:spPr>
        <p:txBody>
          <a:bodyPr>
            <a:normAutofit/>
          </a:bodyPr>
          <a:lstStyle/>
          <a:p>
            <a:pPr marL="571500" indent="-457200" algn="just">
              <a:lnSpc>
                <a:spcPct val="150000"/>
              </a:lnSpc>
            </a:pPr>
            <a:r>
              <a:rPr lang="en-IN" sz="1800" dirty="0"/>
              <a:t>In flow control TCP will ensure that a sender is not overwhelming a receiver by sending packets faster than it can consume.</a:t>
            </a:r>
            <a:endParaRPr lang="en-US" sz="1800" dirty="0"/>
          </a:p>
          <a:p>
            <a:pPr marL="571500" indent="-457200" algn="just">
              <a:lnSpc>
                <a:spcPct val="150000"/>
              </a:lnSpc>
            </a:pPr>
            <a:r>
              <a:rPr lang="en-US" sz="1800" dirty="0"/>
              <a:t>Flow control regulates the amount of data a source can send before receiving an acknowledgment from the destination.</a:t>
            </a:r>
          </a:p>
          <a:p>
            <a:pPr marL="571500" indent="-457200" algn="ctr">
              <a:lnSpc>
                <a:spcPct val="150000"/>
              </a:lnSpc>
              <a:buNone/>
            </a:pPr>
            <a:r>
              <a:rPr lang="en-IN" sz="1800" dirty="0"/>
              <a:t>Figure Flow Control in TCP</a:t>
            </a:r>
            <a:endParaRPr lang="en-US" sz="1800" dirty="0"/>
          </a:p>
          <a:p>
            <a:pPr algn="just">
              <a:lnSpc>
                <a:spcPct val="150000"/>
              </a:lnSpc>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a:p>
            <a:endParaRPr lang="en-US" dirty="0"/>
          </a:p>
        </p:txBody>
      </p:sp>
      <p:pic>
        <p:nvPicPr>
          <p:cNvPr id="4" name="Picture 3" descr="enter image description here"/>
          <p:cNvPicPr/>
          <p:nvPr/>
        </p:nvPicPr>
        <p:blipFill>
          <a:blip r:embed="rId2"/>
          <a:srcRect/>
          <a:stretch>
            <a:fillRect/>
          </a:stretch>
        </p:blipFill>
        <p:spPr bwMode="auto">
          <a:xfrm>
            <a:off x="3249304" y="3642360"/>
            <a:ext cx="5540992" cy="2770496"/>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28320"/>
            <a:ext cx="8229600" cy="571480"/>
          </a:xfrm>
        </p:spPr>
        <p:txBody>
          <a:bodyPr>
            <a:normAutofit fontScale="90000"/>
          </a:bodyPr>
          <a:lstStyle/>
          <a:p>
            <a:pPr algn="l"/>
            <a:r>
              <a:rPr lang="en-IN" sz="2400" dirty="0">
                <a:latin typeface="Calibri" pitchFamily="34" charset="0"/>
                <a:cs typeface="Calibri" pitchFamily="34" charset="0"/>
              </a:rPr>
              <a:t>4.2.7 Flow Control in TCP: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0" y="1353482"/>
            <a:ext cx="12059920" cy="6143668"/>
          </a:xfrm>
        </p:spPr>
        <p:txBody>
          <a:bodyPr>
            <a:normAutofit/>
          </a:bodyPr>
          <a:lstStyle/>
          <a:p>
            <a:pPr algn="just">
              <a:lnSpc>
                <a:spcPct val="150000"/>
              </a:lnSpc>
            </a:pPr>
            <a:r>
              <a:rPr lang="en-US" sz="1800" dirty="0"/>
              <a:t>In communication at the transport layer, we are dealing with four entities: sender process, sender transport layer, receiver transport layer, and receiver process.</a:t>
            </a:r>
          </a:p>
          <a:p>
            <a:pPr algn="just">
              <a:lnSpc>
                <a:spcPct val="150000"/>
              </a:lnSpc>
              <a:buFont typeface="+mj-lt"/>
              <a:buAutoNum type="arabicPeriod"/>
            </a:pPr>
            <a:r>
              <a:rPr lang="en-US" sz="1800" dirty="0"/>
              <a:t>The sending process at the application layer is only a producer. It produces message chunks and pushes them to the transport layer. </a:t>
            </a:r>
          </a:p>
          <a:p>
            <a:pPr algn="just">
              <a:lnSpc>
                <a:spcPct val="150000"/>
              </a:lnSpc>
              <a:buFont typeface="+mj-lt"/>
              <a:buAutoNum type="arabicPeriod"/>
            </a:pPr>
            <a:r>
              <a:rPr lang="en-US" sz="1800" dirty="0"/>
              <a:t>The sending transport layer has a double role: it is both a consumer and the producer. It consumes the messages pushed by the producer. It encapsulates the messages in packets and pushes them to the receiving transport layer.</a:t>
            </a:r>
          </a:p>
          <a:p>
            <a:pPr algn="just">
              <a:lnSpc>
                <a:spcPct val="150000"/>
              </a:lnSpc>
              <a:buFont typeface="+mj-lt"/>
              <a:buAutoNum type="arabicPeriod"/>
            </a:pPr>
            <a:r>
              <a:rPr lang="en-US" sz="1800" dirty="0"/>
              <a:t>The receiving transport layer has also a double role: it is the consumer for the packets received from the sender. It is also a producer; it needs to </a:t>
            </a:r>
            <a:r>
              <a:rPr lang="en-US" sz="1800" dirty="0" err="1"/>
              <a:t>decapsulate</a:t>
            </a:r>
            <a:r>
              <a:rPr lang="en-US" sz="1800" dirty="0"/>
              <a:t> the messages and deliver them to the application layer. </a:t>
            </a:r>
          </a:p>
          <a:p>
            <a:pPr algn="just">
              <a:lnSpc>
                <a:spcPct val="150000"/>
              </a:lnSpc>
              <a:buFont typeface="+mj-lt"/>
              <a:buAutoNum type="arabicPeriod"/>
            </a:pPr>
            <a:r>
              <a:rPr lang="en-US" sz="1800" dirty="0"/>
              <a:t>The last delivery, however, is normally a pulling delivery; the transport layer waits until the application-layer process asks for messages.</a:t>
            </a:r>
          </a:p>
          <a:p>
            <a:pPr>
              <a:buNone/>
            </a:pPr>
            <a:br>
              <a:rPr lang="en-US" sz="2000" dirty="0"/>
            </a:br>
            <a:endParaRPr lang="en-US" sz="1800" dirty="0">
              <a:latin typeface="Calibri" pitchFamily="34" charset="0"/>
              <a:cs typeface="Calibri" pitchFamily="34" charset="0"/>
            </a:endParaRP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4.2.8 Error Control in TCP:</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20320" y="1282362"/>
            <a:ext cx="12192000" cy="6143668"/>
          </a:xfrm>
        </p:spPr>
        <p:txBody>
          <a:bodyPr>
            <a:normAutofit/>
          </a:bodyPr>
          <a:lstStyle/>
          <a:p>
            <a:pPr algn="just" fontAlgn="base">
              <a:lnSpc>
                <a:spcPct val="150000"/>
              </a:lnSpc>
            </a:pPr>
            <a:r>
              <a:rPr lang="en-IN" sz="1800" dirty="0"/>
              <a:t>TCP is a reliable transport layer protocol. This means that an application program that delivers a stream of data to TCP relies on TCP to deliver the entire stream to the application program on the other end in order, without error, and without any part lost or duplicated.</a:t>
            </a:r>
            <a:endParaRPr lang="en-US" sz="1800" dirty="0"/>
          </a:p>
          <a:p>
            <a:pPr algn="just" fontAlgn="base">
              <a:lnSpc>
                <a:spcPct val="150000"/>
              </a:lnSpc>
            </a:pPr>
            <a:r>
              <a:rPr lang="en-US" sz="1800" dirty="0"/>
              <a:t>TCP protocol has methods for finding out corrupted segments, missing segments, out-of-order segments and duplicated segments. </a:t>
            </a:r>
          </a:p>
          <a:p>
            <a:pPr algn="just" fontAlgn="base">
              <a:lnSpc>
                <a:spcPct val="150000"/>
              </a:lnSpc>
            </a:pPr>
            <a:r>
              <a:rPr lang="en-US" sz="1800" dirty="0"/>
              <a:t>Error control in TCP is mainly done through the use of three simple techniques : </a:t>
            </a:r>
          </a:p>
          <a:p>
            <a:pPr algn="just" fontAlgn="base">
              <a:lnSpc>
                <a:spcPct val="150000"/>
              </a:lnSpc>
              <a:buNone/>
            </a:pPr>
            <a:r>
              <a:rPr lang="en-US" sz="2000" dirty="0">
                <a:solidFill>
                  <a:schemeClr val="bg2"/>
                </a:solidFill>
              </a:rPr>
              <a:t>1.	Checksum </a:t>
            </a:r>
            <a:r>
              <a:rPr lang="en-US" sz="1800" dirty="0"/>
              <a:t>– Every segment contains a checksum field which is used to find corrupted segments. If the segment is corrupted, then that segment is discarded by the destination TCP and is considered lost.</a:t>
            </a:r>
          </a:p>
          <a:p>
            <a:pPr algn="just" fontAlgn="base">
              <a:lnSpc>
                <a:spcPct val="150000"/>
              </a:lnSpc>
              <a:buNone/>
            </a:pPr>
            <a:r>
              <a:rPr lang="en-US" sz="2000" dirty="0">
                <a:solidFill>
                  <a:schemeClr val="bg2"/>
                </a:solidFill>
              </a:rPr>
              <a:t>2.	Acknowledgement </a:t>
            </a:r>
            <a:r>
              <a:rPr lang="en-US" sz="1800" dirty="0"/>
              <a:t>– TCP has another mechanism called acknowledgement to affirm that the data segments have been delivered. Control segments that contain no data but have sequence numbers will be acknowledged as well but ACK segments are not acknowledged.</a:t>
            </a:r>
          </a:p>
          <a:p>
            <a:pPr algn="just">
              <a:lnSpc>
                <a:spcPct val="150000"/>
              </a:lnSpc>
            </a:pP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4.2.8 Error Control in TCP: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182880" y="1302682"/>
            <a:ext cx="12009120" cy="6143668"/>
          </a:xfrm>
        </p:spPr>
        <p:txBody>
          <a:bodyPr>
            <a:normAutofit/>
          </a:bodyPr>
          <a:lstStyle/>
          <a:p>
            <a:pPr algn="just" fontAlgn="base">
              <a:lnSpc>
                <a:spcPct val="150000"/>
              </a:lnSpc>
              <a:buAutoNum type="arabicPeriod" startAt="3"/>
            </a:pPr>
            <a:r>
              <a:rPr lang="en-US" sz="2000" dirty="0">
                <a:solidFill>
                  <a:schemeClr val="bg2"/>
                </a:solidFill>
              </a:rPr>
              <a:t>Retransmission</a:t>
            </a:r>
            <a:r>
              <a:rPr lang="en-US" sz="1800" dirty="0"/>
              <a:t> – When a segment is missing, delayed to deliver to a receiver, corrupted when it is checked by the receiver then that segment is retransmitted again. </a:t>
            </a:r>
          </a:p>
          <a:p>
            <a:pPr algn="just" fontAlgn="base">
              <a:lnSpc>
                <a:spcPct val="150000"/>
              </a:lnSpc>
            </a:pPr>
            <a:r>
              <a:rPr lang="en-US" sz="1800" dirty="0"/>
              <a:t>Segments are retransmitted only during two events: </a:t>
            </a:r>
          </a:p>
          <a:p>
            <a:pPr algn="just" fontAlgn="base">
              <a:lnSpc>
                <a:spcPct val="150000"/>
              </a:lnSpc>
              <a:buNone/>
            </a:pPr>
            <a:r>
              <a:rPr lang="en-US" sz="1800" dirty="0"/>
              <a:t>	a)	When the sender receives three duplicate acknowledgements (ACK) or</a:t>
            </a:r>
          </a:p>
          <a:p>
            <a:pPr algn="just" fontAlgn="base">
              <a:lnSpc>
                <a:spcPct val="150000"/>
              </a:lnSpc>
              <a:buNone/>
            </a:pPr>
            <a:r>
              <a:rPr lang="en-US" sz="1800" dirty="0"/>
              <a:t>	b)	When a retransmission timer expires. </a:t>
            </a:r>
          </a:p>
          <a:p>
            <a:pPr marL="514350" indent="-400050" algn="just" fontAlgn="base">
              <a:lnSpc>
                <a:spcPct val="150000"/>
              </a:lnSpc>
              <a:buAutoNum type="romanLcParenR"/>
            </a:pPr>
            <a:r>
              <a:rPr lang="en-US" sz="1800" dirty="0">
                <a:solidFill>
                  <a:schemeClr val="bg2"/>
                </a:solidFill>
              </a:rPr>
              <a:t>Retransmission after RTO:</a:t>
            </a:r>
            <a:r>
              <a:rPr lang="en-US" sz="1800" dirty="0"/>
              <a:t> TCP always preserves one Retransmission Time-Out (RTO) timer for all sent but not acknowledged segments.</a:t>
            </a:r>
          </a:p>
          <a:p>
            <a:pPr marL="514350" indent="-400050" algn="just" fontAlgn="base">
              <a:lnSpc>
                <a:spcPct val="150000"/>
              </a:lnSpc>
            </a:pPr>
            <a:r>
              <a:rPr lang="en-US" sz="1800" dirty="0"/>
              <a:t>When the timer runs out of time, the earliest segment is retransmitted. Here no timer is set for acknowledgement. </a:t>
            </a:r>
          </a:p>
          <a:p>
            <a:pPr marL="514350" indent="-400050" algn="just" fontAlgn="base">
              <a:lnSpc>
                <a:spcPct val="150000"/>
              </a:lnSpc>
            </a:pPr>
            <a:r>
              <a:rPr lang="en-US" sz="1800" dirty="0"/>
              <a:t>In TCP, the RTO value is dynamic in nature and it is updated using the Round Trip Time (RTT) of segments. </a:t>
            </a:r>
          </a:p>
          <a:p>
            <a:pPr marL="514350" indent="-400050" algn="just" fontAlgn="base">
              <a:lnSpc>
                <a:spcPct val="150000"/>
              </a:lnSpc>
            </a:pPr>
            <a:r>
              <a:rPr lang="en-US" sz="1800" dirty="0"/>
              <a:t>RTT is the time duration needed for a segment to reach the receiver and an acknowledgement to be received by the sender.</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71480"/>
          </a:xfrm>
        </p:spPr>
        <p:txBody>
          <a:bodyPr/>
          <a:lstStyle/>
          <a:p>
            <a:pPr algn="l"/>
            <a:r>
              <a:rPr lang="en-IN" sz="2400" dirty="0">
                <a:latin typeface="Calibri" pitchFamily="34" charset="0"/>
                <a:cs typeface="Calibri" pitchFamily="34" charset="0"/>
              </a:rPr>
              <a:t>4.2.8 Error Control in TCP:			   (Continue…….)</a:t>
            </a:r>
            <a:endParaRPr lang="en-US" sz="2400" dirty="0">
              <a:latin typeface="Calibri" pitchFamily="34" charset="0"/>
              <a:cs typeface="Calibri" pitchFamily="34" charset="0"/>
            </a:endParaRPr>
          </a:p>
        </p:txBody>
      </p:sp>
      <p:sp>
        <p:nvSpPr>
          <p:cNvPr id="3" name="Content Placeholder 2"/>
          <p:cNvSpPr>
            <a:spLocks noGrp="1"/>
          </p:cNvSpPr>
          <p:nvPr>
            <p:ph idx="1"/>
          </p:nvPr>
        </p:nvSpPr>
        <p:spPr>
          <a:xfrm>
            <a:off x="0" y="714332"/>
            <a:ext cx="11958320" cy="6143668"/>
          </a:xfrm>
        </p:spPr>
        <p:txBody>
          <a:bodyPr>
            <a:normAutofit/>
          </a:bodyPr>
          <a:lstStyle/>
          <a:p>
            <a:pPr lvl="1" algn="just" fontAlgn="base">
              <a:lnSpc>
                <a:spcPct val="150000"/>
              </a:lnSpc>
              <a:buNone/>
            </a:pPr>
            <a:r>
              <a:rPr lang="en-US" sz="1800" dirty="0">
                <a:solidFill>
                  <a:schemeClr val="bg2"/>
                </a:solidFill>
              </a:rPr>
              <a:t>ii) Retransmission after Three duplicate ACK segments: </a:t>
            </a:r>
          </a:p>
          <a:p>
            <a:pPr lvl="1" algn="just" fontAlgn="base">
              <a:lnSpc>
                <a:spcPct val="150000"/>
              </a:lnSpc>
              <a:buFont typeface="Arial" pitchFamily="34" charset="0"/>
              <a:buChar char="•"/>
            </a:pPr>
            <a:r>
              <a:rPr lang="en-US" sz="1800" dirty="0"/>
              <a:t>RTO method works well when the value of RTO is small. If it is large, more time is needed to get confirmation about whether a segment has been delivered or not. </a:t>
            </a:r>
          </a:p>
          <a:p>
            <a:pPr lvl="1" algn="just" fontAlgn="base">
              <a:lnSpc>
                <a:spcPct val="150000"/>
              </a:lnSpc>
              <a:buFont typeface="Arial" pitchFamily="34" charset="0"/>
              <a:buChar char="•"/>
            </a:pPr>
            <a:r>
              <a:rPr lang="en-US" sz="1800" dirty="0"/>
              <a:t>Sometimes one segment is lost and the receiver receives so many out-of-order segments that they cannot be saved. </a:t>
            </a:r>
          </a:p>
          <a:p>
            <a:pPr lvl="1" algn="just" fontAlgn="base">
              <a:lnSpc>
                <a:spcPct val="150000"/>
              </a:lnSpc>
              <a:buFont typeface="Arial" pitchFamily="34" charset="0"/>
              <a:buChar char="•"/>
            </a:pPr>
            <a:r>
              <a:rPr lang="en-US" sz="1800" dirty="0"/>
              <a:t>In order to solve this situation, three duplicate acknowledgement method is used and missing segment is retransmitted immediately instead of retransmitting already delivered segment. </a:t>
            </a:r>
          </a:p>
          <a:p>
            <a:pPr lvl="1" algn="just" fontAlgn="base">
              <a:lnSpc>
                <a:spcPct val="150000"/>
              </a:lnSpc>
              <a:buFont typeface="Arial" pitchFamily="34" charset="0"/>
              <a:buChar char="•"/>
            </a:pPr>
            <a:r>
              <a:rPr lang="en-US" sz="1800" dirty="0"/>
              <a:t>This is a fast retransmission because it makes it possible to quickly retransmit lost segments instead of waiting for timer to end.</a:t>
            </a:r>
          </a:p>
          <a:p>
            <a:pPr algn="just">
              <a:buNone/>
            </a:pPr>
            <a:br>
              <a:rPr lang="en-US" dirty="0"/>
            </a:br>
            <a:endParaRPr lang="en-US" sz="1800" dirty="0">
              <a:latin typeface="Calibri" pitchFamily="34" charset="0"/>
              <a:cs typeface="Calibri" pitchFamily="34" charset="0"/>
            </a:endParaRPr>
          </a:p>
          <a:p>
            <a:pPr algn="just">
              <a:lnSpc>
                <a:spcPct val="150000"/>
              </a:lnSpc>
              <a:buNone/>
            </a:pPr>
            <a:endParaRPr lang="en-US" sz="1800" dirty="0">
              <a:latin typeface="Calibri" pitchFamily="34" charset="0"/>
              <a:cs typeface="Calibri" pitchFamily="34" charset="0"/>
            </a:endParaRPr>
          </a:p>
          <a:p>
            <a:endParaRPr lang="en-US" dirty="0"/>
          </a:p>
        </p:txBody>
      </p:sp>
    </p:spTree>
  </p:cSld>
  <p:clrMapOvr>
    <a:masterClrMapping/>
  </p:clrMapOvr>
</p:sld>
</file>

<file path=ppt/theme/theme1.xml><?xml version="1.0" encoding="utf-8"?>
<a:theme xmlns:a="http://schemas.openxmlformats.org/drawingml/2006/main" name="2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8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9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1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2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13_Custom Design">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6282</TotalTime>
  <Words>5777</Words>
  <Application>Microsoft Office PowerPoint</Application>
  <PresentationFormat>Widescreen</PresentationFormat>
  <Paragraphs>544</Paragraphs>
  <Slides>54</Slides>
  <Notes>1</Notes>
  <HiddenSlides>0</HiddenSlides>
  <MMClips>0</MMClips>
  <ScaleCrop>false</ScaleCrop>
  <HeadingPairs>
    <vt:vector size="6" baseType="variant">
      <vt:variant>
        <vt:lpstr>Fonts Used</vt:lpstr>
      </vt:variant>
      <vt:variant>
        <vt:i4>4</vt:i4>
      </vt:variant>
      <vt:variant>
        <vt:lpstr>Theme</vt:lpstr>
      </vt:variant>
      <vt:variant>
        <vt:i4>9</vt:i4>
      </vt:variant>
      <vt:variant>
        <vt:lpstr>Slide Titles</vt:lpstr>
      </vt:variant>
      <vt:variant>
        <vt:i4>54</vt:i4>
      </vt:variant>
    </vt:vector>
  </HeadingPairs>
  <TitlesOfParts>
    <vt:vector size="67" baseType="lpstr">
      <vt:lpstr>Cambria</vt:lpstr>
      <vt:lpstr>Arial</vt:lpstr>
      <vt:lpstr>Times New Roman</vt:lpstr>
      <vt:lpstr>Calibri</vt:lpstr>
      <vt:lpstr>2_Custom Design</vt:lpstr>
      <vt:lpstr>Custom Design</vt:lpstr>
      <vt:lpstr>5_Custom Design</vt:lpstr>
      <vt:lpstr>7_Custom Design</vt:lpstr>
      <vt:lpstr>8_Custom Design</vt:lpstr>
      <vt:lpstr>9_Custom Design</vt:lpstr>
      <vt:lpstr>11_Custom Design</vt:lpstr>
      <vt:lpstr>12_Custom Design</vt:lpstr>
      <vt:lpstr>13_Custom Design</vt:lpstr>
      <vt:lpstr>PowerPoint Presentation</vt:lpstr>
      <vt:lpstr>Module 4 -Transport layer and congestion control techniques</vt:lpstr>
      <vt:lpstr> Transport Layer:</vt:lpstr>
      <vt:lpstr> Transport Layer:</vt:lpstr>
      <vt:lpstr>    Functions of Transport Layer:</vt:lpstr>
      <vt:lpstr>    Functions of Transport Layer:</vt:lpstr>
      <vt:lpstr>    Transport Layer Protocol:</vt:lpstr>
      <vt:lpstr>PowerPoint Presentation</vt:lpstr>
      <vt:lpstr>Characteristics / Features of UDP-</vt:lpstr>
      <vt:lpstr>UDP</vt:lpstr>
      <vt:lpstr>UDP</vt:lpstr>
      <vt:lpstr>UDP Services / Operations:</vt:lpstr>
      <vt:lpstr>UDP</vt:lpstr>
      <vt:lpstr>PowerPoint Presentation</vt:lpstr>
      <vt:lpstr>TCP</vt:lpstr>
      <vt:lpstr>TCP</vt:lpstr>
      <vt:lpstr>TCP</vt:lpstr>
      <vt:lpstr>    TCP  (Continued…)</vt:lpstr>
      <vt:lpstr>4.2.2 TCP  Segment and TCP Header:</vt:lpstr>
      <vt:lpstr>    TCP  Header:(Continued….)</vt:lpstr>
      <vt:lpstr>    TCP  Header:(Continued….)</vt:lpstr>
      <vt:lpstr>    TCP  Header:(Continued….)</vt:lpstr>
      <vt:lpstr>    TCP  Header:(Continued….)</vt:lpstr>
      <vt:lpstr>    TCP  Header:(Continued….)</vt:lpstr>
      <vt:lpstr>    TCP  Header:(Continued….)</vt:lpstr>
      <vt:lpstr>    TCP  Header:(Continued….)</vt:lpstr>
      <vt:lpstr>    TCP  Header:(Continued….)</vt:lpstr>
      <vt:lpstr>   4.2.3 Three Way Handshake/TCP connection Establishment</vt:lpstr>
      <vt:lpstr>   Three Way Handshake/TCP connection (Continued….)</vt:lpstr>
      <vt:lpstr>   Three Way Handshake/TCP connection (Continued….)</vt:lpstr>
      <vt:lpstr>   Three Way Handshake/TCP connection (Continued….)</vt:lpstr>
      <vt:lpstr>   Three Way Handshake/TCP connection (Continued….)</vt:lpstr>
      <vt:lpstr>   Three Way Handshake/TCP connection (Continued….)</vt:lpstr>
      <vt:lpstr>   4.2.4 Four Way Handshake/TCP connection Release:</vt:lpstr>
      <vt:lpstr>   Four Way Handshake/TCP connection Release:         (Continue….)</vt:lpstr>
      <vt:lpstr>   Four Way Handshake/TCP connection Release:         (Continue….)</vt:lpstr>
      <vt:lpstr> Q. Explain what happens when 2 hosts simultaneously try to establish a connection in tcp.</vt:lpstr>
      <vt:lpstr> 4.2.5 TCP State Transition Diagram:</vt:lpstr>
      <vt:lpstr> 4.2.5 TCP State Transition Diagram:     (Continue……)</vt:lpstr>
      <vt:lpstr> 4.2.5 TCP State Transition Diagram:     (Continue……)</vt:lpstr>
      <vt:lpstr> 4.2.5 TCP State Transition Diagram:     (Continue……)</vt:lpstr>
      <vt:lpstr> 4.2.5 TCP State Transition Diagram:     (Continue……)</vt:lpstr>
      <vt:lpstr> 4.2.5 TCP State Transition Diagram:     (Continue……)</vt:lpstr>
      <vt:lpstr>4.2.6  TCP Services</vt:lpstr>
      <vt:lpstr>4.2.6  TCP Services                                                (Continue…..)</vt:lpstr>
      <vt:lpstr>4.2.6  TCP Services                                                (Continue…..)</vt:lpstr>
      <vt:lpstr>4.2.6  TCP Services                                                (Continue…..)</vt:lpstr>
      <vt:lpstr>4.2.6  TCP Services                                                (Continue…..)</vt:lpstr>
      <vt:lpstr>4.2.6  TCP Services                                                (Continue…..)</vt:lpstr>
      <vt:lpstr>4.2.7 Flow Control in TCP:</vt:lpstr>
      <vt:lpstr>4.2.7 Flow Control in TCP:    (Continue…..)</vt:lpstr>
      <vt:lpstr>4.2.8 Error Control in TCP:</vt:lpstr>
      <vt:lpstr>4.2.8 Error Control in TCP:      (Continue…….)</vt:lpstr>
      <vt:lpstr>4.2.8 Error Control in TCP:      (Continue…….)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SLPINJARE</dc:creator>
  <cp:lastModifiedBy>Anjali Reddy GN</cp:lastModifiedBy>
  <cp:revision>119</cp:revision>
  <dcterms:created xsi:type="dcterms:W3CDTF">2006-07-07T09:10:42Z</dcterms:created>
  <dcterms:modified xsi:type="dcterms:W3CDTF">2026-04-27T04:58:19Z</dcterms:modified>
</cp:coreProperties>
</file>
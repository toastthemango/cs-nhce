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slideLayouts/slideLayout4.xml" ContentType="application/vnd.openxmlformats-officedocument.presentationml.slideLayout+xml"/>
  <Override PartName="/ppt/theme/theme5.xml" ContentType="application/vnd.openxmlformats-officedocument.theme+xml"/>
  <Override PartName="/ppt/slideLayouts/slideLayout5.xml" ContentType="application/vnd.openxmlformats-officedocument.presentationml.slideLayout+xml"/>
  <Override PartName="/ppt/theme/theme6.xml" ContentType="application/vnd.openxmlformats-officedocument.theme+xml"/>
  <Override PartName="/ppt/slideLayouts/slideLayout6.xml" ContentType="application/vnd.openxmlformats-officedocument.presentationml.slideLayout+xml"/>
  <Override PartName="/ppt/theme/theme7.xml" ContentType="application/vnd.openxmlformats-officedocument.theme+xml"/>
  <Override PartName="/ppt/slideLayouts/slideLayout7.xml" ContentType="application/vnd.openxmlformats-officedocument.presentationml.slideLayout+xml"/>
  <Override PartName="/ppt/theme/theme8.xml" ContentType="application/vnd.openxmlformats-officedocument.theme+xml"/>
  <Override PartName="/ppt/slideLayouts/slideLayout8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4" r:id="rId2"/>
    <p:sldMasterId id="2147483668" r:id="rId3"/>
    <p:sldMasterId id="2147483672" r:id="rId4"/>
    <p:sldMasterId id="2147483674" r:id="rId5"/>
    <p:sldMasterId id="2147483676" r:id="rId6"/>
    <p:sldMasterId id="2147483680" r:id="rId7"/>
    <p:sldMasterId id="2147483682" r:id="rId8"/>
    <p:sldMasterId id="2147483684" r:id="rId9"/>
  </p:sldMasterIdLst>
  <p:notesMasterIdLst>
    <p:notesMasterId r:id="rId3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3" r:id="rId16"/>
    <p:sldId id="262" r:id="rId17"/>
    <p:sldId id="264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12192000" cy="6858000"/>
  <p:notesSz cx="6858000" cy="9144000"/>
  <p:embeddedFontLst>
    <p:embeddedFont>
      <p:font typeface="Cambria" panose="02040503050406030204" pitchFamily="18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1" roundtripDataSignature="AMtx7mgwkiSlt6BWnYZheA7hU+owX/ha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2935C6-F629-48B7-A2C3-F061BE77A5B8}">
  <a:tblStyle styleId="{1E2935C6-F629-48B7-A2C3-F061BE77A5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font" Target="fonts/font3.fntdata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7" Type="http://schemas.openxmlformats.org/officeDocument/2006/relationships/slideMaster" Target="slideMasters/slideMaster7.xml"/><Relationship Id="rId191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notesMaster" Target="notesMasters/notesMaster1.xml"/><Relationship Id="rId194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19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19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font" Target="fonts/font2.fntdata"/><Relationship Id="rId20" Type="http://schemas.openxmlformats.org/officeDocument/2006/relationships/slide" Target="slides/slide11.xml"/><Relationship Id="rId19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>
          <a:extLst>
            <a:ext uri="{FF2B5EF4-FFF2-40B4-BE49-F238E27FC236}">
              <a16:creationId xmlns:a16="http://schemas.microsoft.com/office/drawing/2014/main" id="{205EA077-CC54-6222-BA75-78F56441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:notes">
            <a:extLst>
              <a:ext uri="{FF2B5EF4-FFF2-40B4-BE49-F238E27FC236}">
                <a16:creationId xmlns:a16="http://schemas.microsoft.com/office/drawing/2014/main" id="{96F24761-4992-9F7D-2B6D-1B2F68215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:notes">
            <a:extLst>
              <a:ext uri="{FF2B5EF4-FFF2-40B4-BE49-F238E27FC236}">
                <a16:creationId xmlns:a16="http://schemas.microsoft.com/office/drawing/2014/main" id="{6AEB3F5C-062D-4EF0-703A-55AF815BCC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:notes">
            <a:extLst>
              <a:ext uri="{FF2B5EF4-FFF2-40B4-BE49-F238E27FC236}">
                <a16:creationId xmlns:a16="http://schemas.microsoft.com/office/drawing/2014/main" id="{4F1623A0-C371-E690-C358-22F3994F577C}"/>
              </a:ext>
            </a:extLst>
          </p:cNvPr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DSDV (15EC663)</a:t>
            </a:r>
            <a:endParaRPr/>
          </a:p>
        </p:txBody>
      </p:sp>
      <p:sp>
        <p:nvSpPr>
          <p:cNvPr id="328" name="Google Shape;328;p1:notes">
            <a:extLst>
              <a:ext uri="{FF2B5EF4-FFF2-40B4-BE49-F238E27FC236}">
                <a16:creationId xmlns:a16="http://schemas.microsoft.com/office/drawing/2014/main" id="{D329FCA1-D134-4C76-2911-75F6D47F4878}"/>
              </a:ext>
            </a:extLst>
          </p:cNvPr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/>
          </a:p>
        </p:txBody>
      </p:sp>
      <p:sp>
        <p:nvSpPr>
          <p:cNvPr id="329" name="Google Shape;329;p1:notes">
            <a:extLst>
              <a:ext uri="{FF2B5EF4-FFF2-40B4-BE49-F238E27FC236}">
                <a16:creationId xmlns:a16="http://schemas.microsoft.com/office/drawing/2014/main" id="{F8055DF5-5488-B1F1-F2AB-FC7B2F9D5171}"/>
              </a:ext>
            </a:extLst>
          </p:cNvPr>
          <p:cNvSpPr txBox="1"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3205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None/>
              <a:defRPr>
                <a:solidFill>
                  <a:srgbClr val="3366FF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111B0-BD76-06FA-2703-A74A98FF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BE474-B55E-C8EE-4A9B-89BE4C80EB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5C07C-E0A9-ED34-3AC5-8ABF645C86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EA88F-E819-7400-3C0E-61E1A33CF1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82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9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93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93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93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7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9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9" name="Google Shape;199;p9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0" name="Google Shape;200;p9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1" name="Google Shape;201;p9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2" name="Google Shape;202;p97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97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97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9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99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9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99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1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01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01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5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05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105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3366FF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C00000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FF0000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FF66FF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009999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69" name="Google Shape;269;p105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05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05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7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07"/>
          <p:cNvSpPr txBox="1">
            <a:spLocks noGrp="1"/>
          </p:cNvSpPr>
          <p:nvPr>
            <p:ph type="body" idx="1"/>
          </p:nvPr>
        </p:nvSpPr>
        <p:spPr>
          <a:xfrm rot="5400000">
            <a:off x="3505200" y="-1905000"/>
            <a:ext cx="5181600" cy="115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3366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C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FF66FF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9999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107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07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07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9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0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3366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C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FF66FF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9999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3" name="Google Shape;303;p109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09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09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72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" name="Google Shape;11;p72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" name="Google Shape;12;p72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Google Shape;13;p72"/>
          <p:cNvSpPr txBox="1"/>
          <p:nvPr userDrawn="1"/>
        </p:nvSpPr>
        <p:spPr>
          <a:xfrm>
            <a:off x="304800" y="25400"/>
            <a:ext cx="2438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600" b="1" i="0" u="none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C</a:t>
            </a:r>
            <a:r>
              <a:rPr lang="en-US" sz="14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omputer </a:t>
            </a:r>
            <a:r>
              <a:rPr lang="en-US" sz="1400" b="1" i="0" u="none" dirty="0">
                <a:solidFill>
                  <a:srgbClr val="00B050"/>
                </a:solidFill>
                <a:latin typeface="Cambria"/>
                <a:ea typeface="Cambria"/>
                <a:sym typeface="Cambria"/>
              </a:rPr>
              <a:t>N</a:t>
            </a:r>
            <a:r>
              <a:rPr lang="en-US" sz="14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etwork 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4" name="Google Shape;14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2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72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7" name="Google Shape;17;p72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8" name="Google Shape;18;p72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" name="Google Shape;19;p72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3;p72">
            <a:extLst>
              <a:ext uri="{FF2B5EF4-FFF2-40B4-BE49-F238E27FC236}">
                <a16:creationId xmlns:a16="http://schemas.microsoft.com/office/drawing/2014/main" id="{D19D220E-E241-2A4E-96C5-FCFABBA28CED}"/>
              </a:ext>
            </a:extLst>
          </p:cNvPr>
          <p:cNvSpPr txBox="1"/>
          <p:nvPr userDrawn="1"/>
        </p:nvSpPr>
        <p:spPr>
          <a:xfrm>
            <a:off x="8839200" y="6477000"/>
            <a:ext cx="2438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600" b="1" i="0" u="none" dirty="0">
                <a:solidFill>
                  <a:srgbClr val="002060"/>
                </a:solidFill>
                <a:latin typeface="Cambria"/>
                <a:ea typeface="Cambria"/>
                <a:sym typeface="Cambria"/>
              </a:rPr>
              <a:t>BHASKAR  S V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8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1" name="Google Shape;61;p78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78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78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4" name="Google Shape;64;p78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78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6" name="Google Shape;66;p78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7" name="Google Shape;67;p78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8" name="Google Shape;68;p78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69" name="Google Shape;69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" name="Google Shape;151;p92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2" name="Google Shape;152;p92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3" name="Google Shape;153;p92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54" name="Google Shape;154;p92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155" name="Google Shape;155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2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7" name="Google Shape;157;p92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8" name="Google Shape;158;p92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9" name="Google Shape;159;p92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0" name="Google Shape;160;p92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96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7" name="Google Shape;187;p96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8" name="Google Shape;188;p96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9" name="Google Shape;189;p96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190" name="Google Shape;190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6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2" name="Google Shape;192;p96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3" name="Google Shape;193;p96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4" name="Google Shape;194;p96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5" name="Google Shape;195;p96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98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7" name="Google Shape;207;p98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8" name="Google Shape;208;p98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9" name="Google Shape;209;p98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10" name="Google Shape;210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8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2" name="Google Shape;212;p98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3" name="Google Shape;213;p98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4" name="Google Shape;214;p98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5" name="Google Shape;215;p98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100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3" name="Google Shape;223;p100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4" name="Google Shape;224;p100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25" name="Google Shape;225;p100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26" name="Google Shape;226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0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8" name="Google Shape;228;p100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9" name="Google Shape;229;p100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0" name="Google Shape;230;p100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1" name="Google Shape;231;p100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104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6" name="Google Shape;256;p104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7" name="Google Shape;257;p104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58" name="Google Shape;258;p104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59" name="Google Shape;259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4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1" name="Google Shape;261;p104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2" name="Google Shape;262;p104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3" name="Google Shape;263;p104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4" name="Google Shape;264;p104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Google Shape;273;p106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74" name="Google Shape;274;p106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75" name="Google Shape;275;p106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6" name="Google Shape;276;p106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77" name="Google Shape;277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6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9" name="Google Shape;279;p106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0" name="Google Shape;280;p106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1" name="Google Shape;281;p106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2" name="Google Shape;282;p106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" name="Google Shape;290;p108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1" name="Google Shape;291;p108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2" name="Google Shape;292;p108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93" name="Google Shape;293;p108"/>
          <p:cNvSpPr txBox="1"/>
          <p:nvPr/>
        </p:nvSpPr>
        <p:spPr>
          <a:xfrm>
            <a:off x="304800" y="25400"/>
            <a:ext cx="24384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2000" b="1" i="0" u="none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C</a:t>
            </a:r>
            <a:r>
              <a:rPr lang="en-US" sz="18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omputer </a:t>
            </a:r>
            <a:r>
              <a:rPr lang="en-US" sz="1800" b="1" i="0" u="none" dirty="0">
                <a:solidFill>
                  <a:srgbClr val="00B050"/>
                </a:solidFill>
                <a:latin typeface="Cambria"/>
                <a:ea typeface="Cambria"/>
                <a:sym typeface="Cambria"/>
              </a:rPr>
              <a:t>N</a:t>
            </a:r>
            <a:r>
              <a:rPr lang="en-US" sz="18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etwork 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294" name="Google Shape;294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8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96" name="Google Shape;296;p108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97" name="Google Shape;297;p108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98" name="Google Shape;298;p108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99" name="Google Shape;299;p108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FD0B6901-DB5F-5E4E-E900-5F3C69F89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nternet Clipart Computer Networking ...">
            <a:extLst>
              <a:ext uri="{FF2B5EF4-FFF2-40B4-BE49-F238E27FC236}">
                <a16:creationId xmlns:a16="http://schemas.microsoft.com/office/drawing/2014/main" id="{A0736BE6-8E1C-B9D4-3DE6-49FF0D349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7" y="2576691"/>
            <a:ext cx="6138659" cy="361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1" name="Google Shape;331;p1">
            <a:extLst>
              <a:ext uri="{FF2B5EF4-FFF2-40B4-BE49-F238E27FC236}">
                <a16:creationId xmlns:a16="http://schemas.microsoft.com/office/drawing/2014/main" id="{29A2B563-FFA1-3EBA-2B2B-92A78245EC6E}"/>
              </a:ext>
            </a:extLst>
          </p:cNvPr>
          <p:cNvSpPr txBox="1"/>
          <p:nvPr/>
        </p:nvSpPr>
        <p:spPr>
          <a:xfrm>
            <a:off x="547278" y="1045914"/>
            <a:ext cx="11605394" cy="133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6000"/>
              <a:buFont typeface="Cambria"/>
              <a:buNone/>
            </a:pP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-US" sz="7200" b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OMPUTER</a:t>
            </a: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N</a:t>
            </a:r>
            <a:r>
              <a:rPr lang="en-US" sz="7200" b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etwork</a:t>
            </a: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7200" b="1" dirty="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22</a:t>
            </a:r>
            <a:r>
              <a:rPr lang="en-US" sz="7200" b="1" dirty="0">
                <a:solidFill>
                  <a:srgbClr val="92D050"/>
                </a:solidFill>
                <a:latin typeface="Cambria"/>
                <a:ea typeface="Cambria"/>
                <a:cs typeface="Cambria"/>
                <a:sym typeface="Cambria"/>
              </a:rPr>
              <a:t>CSE</a:t>
            </a:r>
            <a:r>
              <a:rPr lang="en-US" sz="7200" b="1" dirty="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62</a:t>
            </a: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–M.5.2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6000"/>
              <a:buFont typeface="Cambria"/>
              <a:buNone/>
            </a:pPr>
            <a:endParaRPr dirty="0"/>
          </a:p>
        </p:txBody>
      </p:sp>
      <p:pic>
        <p:nvPicPr>
          <p:cNvPr id="333" name="Google Shape;333;p1">
            <a:extLst>
              <a:ext uri="{FF2B5EF4-FFF2-40B4-BE49-F238E27FC236}">
                <a16:creationId xmlns:a16="http://schemas.microsoft.com/office/drawing/2014/main" id="{E370BC9A-E716-5AB4-C94E-FA0C0DC7100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806" y="4953000"/>
            <a:ext cx="1219200" cy="153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7C4419-DFC5-6B4A-5C92-F0F685A02B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l="24107" r="21616" b="28859"/>
          <a:stretch>
            <a:fillRect/>
          </a:stretch>
        </p:blipFill>
        <p:spPr>
          <a:xfrm>
            <a:off x="6479459" y="3429000"/>
            <a:ext cx="3569110" cy="261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4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0DAE-B796-0560-1537-E05AED93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9BE7FCE-C07E-FBA9-07D8-392243306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618" y="1546122"/>
            <a:ext cx="11238271" cy="3861620"/>
          </a:xfrm>
        </p:spPr>
        <p:txBody>
          <a:bodyPr/>
          <a:lstStyle/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US" dirty="0"/>
              <a:t>Overview of:</a:t>
            </a:r>
          </a:p>
          <a:p>
            <a:pPr marL="9652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 Domain Name Space, </a:t>
            </a:r>
          </a:p>
          <a:p>
            <a:pPr marL="9652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Remote Logging, Email, FTP, WWW, HTTP</a:t>
            </a:r>
          </a:p>
          <a:p>
            <a:pPr marL="9652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Security – Network Layer Security, Application Layer Security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3203DD-A5FA-267E-AFCD-FEA60DCB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5 -</a:t>
            </a:r>
            <a:r>
              <a:rPr lang="en-US" dirty="0"/>
              <a:t>Application layer and Security mechanisms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1955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8525AD2-20C0-7C3B-FDA0-959C5E3630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3A53FA-1F87-2E9F-69C8-C961FE41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Layer Security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C71E8-8C4D-6215-6445-A624A08A74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209"/>
          <a:stretch>
            <a:fillRect/>
          </a:stretch>
        </p:blipFill>
        <p:spPr>
          <a:xfrm>
            <a:off x="151765" y="1320800"/>
            <a:ext cx="11197826" cy="5029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73EEC9-19E2-82D3-AE1C-E2B661921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129" y="1876425"/>
            <a:ext cx="520126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66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C884B1C-E4A2-14F5-F2FB-C8C385F57B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66A0F-11FF-E4DB-2123-16036AF98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IPSec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B7BA56-299A-D19B-8990-94312625D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02" y="1320800"/>
            <a:ext cx="10782618" cy="490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6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8D66-6151-FD3E-A5AB-A045ACD9A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38CE1D1-2B6F-D9B5-605E-7771715EA7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ABD6DA-A950-2DCC-CB77-1AAE1888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IPSec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CEE83-0719-B654-BC72-6961A0B48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4" y="1556861"/>
            <a:ext cx="10486323" cy="465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487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371BBED-E0C7-3151-42BA-C791D59541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50CB7B-6BDE-0B8B-18B5-A3C615B6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IPSec Operating Modes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08FDD-5EB8-BA88-0DC9-28C0C29353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218"/>
          <a:stretch>
            <a:fillRect/>
          </a:stretch>
        </p:blipFill>
        <p:spPr>
          <a:xfrm>
            <a:off x="0" y="1320801"/>
            <a:ext cx="10363200" cy="511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61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593C7-7F20-96F4-F661-6E5522D4C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E74E06C-C28B-A764-9440-C29CC0E010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B5E7D1-7C7D-2012-B1DD-5E9F2D3F4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IPSec Operating Modes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58DAA8-9ABB-979A-FA64-692AA9C1E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1488440"/>
            <a:ext cx="11569751" cy="433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08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C421C3-D120-870B-9156-448933F2C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674" y="1402080"/>
            <a:ext cx="12227347" cy="431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AF14B2-EBB6-2E37-C220-7242A25CA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640" y="2694305"/>
            <a:ext cx="6184900" cy="173355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4B39EC8-F4FB-36CE-6D5A-B85ED478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IPSec Transport Mode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E9F283-8F6D-F6C0-38C8-9A162509C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25" y="4327525"/>
            <a:ext cx="363855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D0B3788-7FBA-E1D7-2DE3-382B505AD8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5C1D2D-71CB-F91C-F59E-0FC3B64D9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Transport Mode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2FF4F-7DA3-1475-F61F-3989830E7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800"/>
            <a:ext cx="6096000" cy="5077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0856E0-75D2-F03F-5F68-C40B14BBF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325" y="4325540"/>
            <a:ext cx="7686675" cy="1809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1F11F7-203A-2121-EB05-90320B0C1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911" y="1521491"/>
            <a:ext cx="4901689" cy="143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56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86490-D0B4-1100-1F01-37540954A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B1EA01-91D5-9F8C-C5EA-D5BFE81F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1" y="4164647"/>
            <a:ext cx="7086600" cy="200977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6E73121-58D6-448D-EF6E-0E520784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PSec</a:t>
            </a:r>
            <a:r>
              <a:rPr lang="en-IN" dirty="0"/>
              <a:t> Tunnel Mode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6A7B3-4E3F-8173-0B6E-872CD6A9F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43025"/>
            <a:ext cx="10363200" cy="31304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9265F-82FF-BF9D-0B21-3FF4BE37B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2" y="4237990"/>
            <a:ext cx="37242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88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0C1C651-DF61-0AFA-382A-CD554C6C65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1F6850-E649-D77B-32BE-F5FBA5B0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Tunnel Mode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34ED4-8536-9B95-AB7F-4C37ECD9E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" y="1366837"/>
            <a:ext cx="9897936" cy="50847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80454B-AD5C-DEC4-F733-889770372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0" y="4385377"/>
            <a:ext cx="6695440" cy="18246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FCE29F-8619-F76E-8C1E-EE5E3F7A9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632" y="1560320"/>
            <a:ext cx="4600169" cy="182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00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7E9A8DC-0A06-3844-65F5-F960337757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D17A83-34BE-50E5-1624-72462732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Transport mode versus tunnel mode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13C99E-9EE4-7BE4-6DA2-ABA7B66BD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7160"/>
            <a:ext cx="9445142" cy="4958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AA692B-2308-4770-9DA0-76A5FA467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865" y="2717800"/>
            <a:ext cx="4146379" cy="157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4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EA8BFB7-DE54-7B70-9196-2747BFD5D1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3AF1B6-13D8-1D13-2121-65CE3F39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IPSec Security Protocols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9727E-F7F6-F72A-690C-E61E5009B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4" y="1320800"/>
            <a:ext cx="5322781" cy="4988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B37344-429C-62D0-0A30-129FC7DB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305" y="1585912"/>
            <a:ext cx="549592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836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8752CFB-598E-5AA8-8454-B65C96440B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F8908D-1929-9CF2-3C08-5504BD95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Authentication Header (AH)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8B160-C2F8-34BA-3D5F-AA3CB4320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265" y="1391920"/>
            <a:ext cx="6760426" cy="4693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7AFD9F-1901-2148-94B2-677FD2E52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967" y="1320800"/>
            <a:ext cx="6085427" cy="401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89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1A503A7-2705-2F3B-CB3C-98AA56B073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41353E-65D6-3A19-2D75-C6D17F38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AH Protocol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C610C-16ED-9B11-8FBA-E1E191C01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20800"/>
            <a:ext cx="10367813" cy="513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A22ABB-6AD7-32DA-7DC7-9E1B63265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520" y="2118360"/>
            <a:ext cx="6557363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96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2C078A-0EE9-3DBE-A5C9-B6DFFB2E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Fields of AH Protocol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CAFD1-D5D6-C022-29A2-2F946C41A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637"/>
            <a:ext cx="5059680" cy="5768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A48A3B-0361-716C-E5BA-B5AC8DA16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840" y="1823720"/>
            <a:ext cx="6557363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483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FE90328-174A-764B-C77B-CB7F44112D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272B25-7D57-DE34-FB8C-DF6DC170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Encapsulating Security Payload (ESP)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2E95F1-9AE0-074D-1FC3-A543FCBBB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799"/>
            <a:ext cx="4744720" cy="5042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846473-9F7B-B7F9-F1FE-4980E0E9D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720" y="1320798"/>
            <a:ext cx="4640580" cy="501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77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0118E39-26CC-E0FD-520F-1F53BDF32B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4C596A-4668-5662-D008-EEC0F200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ESP Protocol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225883-2BEF-7EA5-1893-600FCD1B4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" y="1462722"/>
            <a:ext cx="6911186" cy="3901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182F72-D5C6-7531-3E53-0E45AE567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527" y="1427639"/>
            <a:ext cx="5991061" cy="21842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20F38D-AEB6-24DE-FC2F-9FF266302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020" y="3611880"/>
            <a:ext cx="5199824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14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9064ED4-F380-3D45-FFFD-2223B2AEBC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579D65-3D57-5A8A-A468-AA1C974F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Fields of ESP Protocol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FCD67-B562-0475-D6BB-847812C1D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20800"/>
            <a:ext cx="5992887" cy="2188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2F152D-CBE2-DA2B-0BE0-23B7B3033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0800"/>
            <a:ext cx="5816986" cy="5130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7A53A6-0D9A-D1B3-BE38-B11992BD6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688" y="4062730"/>
            <a:ext cx="7086312" cy="238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30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90E608C-E393-1DF8-8AC5-6B3365204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4A5456-3031-CE42-BD97-06371EF2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Services Provided by IPSec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75992-B9B6-6174-63D2-10674AE51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34" y="1320800"/>
            <a:ext cx="11130131" cy="2712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6BA31-2ED2-EF88-B293-4C2466DD7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17" y="3878897"/>
            <a:ext cx="10703103" cy="190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50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4761FC7-EEB5-19B8-DB81-34D1B4B150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6E961A-548E-C1F3-92DB-201BA891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 Control in IPSec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9BA9A-4297-FCCA-F73E-F551DC19A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320800"/>
            <a:ext cx="6410960" cy="50513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5066C8-9B82-E8EE-0B6F-C0850675C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607" y="1079485"/>
            <a:ext cx="4710113" cy="573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50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EB53A77-6CD3-2B1F-344C-35A0266ACE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D1197A-2670-7B30-E31A-07F31C47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94945-6C2D-6214-39B3-97D3207F2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400"/>
            <a:ext cx="5019040" cy="660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27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4328F81-AD5E-D785-683F-80506FF17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42A5EC-E11B-57B0-A8DA-169FD351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Association (SA)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90991-B411-1C51-CB6C-E38E253F1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800"/>
            <a:ext cx="741997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15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7472A2A-4CA5-4B29-A626-AAF16468CC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35192F-AD9C-18EC-DB1A-CE6A20D0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Security Association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1AC8D-A896-91B5-D49E-0AC4FD42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1391920"/>
            <a:ext cx="6862092" cy="4988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716624-A97C-DE0C-9B47-524DD51E7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916" y="1581329"/>
            <a:ext cx="4807444" cy="1780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2ED3BC-FE5B-AB15-A1FC-BE578EBD9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646" y="3429000"/>
            <a:ext cx="5350282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33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C8576F6-FAC2-01BA-F853-EC4FA42157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EE37CC-7D0F-09CE-B8E9-D74DD8902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Association Database (SAD)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491D4-EA13-9DC3-9DC3-0E89984B6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5" y="1428750"/>
            <a:ext cx="6470532" cy="4921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DC37B5-5686-5F71-D1B8-839D09878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910" y="1428750"/>
            <a:ext cx="4387850" cy="483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33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9DCF192-AF6E-6505-64B4-C8FFA4B8F9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0B78-9662-C266-CDB6-ACD5E661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9CDEE-9C83-8E25-0DB4-18AD4D102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54" y="1537652"/>
            <a:ext cx="10802962" cy="217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55958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7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8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9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1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2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3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10368</TotalTime>
  <Words>134</Words>
  <Application>Microsoft Office PowerPoint</Application>
  <PresentationFormat>Widescreen</PresentationFormat>
  <Paragraphs>30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Cambria</vt:lpstr>
      <vt:lpstr>Arial</vt:lpstr>
      <vt:lpstr>Times New Roman</vt:lpstr>
      <vt:lpstr>2_Custom Design</vt:lpstr>
      <vt:lpstr>Custom Design</vt:lpstr>
      <vt:lpstr>5_Custom Design</vt:lpstr>
      <vt:lpstr>7_Custom Design</vt:lpstr>
      <vt:lpstr>8_Custom Design</vt:lpstr>
      <vt:lpstr>9_Custom Design</vt:lpstr>
      <vt:lpstr>11_Custom Design</vt:lpstr>
      <vt:lpstr>12_Custom Design</vt:lpstr>
      <vt:lpstr>13_Custom Design</vt:lpstr>
      <vt:lpstr>PowerPoint Presentation</vt:lpstr>
      <vt:lpstr>Module 5 -Application layer and Security mechanisms</vt:lpstr>
      <vt:lpstr>Network Layer Security</vt:lpstr>
      <vt:lpstr>Introduction to IPSec</vt:lpstr>
      <vt:lpstr>Introduction to IPSec</vt:lpstr>
      <vt:lpstr>IPSec Operating Modes</vt:lpstr>
      <vt:lpstr>IPSec Operating Modes</vt:lpstr>
      <vt:lpstr>IPSec Transport Mode</vt:lpstr>
      <vt:lpstr>Working of Transport Mode</vt:lpstr>
      <vt:lpstr>PSec Tunnel Mode</vt:lpstr>
      <vt:lpstr>Working of Tunnel Mode</vt:lpstr>
      <vt:lpstr>Transport mode versus tunnel mode</vt:lpstr>
      <vt:lpstr>IPSec Security Protocols</vt:lpstr>
      <vt:lpstr>Authentication Header (AH)</vt:lpstr>
      <vt:lpstr>Working of AH Protocol</vt:lpstr>
      <vt:lpstr>Fields of AH Protocol</vt:lpstr>
      <vt:lpstr>Encapsulating Security Payload (ESP)</vt:lpstr>
      <vt:lpstr>Working of ESP Protocol</vt:lpstr>
      <vt:lpstr>Fields of ESP Protocol</vt:lpstr>
      <vt:lpstr>Services Provided by IPSec</vt:lpstr>
      <vt:lpstr>Access Control in IPSec</vt:lpstr>
      <vt:lpstr>PowerPoint Presentation</vt:lpstr>
      <vt:lpstr>Security Association (SA)</vt:lpstr>
      <vt:lpstr>Working of Security Association</vt:lpstr>
      <vt:lpstr>Security Association Database (SAD)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SLPINJARE</dc:creator>
  <cp:lastModifiedBy>Anjali Reddy GN</cp:lastModifiedBy>
  <cp:revision>144</cp:revision>
  <dcterms:created xsi:type="dcterms:W3CDTF">2006-07-07T09:10:42Z</dcterms:created>
  <dcterms:modified xsi:type="dcterms:W3CDTF">2026-05-14T04:36:16Z</dcterms:modified>
</cp:coreProperties>
</file>
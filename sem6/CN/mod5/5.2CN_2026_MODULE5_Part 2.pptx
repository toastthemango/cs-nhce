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slideLayouts/slideLayout3.xml" ContentType="application/vnd.openxmlformats-officedocument.presentationml.slideLayout+xml"/>
  <Override PartName="/ppt/theme/theme4.xml" ContentType="application/vnd.openxmlformats-officedocument.theme+xml"/>
  <Override PartName="/ppt/slideLayouts/slideLayout4.xml" ContentType="application/vnd.openxmlformats-officedocument.presentationml.slideLayout+xml"/>
  <Override PartName="/ppt/theme/theme5.xml" ContentType="application/vnd.openxmlformats-officedocument.theme+xml"/>
  <Override PartName="/ppt/slideLayouts/slideLayout5.xml" ContentType="application/vnd.openxmlformats-officedocument.presentationml.slideLayout+xml"/>
  <Override PartName="/ppt/theme/theme6.xml" ContentType="application/vnd.openxmlformats-officedocument.theme+xml"/>
  <Override PartName="/ppt/slideLayouts/slideLayout6.xml" ContentType="application/vnd.openxmlformats-officedocument.presentationml.slideLayout+xml"/>
  <Override PartName="/ppt/theme/theme7.xml" ContentType="application/vnd.openxmlformats-officedocument.theme+xml"/>
  <Override PartName="/ppt/slideLayouts/slideLayout7.xml" ContentType="application/vnd.openxmlformats-officedocument.presentationml.slideLayout+xml"/>
  <Override PartName="/ppt/theme/theme8.xml" ContentType="application/vnd.openxmlformats-officedocument.theme+xml"/>
  <Override PartName="/ppt/slideLayouts/slideLayout8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media/image5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4" r:id="rId2"/>
    <p:sldMasterId id="2147483668" r:id="rId3"/>
    <p:sldMasterId id="2147483672" r:id="rId4"/>
    <p:sldMasterId id="2147483674" r:id="rId5"/>
    <p:sldMasterId id="2147483676" r:id="rId6"/>
    <p:sldMasterId id="2147483680" r:id="rId7"/>
    <p:sldMasterId id="2147483682" r:id="rId8"/>
    <p:sldMasterId id="2147483684" r:id="rId9"/>
  </p:sldMasterIdLst>
  <p:notesMasterIdLst>
    <p:notesMasterId r:id="rId40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4" r:id="rId17"/>
    <p:sldId id="265" r:id="rId18"/>
    <p:sldId id="266" r:id="rId19"/>
    <p:sldId id="267" r:id="rId20"/>
    <p:sldId id="268" r:id="rId21"/>
    <p:sldId id="270" r:id="rId22"/>
    <p:sldId id="271" r:id="rId23"/>
    <p:sldId id="272" r:id="rId24"/>
    <p:sldId id="269" r:id="rId25"/>
    <p:sldId id="273" r:id="rId26"/>
    <p:sldId id="274" r:id="rId27"/>
    <p:sldId id="275" r:id="rId28"/>
    <p:sldId id="263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</p:sldIdLst>
  <p:sldSz cx="12192000" cy="6858000"/>
  <p:notesSz cx="6858000" cy="9144000"/>
  <p:embeddedFontLst>
    <p:embeddedFont>
      <p:font typeface="Cambria" panose="02040503050406030204" pitchFamily="18" charset="0"/>
      <p:regular r:id="rId41"/>
      <p:bold r:id="rId42"/>
      <p:italic r:id="rId43"/>
      <p:boldItalic r:id="rId44"/>
    </p:embeddedFont>
    <p:embeddedFont>
      <p:font typeface="Segoe UI Symbol" panose="020B0502040204020203" pitchFamily="34" charset="0"/>
      <p:regular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1" roundtripDataSignature="AMtx7mgwkiSlt6BWnYZheA7hU+owX/ha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2935C6-F629-48B7-A2C3-F061BE77A5B8}">
  <a:tblStyle styleId="{1E2935C6-F629-48B7-A2C3-F061BE77A5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font" Target="fonts/font2.fntdata"/><Relationship Id="rId7" Type="http://schemas.openxmlformats.org/officeDocument/2006/relationships/slideMaster" Target="slideMasters/slideMaster7.xml"/><Relationship Id="rId191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94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font" Target="fonts/font4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font" Target="fonts/font3.fntdata"/><Relationship Id="rId193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19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20" Type="http://schemas.openxmlformats.org/officeDocument/2006/relationships/slide" Target="slides/slide11.xml"/><Relationship Id="rId41" Type="http://schemas.openxmlformats.org/officeDocument/2006/relationships/font" Target="fonts/font1.fntdata"/><Relationship Id="rId19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>
          <a:extLst>
            <a:ext uri="{FF2B5EF4-FFF2-40B4-BE49-F238E27FC236}">
              <a16:creationId xmlns:a16="http://schemas.microsoft.com/office/drawing/2014/main" id="{205EA077-CC54-6222-BA75-78F56441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:notes">
            <a:extLst>
              <a:ext uri="{FF2B5EF4-FFF2-40B4-BE49-F238E27FC236}">
                <a16:creationId xmlns:a16="http://schemas.microsoft.com/office/drawing/2014/main" id="{96F24761-4992-9F7D-2B6D-1B2F68215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:notes">
            <a:extLst>
              <a:ext uri="{FF2B5EF4-FFF2-40B4-BE49-F238E27FC236}">
                <a16:creationId xmlns:a16="http://schemas.microsoft.com/office/drawing/2014/main" id="{6AEB3F5C-062D-4EF0-703A-55AF815BCC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:notes">
            <a:extLst>
              <a:ext uri="{FF2B5EF4-FFF2-40B4-BE49-F238E27FC236}">
                <a16:creationId xmlns:a16="http://schemas.microsoft.com/office/drawing/2014/main" id="{4F1623A0-C371-E690-C358-22F3994F577C}"/>
              </a:ext>
            </a:extLst>
          </p:cNvPr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DSDV (15EC663)</a:t>
            </a:r>
            <a:endParaRPr/>
          </a:p>
        </p:txBody>
      </p:sp>
      <p:sp>
        <p:nvSpPr>
          <p:cNvPr id="328" name="Google Shape;328;p1:notes">
            <a:extLst>
              <a:ext uri="{FF2B5EF4-FFF2-40B4-BE49-F238E27FC236}">
                <a16:creationId xmlns:a16="http://schemas.microsoft.com/office/drawing/2014/main" id="{D329FCA1-D134-4C76-2911-75F6D47F4878}"/>
              </a:ext>
            </a:extLst>
          </p:cNvPr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/>
          </a:p>
        </p:txBody>
      </p:sp>
      <p:sp>
        <p:nvSpPr>
          <p:cNvPr id="329" name="Google Shape;329;p1:notes">
            <a:extLst>
              <a:ext uri="{FF2B5EF4-FFF2-40B4-BE49-F238E27FC236}">
                <a16:creationId xmlns:a16="http://schemas.microsoft.com/office/drawing/2014/main" id="{F8055DF5-5488-B1F1-F2AB-FC7B2F9D5171}"/>
              </a:ext>
            </a:extLst>
          </p:cNvPr>
          <p:cNvSpPr txBox="1"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3205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None/>
              <a:defRPr>
                <a:solidFill>
                  <a:srgbClr val="3366FF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111B0-BD76-06FA-2703-A74A98FFA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BE474-B55E-C8EE-4A9B-89BE4C80EB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5C07C-E0A9-ED34-3AC5-8ABF645C86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EA88F-E819-7400-3C0E-61E1A33CF1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9827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3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9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93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93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93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7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9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FF66FF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009999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9" name="Google Shape;199;p9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FF66FF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009999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00" name="Google Shape;200;p9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FF66FF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009999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1" name="Google Shape;201;p9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FF66FF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009999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02" name="Google Shape;202;p97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97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97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9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99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99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99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1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01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101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5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05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105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3366FF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C00000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FF0000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FF66FF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009999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69" name="Google Shape;269;p105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105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105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7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07"/>
          <p:cNvSpPr txBox="1">
            <a:spLocks noGrp="1"/>
          </p:cNvSpPr>
          <p:nvPr>
            <p:ph type="body" idx="1"/>
          </p:nvPr>
        </p:nvSpPr>
        <p:spPr>
          <a:xfrm rot="5400000">
            <a:off x="3505200" y="-1905000"/>
            <a:ext cx="5181600" cy="115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3366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C000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FF66FF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9999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107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07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07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9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0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3366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C000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FF66FF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9999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3" name="Google Shape;303;p109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09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09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6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7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72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" name="Google Shape;11;p72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" name="Google Shape;12;p72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" name="Google Shape;13;p72"/>
          <p:cNvSpPr txBox="1"/>
          <p:nvPr userDrawn="1"/>
        </p:nvSpPr>
        <p:spPr>
          <a:xfrm>
            <a:off x="304800" y="25400"/>
            <a:ext cx="24384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600" b="1" i="0" u="none" dirty="0">
                <a:solidFill>
                  <a:srgbClr val="FF0000"/>
                </a:solidFill>
                <a:latin typeface="Cambria"/>
                <a:ea typeface="Cambria"/>
                <a:sym typeface="Cambria"/>
              </a:rPr>
              <a:t>C</a:t>
            </a:r>
            <a:r>
              <a:rPr lang="en-US" sz="1400" b="1" i="0" u="none" dirty="0">
                <a:solidFill>
                  <a:srgbClr val="0070C0"/>
                </a:solidFill>
                <a:latin typeface="Cambria"/>
                <a:ea typeface="Cambria"/>
                <a:sym typeface="Cambria"/>
              </a:rPr>
              <a:t>omputer </a:t>
            </a:r>
            <a:r>
              <a:rPr lang="en-US" sz="1400" b="1" i="0" u="none" dirty="0">
                <a:solidFill>
                  <a:srgbClr val="00B050"/>
                </a:solidFill>
                <a:latin typeface="Cambria"/>
                <a:ea typeface="Cambria"/>
                <a:sym typeface="Cambria"/>
              </a:rPr>
              <a:t>N</a:t>
            </a:r>
            <a:r>
              <a:rPr lang="en-US" sz="1400" b="1" i="0" u="none" dirty="0">
                <a:solidFill>
                  <a:srgbClr val="0070C0"/>
                </a:solidFill>
                <a:latin typeface="Cambria"/>
                <a:ea typeface="Cambria"/>
                <a:sym typeface="Cambria"/>
              </a:rPr>
              <a:t>etwork 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4" name="Google Shape;14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72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72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7" name="Google Shape;17;p72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8" name="Google Shape;18;p72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" name="Google Shape;19;p72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3;p72">
            <a:extLst>
              <a:ext uri="{FF2B5EF4-FFF2-40B4-BE49-F238E27FC236}">
                <a16:creationId xmlns:a16="http://schemas.microsoft.com/office/drawing/2014/main" id="{D19D220E-E241-2A4E-96C5-FCFABBA28CED}"/>
              </a:ext>
            </a:extLst>
          </p:cNvPr>
          <p:cNvSpPr txBox="1"/>
          <p:nvPr userDrawn="1"/>
        </p:nvSpPr>
        <p:spPr>
          <a:xfrm>
            <a:off x="8839200" y="6477000"/>
            <a:ext cx="24384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600" b="1" i="0" u="none" dirty="0">
                <a:solidFill>
                  <a:srgbClr val="002060"/>
                </a:solidFill>
                <a:latin typeface="Cambria"/>
                <a:ea typeface="Cambria"/>
                <a:sym typeface="Cambria"/>
              </a:rPr>
              <a:t>BHASKAR  S V</a:t>
            </a:r>
            <a:endParaRPr lang="en-US" dirty="0">
              <a:solidFill>
                <a:srgbClr val="00206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8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1" name="Google Shape;61;p78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78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78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4" name="Google Shape;64;p78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78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6" name="Google Shape;66;p78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7" name="Google Shape;67;p78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8" name="Google Shape;68;p78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69" name="Google Shape;69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" name="Google Shape;151;p92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52" name="Google Shape;152;p92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53" name="Google Shape;153;p92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54" name="Google Shape;154;p92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155" name="Google Shape;155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2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7" name="Google Shape;157;p92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8" name="Google Shape;158;p92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9" name="Google Shape;159;p92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0" name="Google Shape;160;p92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96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7" name="Google Shape;187;p96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8" name="Google Shape;188;p96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9" name="Google Shape;189;p96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190" name="Google Shape;190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6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2" name="Google Shape;192;p96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3" name="Google Shape;193;p96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4" name="Google Shape;194;p96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5" name="Google Shape;195;p96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98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7" name="Google Shape;207;p98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8" name="Google Shape;208;p98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9" name="Google Shape;209;p98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210" name="Google Shape;210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8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2" name="Google Shape;212;p98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3" name="Google Shape;213;p98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4" name="Google Shape;214;p98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5" name="Google Shape;215;p98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2" name="Google Shape;222;p100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23" name="Google Shape;223;p100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24" name="Google Shape;224;p100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25" name="Google Shape;225;p100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226" name="Google Shape;226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00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8" name="Google Shape;228;p100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9" name="Google Shape;229;p100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30" name="Google Shape;230;p100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31" name="Google Shape;231;p100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104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6" name="Google Shape;256;p104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7" name="Google Shape;257;p104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58" name="Google Shape;258;p104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259" name="Google Shape;259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04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1" name="Google Shape;261;p104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2" name="Google Shape;262;p104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3" name="Google Shape;263;p104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4" name="Google Shape;264;p104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" name="Google Shape;273;p106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74" name="Google Shape;274;p106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75" name="Google Shape;275;p106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76" name="Google Shape;276;p106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277" name="Google Shape;277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6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9" name="Google Shape;279;p106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0" name="Google Shape;280;p106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1" name="Google Shape;281;p106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2" name="Google Shape;282;p106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0" name="Google Shape;290;p108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91" name="Google Shape;291;p108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92" name="Google Shape;292;p108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93" name="Google Shape;293;p108"/>
          <p:cNvSpPr txBox="1"/>
          <p:nvPr/>
        </p:nvSpPr>
        <p:spPr>
          <a:xfrm>
            <a:off x="304800" y="25400"/>
            <a:ext cx="24384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2000" b="1" i="0" u="none" dirty="0">
                <a:solidFill>
                  <a:srgbClr val="FF0000"/>
                </a:solidFill>
                <a:latin typeface="Cambria"/>
                <a:ea typeface="Cambria"/>
                <a:sym typeface="Cambria"/>
              </a:rPr>
              <a:t>C</a:t>
            </a:r>
            <a:r>
              <a:rPr lang="en-US" sz="1800" b="1" i="0" u="none" dirty="0">
                <a:solidFill>
                  <a:srgbClr val="0070C0"/>
                </a:solidFill>
                <a:latin typeface="Cambria"/>
                <a:ea typeface="Cambria"/>
                <a:sym typeface="Cambria"/>
              </a:rPr>
              <a:t>omputer </a:t>
            </a:r>
            <a:r>
              <a:rPr lang="en-US" sz="1800" b="1" i="0" u="none" dirty="0">
                <a:solidFill>
                  <a:srgbClr val="00B050"/>
                </a:solidFill>
                <a:latin typeface="Cambria"/>
                <a:ea typeface="Cambria"/>
                <a:sym typeface="Cambria"/>
              </a:rPr>
              <a:t>N</a:t>
            </a:r>
            <a:r>
              <a:rPr lang="en-US" sz="1800" b="1" i="0" u="none" dirty="0">
                <a:solidFill>
                  <a:srgbClr val="0070C0"/>
                </a:solidFill>
                <a:latin typeface="Cambria"/>
                <a:ea typeface="Cambria"/>
                <a:sym typeface="Cambria"/>
              </a:rPr>
              <a:t>etwork </a:t>
            </a:r>
            <a:endParaRPr dirty="0">
              <a:solidFill>
                <a:srgbClr val="0070C0"/>
              </a:solidFill>
            </a:endParaRPr>
          </a:p>
        </p:txBody>
      </p:sp>
      <p:pic>
        <p:nvPicPr>
          <p:cNvPr id="294" name="Google Shape;294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8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96" name="Google Shape;296;p108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97" name="Google Shape;297;p108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98" name="Google Shape;298;p108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99" name="Google Shape;299;p108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FD0B6901-DB5F-5E4E-E900-5F3C69F89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nternet Clipart Computer Networking ...">
            <a:extLst>
              <a:ext uri="{FF2B5EF4-FFF2-40B4-BE49-F238E27FC236}">
                <a16:creationId xmlns:a16="http://schemas.microsoft.com/office/drawing/2014/main" id="{A0736BE6-8E1C-B9D4-3DE6-49FF0D349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7" y="2576691"/>
            <a:ext cx="6138659" cy="361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1" name="Google Shape;331;p1">
            <a:extLst>
              <a:ext uri="{FF2B5EF4-FFF2-40B4-BE49-F238E27FC236}">
                <a16:creationId xmlns:a16="http://schemas.microsoft.com/office/drawing/2014/main" id="{29A2B563-FFA1-3EBA-2B2B-92A78245EC6E}"/>
              </a:ext>
            </a:extLst>
          </p:cNvPr>
          <p:cNvSpPr txBox="1"/>
          <p:nvPr/>
        </p:nvSpPr>
        <p:spPr>
          <a:xfrm>
            <a:off x="547278" y="1045914"/>
            <a:ext cx="11605394" cy="133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6000"/>
              <a:buFont typeface="Cambria"/>
              <a:buNone/>
            </a:pPr>
            <a:r>
              <a:rPr lang="en-US" sz="72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-US" sz="7200" b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OMPUTER</a:t>
            </a:r>
            <a:r>
              <a:rPr lang="en-US" sz="72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N</a:t>
            </a:r>
            <a:r>
              <a:rPr lang="en-US" sz="7200" b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etwork</a:t>
            </a:r>
            <a:r>
              <a:rPr lang="en-US" sz="72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7200" b="1" dirty="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22</a:t>
            </a:r>
            <a:r>
              <a:rPr lang="en-US" sz="7200" b="1" dirty="0">
                <a:solidFill>
                  <a:srgbClr val="92D050"/>
                </a:solidFill>
                <a:latin typeface="Cambria"/>
                <a:ea typeface="Cambria"/>
                <a:cs typeface="Cambria"/>
                <a:sym typeface="Cambria"/>
              </a:rPr>
              <a:t>CSE</a:t>
            </a:r>
            <a:r>
              <a:rPr lang="en-US" sz="7200" b="1" dirty="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62</a:t>
            </a:r>
            <a:r>
              <a:rPr lang="en-US" sz="72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–M.5.2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6000"/>
              <a:buFont typeface="Cambria"/>
              <a:buNone/>
            </a:pPr>
            <a:endParaRPr dirty="0"/>
          </a:p>
        </p:txBody>
      </p:sp>
      <p:pic>
        <p:nvPicPr>
          <p:cNvPr id="333" name="Google Shape;333;p1">
            <a:extLst>
              <a:ext uri="{FF2B5EF4-FFF2-40B4-BE49-F238E27FC236}">
                <a16:creationId xmlns:a16="http://schemas.microsoft.com/office/drawing/2014/main" id="{E370BC9A-E716-5AB4-C94E-FA0C0DC7100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3806" y="4953000"/>
            <a:ext cx="1219200" cy="1531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7C4419-DFC5-6B4A-5C92-F0F685A02B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l="24107" r="21616" b="28859"/>
          <a:stretch>
            <a:fillRect/>
          </a:stretch>
        </p:blipFill>
        <p:spPr>
          <a:xfrm>
            <a:off x="6479459" y="3429000"/>
            <a:ext cx="3569110" cy="261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45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60DAE-B796-0560-1537-E05AED93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9BE7FCE-C07E-FBA9-07D8-392243306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618" y="1546122"/>
            <a:ext cx="11238271" cy="3861620"/>
          </a:xfrm>
        </p:spPr>
        <p:txBody>
          <a:bodyPr/>
          <a:lstStyle/>
          <a:p>
            <a:pPr marL="508000" indent="-457200" algn="l">
              <a:buFont typeface="Arial" panose="020B0604020202020204" pitchFamily="34" charset="0"/>
              <a:buChar char="•"/>
            </a:pPr>
            <a:r>
              <a:rPr lang="en-US" dirty="0"/>
              <a:t>Overview of:</a:t>
            </a:r>
          </a:p>
          <a:p>
            <a:pPr marL="965200" lvl="1" indent="-457200" algn="l">
              <a:buFont typeface="Arial" panose="020B0604020202020204" pitchFamily="34" charset="0"/>
              <a:buChar char="•"/>
            </a:pPr>
            <a:r>
              <a:rPr lang="en-US" dirty="0"/>
              <a:t> Domain Name Space, </a:t>
            </a:r>
          </a:p>
          <a:p>
            <a:pPr marL="965200" lvl="1" indent="-457200" algn="l">
              <a:buFont typeface="Arial" panose="020B0604020202020204" pitchFamily="34" charset="0"/>
              <a:buChar char="•"/>
            </a:pPr>
            <a:r>
              <a:rPr lang="en-US" dirty="0"/>
              <a:t>Remote Logging, Email, FTP, WWW, HTTP</a:t>
            </a:r>
          </a:p>
          <a:p>
            <a:pPr marL="965200" lvl="1" indent="-457200" algn="l">
              <a:buFont typeface="Arial" panose="020B0604020202020204" pitchFamily="34" charset="0"/>
              <a:buChar char="•"/>
            </a:pPr>
            <a:r>
              <a:rPr lang="en-US" dirty="0"/>
              <a:t>Security – Network Layer Security, Application Layer Security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3203DD-A5FA-267E-AFCD-FEA60DCB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5 -</a:t>
            </a:r>
            <a:r>
              <a:rPr lang="en-US" dirty="0"/>
              <a:t>Application layer and Security mechanisms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1955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973236D-BC0F-0AB8-0972-9034640F4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1320800"/>
            <a:ext cx="11866880" cy="4978400"/>
          </a:xfrm>
        </p:spPr>
        <p:txBody>
          <a:bodyPr/>
          <a:lstStyle/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The World Wide Web (WWW) is a repository </a:t>
            </a:r>
            <a:r>
              <a:rPr lang="en-US" b="0" dirty="0">
                <a:solidFill>
                  <a:srgbClr val="FF0000"/>
                </a:solidFill>
              </a:rPr>
              <a:t>of information linked together</a:t>
            </a:r>
            <a:r>
              <a:rPr lang="en-US" b="0" dirty="0"/>
              <a:t> from points all over the world.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The  WWW  has a unique combination of flexibility, portability, and user-friendly features that distinguish it from other services provided by the Internet.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endParaRPr lang="en-US" b="0" dirty="0"/>
          </a:p>
          <a:p>
            <a:pPr marL="508000" indent="-45720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FF642C-01CB-32AC-D9CD-A63ECDB7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World Wide Web (www)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FB4836F-E55F-2A56-BE5F-819240F0249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6800" y="3429000"/>
            <a:ext cx="8353056" cy="264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22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823A3-0687-BE4A-8C67-EFB6DA80C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8569B27-6C8E-EA8C-B092-059B60477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1320800"/>
            <a:ext cx="11866880" cy="4978400"/>
          </a:xfrm>
        </p:spPr>
        <p:txBody>
          <a:bodyPr/>
          <a:lstStyle/>
          <a:p>
            <a:pPr marL="337820" indent="-274320" algn="just">
              <a:spcBef>
                <a:spcPts val="355"/>
              </a:spcBef>
              <a:buClr>
                <a:srgbClr val="95A8A8"/>
              </a:buClr>
              <a:buSzPct val="59375"/>
              <a:buFont typeface="Segoe UI Symbol"/>
              <a:buChar char="●"/>
              <a:tabLst>
                <a:tab pos="337820" algn="l"/>
              </a:tabLst>
            </a:pPr>
            <a:r>
              <a:rPr lang="en-US" b="0" dirty="0">
                <a:latin typeface="Times New Roman"/>
                <a:cs typeface="Times New Roman"/>
              </a:rPr>
              <a:t>Website:</a:t>
            </a:r>
            <a:r>
              <a:rPr lang="en-US" b="0" spc="650" dirty="0">
                <a:latin typeface="Times New Roman"/>
                <a:cs typeface="Times New Roman"/>
              </a:rPr>
              <a:t> </a:t>
            </a:r>
            <a:r>
              <a:rPr lang="en-US" sz="2400" b="0" spc="-25" dirty="0">
                <a:latin typeface="Times New Roman"/>
                <a:cs typeface="Times New Roman"/>
              </a:rPr>
              <a:t>A</a:t>
            </a:r>
            <a:r>
              <a:rPr lang="en-US" sz="2400" b="0" spc="-170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collection</a:t>
            </a:r>
            <a:r>
              <a:rPr lang="en-US" sz="2400" b="0" spc="-6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of</a:t>
            </a:r>
            <a:r>
              <a:rPr lang="en-US" sz="2400" b="0" spc="-60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related</a:t>
            </a:r>
            <a:r>
              <a:rPr lang="en-US" sz="2400" b="0" spc="-6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web</a:t>
            </a:r>
            <a:r>
              <a:rPr lang="en-US" sz="2400" b="0" spc="-65" dirty="0">
                <a:latin typeface="Times New Roman"/>
                <a:cs typeface="Times New Roman"/>
              </a:rPr>
              <a:t> </a:t>
            </a:r>
            <a:r>
              <a:rPr lang="en-US" sz="2400" b="0" spc="-10" dirty="0">
                <a:latin typeface="Times New Roman"/>
                <a:cs typeface="Times New Roman"/>
              </a:rPr>
              <a:t>pages</a:t>
            </a:r>
            <a:endParaRPr lang="en-US" sz="2400" b="0" dirty="0">
              <a:latin typeface="Times New Roman"/>
              <a:cs typeface="Times New Roman"/>
            </a:endParaRPr>
          </a:p>
          <a:p>
            <a:pPr marL="337820" marR="64135" indent="-274320" algn="just">
              <a:lnSpc>
                <a:spcPts val="3100"/>
              </a:lnSpc>
              <a:spcBef>
                <a:spcPts val="980"/>
              </a:spcBef>
              <a:buClr>
                <a:srgbClr val="95A8A8"/>
              </a:buClr>
              <a:buSzPct val="59375"/>
              <a:buFont typeface="Segoe UI Symbol"/>
              <a:buChar char="●"/>
              <a:tabLst>
                <a:tab pos="337820" algn="l"/>
              </a:tabLst>
            </a:pPr>
            <a:r>
              <a:rPr lang="en-US" b="0" dirty="0">
                <a:latin typeface="Times New Roman"/>
                <a:cs typeface="Times New Roman"/>
              </a:rPr>
              <a:t>Web</a:t>
            </a:r>
            <a:r>
              <a:rPr lang="en-US" b="0" spc="-25" dirty="0">
                <a:latin typeface="Times New Roman"/>
                <a:cs typeface="Times New Roman"/>
              </a:rPr>
              <a:t> </a:t>
            </a:r>
            <a:r>
              <a:rPr lang="en-US" b="0" dirty="0">
                <a:latin typeface="Times New Roman"/>
                <a:cs typeface="Times New Roman"/>
              </a:rPr>
              <a:t>browser:</a:t>
            </a:r>
            <a:r>
              <a:rPr lang="en-US" b="0" spc="10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A</a:t>
            </a:r>
            <a:r>
              <a:rPr lang="en-US" sz="2400" b="0" spc="-16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software</a:t>
            </a:r>
            <a:r>
              <a:rPr lang="en-US" sz="2400" b="0" spc="-2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tool</a:t>
            </a:r>
            <a:r>
              <a:rPr lang="en-US" sz="2400" b="0" spc="-20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that</a:t>
            </a:r>
            <a:r>
              <a:rPr lang="en-US" sz="2400" b="0" spc="-20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retrieves</a:t>
            </a:r>
            <a:r>
              <a:rPr lang="en-US" sz="2400" b="0" spc="-15" dirty="0">
                <a:latin typeface="Times New Roman"/>
                <a:cs typeface="Times New Roman"/>
              </a:rPr>
              <a:t> </a:t>
            </a:r>
            <a:r>
              <a:rPr lang="en-US" sz="2400" b="0" spc="-25" dirty="0">
                <a:latin typeface="Times New Roman"/>
                <a:cs typeface="Times New Roman"/>
              </a:rPr>
              <a:t>and </a:t>
            </a:r>
            <a:r>
              <a:rPr lang="en-US" sz="2400" b="0" dirty="0">
                <a:latin typeface="Times New Roman"/>
                <a:cs typeface="Times New Roman"/>
              </a:rPr>
              <a:t>displays</a:t>
            </a:r>
            <a:r>
              <a:rPr lang="en-US" sz="2400" b="0" spc="-50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web</a:t>
            </a:r>
            <a:r>
              <a:rPr lang="en-US" sz="2400" b="0" spc="-45" dirty="0">
                <a:latin typeface="Times New Roman"/>
                <a:cs typeface="Times New Roman"/>
              </a:rPr>
              <a:t> </a:t>
            </a:r>
            <a:r>
              <a:rPr lang="en-US" sz="2400" b="0" spc="-20" dirty="0">
                <a:latin typeface="Times New Roman"/>
                <a:cs typeface="Times New Roman"/>
              </a:rPr>
              <a:t>pages</a:t>
            </a:r>
            <a:endParaRPr lang="en-US" sz="2400" b="0" dirty="0">
              <a:latin typeface="Times New Roman"/>
              <a:cs typeface="Times New Roman"/>
            </a:endParaRPr>
          </a:p>
          <a:p>
            <a:pPr marL="337820" marR="62230" indent="-274320" algn="just">
              <a:lnSpc>
                <a:spcPts val="3100"/>
              </a:lnSpc>
              <a:spcBef>
                <a:spcPts val="915"/>
              </a:spcBef>
              <a:buClr>
                <a:srgbClr val="95A8A8"/>
              </a:buClr>
              <a:buSzPct val="59375"/>
              <a:buFont typeface="Segoe UI Symbol"/>
              <a:buChar char="●"/>
              <a:tabLst>
                <a:tab pos="337820" algn="l"/>
              </a:tabLst>
            </a:pPr>
            <a:r>
              <a:rPr lang="en-US" b="0" dirty="0">
                <a:latin typeface="Times New Roman"/>
                <a:cs typeface="Times New Roman"/>
              </a:rPr>
              <a:t>Web</a:t>
            </a:r>
            <a:r>
              <a:rPr lang="en-US" b="0" spc="500" dirty="0">
                <a:latin typeface="Times New Roman"/>
                <a:cs typeface="Times New Roman"/>
              </a:rPr>
              <a:t> </a:t>
            </a:r>
            <a:r>
              <a:rPr lang="en-US" b="0" dirty="0">
                <a:latin typeface="Times New Roman"/>
                <a:cs typeface="Times New Roman"/>
              </a:rPr>
              <a:t>server:</a:t>
            </a:r>
            <a:r>
              <a:rPr lang="en-US" b="0" spc="54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A</a:t>
            </a:r>
            <a:r>
              <a:rPr lang="en-US" sz="2400" b="0" spc="350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computer</a:t>
            </a:r>
            <a:r>
              <a:rPr lang="en-US" sz="2400" b="0" spc="50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set</a:t>
            </a:r>
            <a:r>
              <a:rPr lang="en-US" sz="2400" b="0" spc="50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up</a:t>
            </a:r>
            <a:r>
              <a:rPr lang="en-US" sz="2400" b="0" spc="500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to</a:t>
            </a:r>
            <a:r>
              <a:rPr lang="en-US" sz="2400" b="0" spc="50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respond</a:t>
            </a:r>
            <a:r>
              <a:rPr lang="en-US" sz="2400" b="0" spc="505" dirty="0">
                <a:latin typeface="Times New Roman"/>
                <a:cs typeface="Times New Roman"/>
              </a:rPr>
              <a:t> </a:t>
            </a:r>
            <a:r>
              <a:rPr lang="en-US" sz="2400" b="0" spc="-25" dirty="0">
                <a:latin typeface="Times New Roman"/>
                <a:cs typeface="Times New Roman"/>
              </a:rPr>
              <a:t>to </a:t>
            </a:r>
            <a:r>
              <a:rPr lang="en-US" sz="2400" b="0" dirty="0">
                <a:latin typeface="Times New Roman"/>
                <a:cs typeface="Times New Roman"/>
              </a:rPr>
              <a:t>requests</a:t>
            </a:r>
            <a:r>
              <a:rPr lang="en-US" sz="2400" b="0" spc="-4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for</a:t>
            </a:r>
            <a:r>
              <a:rPr lang="en-US" sz="2400" b="0" spc="-50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web</a:t>
            </a:r>
            <a:r>
              <a:rPr lang="en-US" sz="2400" b="0" spc="-45" dirty="0">
                <a:latin typeface="Times New Roman"/>
                <a:cs typeface="Times New Roman"/>
              </a:rPr>
              <a:t> </a:t>
            </a:r>
            <a:r>
              <a:rPr lang="en-US" sz="2400" b="0" spc="-20" dirty="0">
                <a:latin typeface="Times New Roman"/>
                <a:cs typeface="Times New Roman"/>
              </a:rPr>
              <a:t>pages</a:t>
            </a:r>
            <a:endParaRPr lang="en-US" sz="2400" b="0" dirty="0">
              <a:latin typeface="Times New Roman"/>
              <a:cs typeface="Times New Roman"/>
            </a:endParaRPr>
          </a:p>
          <a:p>
            <a:pPr marL="337820" marR="30480" indent="-274320" algn="just">
              <a:lnSpc>
                <a:spcPct val="90000"/>
              </a:lnSpc>
              <a:spcBef>
                <a:spcPts val="580"/>
              </a:spcBef>
              <a:buClr>
                <a:srgbClr val="95A8A8"/>
              </a:buClr>
              <a:buSzPct val="59375"/>
              <a:buFont typeface="Segoe UI Symbol"/>
              <a:buChar char="●"/>
              <a:tabLst>
                <a:tab pos="337820" algn="l"/>
              </a:tabLst>
            </a:pPr>
            <a:r>
              <a:rPr lang="en-US" b="0" dirty="0">
                <a:latin typeface="Times New Roman"/>
                <a:cs typeface="Times New Roman"/>
              </a:rPr>
              <a:t>Uniform</a:t>
            </a:r>
            <a:r>
              <a:rPr lang="en-US" b="0" spc="500" dirty="0">
                <a:latin typeface="Times New Roman"/>
                <a:cs typeface="Times New Roman"/>
              </a:rPr>
              <a:t>  </a:t>
            </a:r>
            <a:r>
              <a:rPr lang="en-US" b="0" dirty="0">
                <a:latin typeface="Times New Roman"/>
                <a:cs typeface="Times New Roman"/>
              </a:rPr>
              <a:t>Resource</a:t>
            </a:r>
            <a:r>
              <a:rPr lang="en-US" b="0" spc="505" dirty="0">
                <a:latin typeface="Times New Roman"/>
                <a:cs typeface="Times New Roman"/>
              </a:rPr>
              <a:t>  </a:t>
            </a:r>
            <a:r>
              <a:rPr lang="en-US" b="0" dirty="0">
                <a:latin typeface="Times New Roman"/>
                <a:cs typeface="Times New Roman"/>
              </a:rPr>
              <a:t>Locator</a:t>
            </a:r>
            <a:r>
              <a:rPr lang="en-US" b="0" spc="475" dirty="0">
                <a:latin typeface="Times New Roman"/>
                <a:cs typeface="Times New Roman"/>
              </a:rPr>
              <a:t>  </a:t>
            </a:r>
            <a:r>
              <a:rPr lang="en-US" b="0" dirty="0">
                <a:latin typeface="Times New Roman"/>
                <a:cs typeface="Times New Roman"/>
              </a:rPr>
              <a:t>(URL):</a:t>
            </a:r>
            <a:r>
              <a:rPr lang="en-US" b="0" spc="540" dirty="0">
                <a:latin typeface="Times New Roman"/>
                <a:cs typeface="Times New Roman"/>
              </a:rPr>
              <a:t>  </a:t>
            </a:r>
            <a:r>
              <a:rPr lang="en-US" sz="2400" b="0" spc="-50" dirty="0">
                <a:latin typeface="Times New Roman"/>
                <a:cs typeface="Times New Roman"/>
              </a:rPr>
              <a:t>A </a:t>
            </a:r>
            <a:r>
              <a:rPr lang="en-US" sz="2400" b="0" dirty="0">
                <a:latin typeface="Times New Roman"/>
                <a:cs typeface="Times New Roman"/>
              </a:rPr>
              <a:t>standard</a:t>
            </a:r>
            <a:r>
              <a:rPr lang="en-US" sz="2400" b="0" spc="33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way</a:t>
            </a:r>
            <a:r>
              <a:rPr lang="en-US" sz="2400" b="0" spc="33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of</a:t>
            </a:r>
            <a:r>
              <a:rPr lang="en-US" sz="2400" b="0" spc="340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specifying</a:t>
            </a:r>
            <a:r>
              <a:rPr lang="en-US" sz="2400" b="0" spc="33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the</a:t>
            </a:r>
            <a:r>
              <a:rPr lang="en-US" sz="2400" b="0" spc="330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location</a:t>
            </a:r>
            <a:r>
              <a:rPr lang="en-US" sz="2400" b="0" spc="33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of</a:t>
            </a:r>
            <a:r>
              <a:rPr lang="en-US" sz="2400" b="0" spc="340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a</a:t>
            </a:r>
            <a:r>
              <a:rPr lang="en-US" sz="2400" b="0" spc="275" dirty="0">
                <a:latin typeface="Times New Roman"/>
                <a:cs typeface="Times New Roman"/>
              </a:rPr>
              <a:t> </a:t>
            </a:r>
            <a:r>
              <a:rPr lang="en-US" sz="2400" b="0" spc="-25" dirty="0">
                <a:latin typeface="Times New Roman"/>
                <a:cs typeface="Times New Roman"/>
              </a:rPr>
              <a:t>Web </a:t>
            </a:r>
            <a:r>
              <a:rPr lang="en-US" sz="2400" b="0" dirty="0">
                <a:latin typeface="Times New Roman"/>
                <a:cs typeface="Times New Roman"/>
              </a:rPr>
              <a:t>page,</a:t>
            </a:r>
            <a:r>
              <a:rPr lang="en-US" sz="2400" b="0" spc="-3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containing</a:t>
            </a:r>
            <a:r>
              <a:rPr lang="en-US" sz="2400" b="0" spc="-2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the</a:t>
            </a:r>
            <a:r>
              <a:rPr lang="en-US" sz="2400" b="0" spc="-30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hostname,</a:t>
            </a:r>
            <a:r>
              <a:rPr lang="en-US" sz="2400" b="0" spc="-2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"/",</a:t>
            </a:r>
            <a:r>
              <a:rPr lang="en-US" sz="2400" b="0" spc="-2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and</a:t>
            </a:r>
            <a:r>
              <a:rPr lang="en-US" sz="2400" b="0" spc="-25" dirty="0">
                <a:latin typeface="Times New Roman"/>
                <a:cs typeface="Times New Roman"/>
              </a:rPr>
              <a:t> </a:t>
            </a:r>
            <a:r>
              <a:rPr lang="en-US" sz="2400" b="0" dirty="0">
                <a:latin typeface="Times New Roman"/>
                <a:cs typeface="Times New Roman"/>
              </a:rPr>
              <a:t>a</a:t>
            </a:r>
            <a:r>
              <a:rPr lang="en-US" sz="2400" b="0" spc="-25" dirty="0">
                <a:latin typeface="Times New Roman"/>
                <a:cs typeface="Times New Roman"/>
              </a:rPr>
              <a:t> </a:t>
            </a:r>
            <a:r>
              <a:rPr lang="en-US" sz="2400" b="0" spc="-20" dirty="0">
                <a:latin typeface="Times New Roman"/>
                <a:cs typeface="Times New Roman"/>
              </a:rPr>
              <a:t>file</a:t>
            </a:r>
            <a:endParaRPr lang="en-US" sz="2400" b="0" dirty="0">
              <a:latin typeface="Times New Roman"/>
              <a:cs typeface="Times New Roman"/>
            </a:endParaRPr>
          </a:p>
          <a:p>
            <a:pPr marL="508000" indent="-457200" algn="just">
              <a:buFont typeface="Arial" panose="020B0604020202020204" pitchFamily="34" charset="0"/>
              <a:buChar char="•"/>
            </a:pPr>
            <a:endParaRPr lang="en-US" b="0" dirty="0"/>
          </a:p>
          <a:p>
            <a:pPr marL="508000" indent="-45720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AB68A1-1CFB-7B73-7003-4E925B93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World Wide Web (www)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931F522-A069-C8B4-DA97-50002C4B46A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4544" y="3802368"/>
            <a:ext cx="8353056" cy="264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6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54C13F3-0C3C-1026-E80C-0FDCC82FB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120" y="1320800"/>
            <a:ext cx="11673840" cy="1752600"/>
          </a:xfrm>
        </p:spPr>
        <p:txBody>
          <a:bodyPr/>
          <a:lstStyle/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The  WWW  today is a distributed client/server service, in which </a:t>
            </a:r>
            <a:r>
              <a:rPr lang="en-US" b="0" dirty="0">
                <a:solidFill>
                  <a:srgbClr val="FF0000"/>
                </a:solidFill>
              </a:rPr>
              <a:t>a client using a browser </a:t>
            </a:r>
            <a:r>
              <a:rPr lang="en-US" b="0" dirty="0"/>
              <a:t>can access a service using a server.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	The service provided is distributed over many locations called sites</a:t>
            </a: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3BD73C-1CD9-916F-3B53-725E8E4B4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WWW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00E088-9B3A-64DF-19D4-2FA20D650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847" y="2788284"/>
            <a:ext cx="6540558" cy="353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069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88A3A17-5094-5504-1EED-337263231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" y="1125794"/>
            <a:ext cx="11887200" cy="1752600"/>
          </a:xfrm>
        </p:spPr>
        <p:txBody>
          <a:bodyPr/>
          <a:lstStyle/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Each browser usually consists of three parts:</a:t>
            </a:r>
          </a:p>
          <a:p>
            <a:pPr marL="965200" lvl="1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a controller,</a:t>
            </a:r>
          </a:p>
          <a:p>
            <a:pPr marL="965200" lvl="1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client protocol, and</a:t>
            </a:r>
          </a:p>
          <a:p>
            <a:pPr marL="965200" lvl="1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interpreters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	The controller receives input from the keyboard or the mouse and uses the client protocols to access the document.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	After the document has been accessed, the controller uses one of the interpreters to display the document on the screen.</a:t>
            </a: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1B403E-809C-9F99-BA15-F7FB4BEA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(Browser)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179EE5-B3FD-7AE9-F085-E92ED8D54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831" y="4801994"/>
            <a:ext cx="6256338" cy="164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850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9B52601-BEBF-00FC-21A9-D69349B36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320800"/>
            <a:ext cx="11673840" cy="4947920"/>
          </a:xfrm>
        </p:spPr>
        <p:txBody>
          <a:bodyPr/>
          <a:lstStyle/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The Web page is stored at the server. Each time a client request arrives, the corresponding document is sent to the client.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endParaRPr lang="en-US" b="0" dirty="0"/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To  improve  efficiency,  servers  normally  store requested files in a cache in memory; memory is faster to access than disk.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endParaRPr lang="en-US" b="0" dirty="0"/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A server can also become more efficient through multithreading  or  multiprocessing.  In  this  case,  a server  can  answer  more  than  one  request  at  a time.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9ADC99-F9CD-C3D4-7D45-B63BAA8DC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3460470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45DB6-7806-5CB5-7F89-FF5AA4F9C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05FAC94-541F-AF26-0D22-F2FCFEABA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320800"/>
            <a:ext cx="11673840" cy="4947920"/>
          </a:xfrm>
        </p:spPr>
        <p:txBody>
          <a:bodyPr/>
          <a:lstStyle/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A URL is defined as any character string that identifies a resource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The URL defines four things: protocol, host computer, port, and path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https://meet.google.com/tsv-qyux-ppi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57CD70-7666-7E92-9467-E50327739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Uniform Resource Locator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B91FA-9656-0558-52E8-D4A368113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160" y="3740880"/>
            <a:ext cx="9363153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882F74-5188-D5D4-0951-2834FC797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30" y="4949825"/>
            <a:ext cx="10531770" cy="117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06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A2D39-E4E7-651F-BB21-8C5AA3F0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04C7615-41F8-06B3-8321-15629F052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320800"/>
            <a:ext cx="11673840" cy="4947920"/>
          </a:xfrm>
        </p:spPr>
        <p:txBody>
          <a:bodyPr/>
          <a:lstStyle/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The </a:t>
            </a:r>
            <a:r>
              <a:rPr lang="en-US" dirty="0"/>
              <a:t>protocol </a:t>
            </a:r>
            <a:r>
              <a:rPr lang="en-US" b="0" dirty="0"/>
              <a:t>is the client/server program used to retrieve the document.</a:t>
            </a:r>
          </a:p>
          <a:p>
            <a:pPr marL="965200" lvl="1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Many different protocols can retrieve a document; among them are FTP or HTTP. The most common today is HTTP.</a:t>
            </a:r>
          </a:p>
          <a:p>
            <a:pPr marL="965200" lvl="1" indent="-457200" algn="just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1FFA64-C974-2FF4-1C13-DD0F359A8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Uniform Resource Locator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6FEF9A-C3BC-88BD-3815-AAD1E1B2F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429000"/>
            <a:ext cx="396240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599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E07B4-18B9-2458-C56F-BCB1FBE02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2DF4A58-39C2-AD8E-5001-B670DC25E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320800"/>
            <a:ext cx="11673840" cy="4947920"/>
          </a:xfrm>
        </p:spPr>
        <p:txBody>
          <a:bodyPr/>
          <a:lstStyle/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The </a:t>
            </a:r>
            <a:r>
              <a:rPr lang="en-US" dirty="0"/>
              <a:t>host </a:t>
            </a:r>
            <a:r>
              <a:rPr lang="en-US" b="0" dirty="0"/>
              <a:t>is the computer on which the information is located.</a:t>
            </a:r>
          </a:p>
          <a:p>
            <a:pPr marL="965200" lvl="1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Web pages are usually stored in computers, and computers are given alias names that usually begin with the characters "www". This is not mandatory.</a:t>
            </a:r>
          </a:p>
          <a:p>
            <a:pPr marL="50800" indent="0" algn="just"/>
            <a:br>
              <a:rPr lang="en-US" dirty="0"/>
            </a:b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1A0265-A786-5F04-63B0-DA60D97A3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Uniform Resource Locator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C355E-16EF-4B4B-9AD7-A5AAA23B6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390" y="2840990"/>
            <a:ext cx="5083810" cy="330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0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66681-84B1-3D02-9495-5F202BD1A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9ADA61B-2E29-2119-29DC-D6460F52F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320800"/>
            <a:ext cx="11673840" cy="4947920"/>
          </a:xfrm>
        </p:spPr>
        <p:txBody>
          <a:bodyPr/>
          <a:lstStyle/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The URL can optionally contain the </a:t>
            </a:r>
            <a:r>
              <a:rPr lang="en-US" dirty="0"/>
              <a:t>port number </a:t>
            </a:r>
            <a:r>
              <a:rPr lang="en-US" b="0" dirty="0"/>
              <a:t>of the server.</a:t>
            </a:r>
          </a:p>
          <a:p>
            <a:pPr marL="965200" lvl="1" indent="-457200" algn="l">
              <a:buFont typeface="Arial" panose="020B0604020202020204" pitchFamily="34" charset="0"/>
              <a:buChar char="•"/>
            </a:pPr>
            <a:r>
              <a:rPr lang="en-US" b="0" dirty="0"/>
              <a:t>If the port is included, it is inserted between the host and the path, and it is separated from the host by a colon.</a:t>
            </a: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F9FC9A-C285-2004-EB93-670B20211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Uniform Resource Locator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92E69-5F54-F075-3976-4D013635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7" y="2704465"/>
            <a:ext cx="6134009" cy="374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8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26CFA-6FF1-9C5B-6A94-BFD8F89B8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DACC94E-CC68-D4A5-213E-84FB446DC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320800"/>
            <a:ext cx="11673840" cy="4947920"/>
          </a:xfrm>
        </p:spPr>
        <p:txBody>
          <a:bodyPr/>
          <a:lstStyle/>
          <a:p>
            <a:pPr marL="508000" indent="-45720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E9412C-5477-D4FF-5BB0-1C43436A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Uniform Resource Locator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53C16B-FB84-F118-292C-79F922108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" y="1432560"/>
            <a:ext cx="546735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35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5E2C3-76AB-28E2-0DA7-991609467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9F39DF4-F47F-73A6-FC15-22C71163C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320800"/>
            <a:ext cx="11673840" cy="4947920"/>
          </a:xfrm>
        </p:spPr>
        <p:txBody>
          <a:bodyPr/>
          <a:lstStyle/>
          <a:p>
            <a:pPr algn="just"/>
            <a:r>
              <a:rPr lang="en-IN" dirty="0"/>
              <a:t>Web documents are classified into: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IN" dirty="0"/>
              <a:t>Static Documents 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IN" dirty="0"/>
              <a:t>Dynamic Documents 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IN" dirty="0"/>
              <a:t>Active Documents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174737-0DA4-9349-89D9-84D3C5F1D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Web Documents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67A87-53C3-B79B-C1B3-D4E74D2BE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005" y="1320800"/>
            <a:ext cx="485775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69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17CFC-E4E7-EF80-85FB-3C0BBF2B1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F275B26-A3DE-E9DA-FC6B-B06557435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320800"/>
            <a:ext cx="11673840" cy="4947920"/>
          </a:xfrm>
        </p:spPr>
        <p:txBody>
          <a:bodyPr/>
          <a:lstStyle/>
          <a:p>
            <a:pPr algn="just"/>
            <a:r>
              <a:rPr lang="en-IN" dirty="0"/>
              <a:t>Web documents are classified into: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IN" dirty="0"/>
              <a:t>Static Documents 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IN" dirty="0"/>
              <a:t>Dynamic Documents 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IN" dirty="0"/>
              <a:t>Active Documents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4BCAB5-A1A8-9954-65C5-A2A704972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Web Documents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A0023B-CC63-BFB2-25EC-F0C5646B0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0" y="1320799"/>
            <a:ext cx="5246856" cy="494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93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E7CDC-C4AB-9556-A6BA-F32813DF0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8EC91B7-86E6-8B21-B7BD-AA1DDADA3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320800"/>
            <a:ext cx="11673840" cy="4947920"/>
          </a:xfrm>
        </p:spPr>
        <p:txBody>
          <a:bodyPr/>
          <a:lstStyle/>
          <a:p>
            <a:pPr algn="just"/>
            <a:r>
              <a:rPr lang="en-IN" dirty="0"/>
              <a:t>Web documents are classified into: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IN" dirty="0"/>
              <a:t>Static Documents 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IN" dirty="0"/>
              <a:t>Dynamic Documents 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IN" dirty="0"/>
              <a:t>Active Documents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08E23A-E93C-32BF-381A-04D4E9E95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Web Documents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BBF2F-58B5-E231-7E14-6C70D8996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378" y="1320800"/>
            <a:ext cx="5605822" cy="505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867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94816-C7C0-9DC7-771F-C1F58A8B3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6272E51-2357-0DBD-38C1-51960DD78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320800"/>
            <a:ext cx="11673840" cy="4947920"/>
          </a:xfrm>
        </p:spPr>
        <p:txBody>
          <a:bodyPr/>
          <a:lstStyle/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The Hypertext Transfer Protocol (HTTP) is a protocol used mainly to access data on the World  Wide  Web.  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HTTP  functions  as  a combination of FTP and SMTP.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HTTP  uses  the  services  of  TCP  on  well- known port 80.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It is similar to FTP because it transfers files and uses the services of TCP.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Unlike FTP there is no separate control connection; only data are transferred between the client and the server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6FCF61-1365-1FBF-308F-A739BF2BB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HyperText</a:t>
            </a:r>
            <a:r>
              <a:rPr lang="en-IN" dirty="0"/>
              <a:t> Transfer Protocol (HTTP)</a:t>
            </a:r>
          </a:p>
        </p:txBody>
      </p:sp>
    </p:spTree>
    <p:extLst>
      <p:ext uri="{BB962C8B-B14F-4D97-AF65-F5344CB8AC3E}">
        <p14:creationId xmlns:p14="http://schemas.microsoft.com/office/powerpoint/2010/main" val="3097286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637B-A60C-46F5-5405-590ED73D0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8261591-CC11-0D27-CADE-B5D6E3DC0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320800"/>
            <a:ext cx="11673840" cy="4947920"/>
          </a:xfrm>
        </p:spPr>
        <p:txBody>
          <a:bodyPr/>
          <a:lstStyle/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HTTP	uses	the	services	of	TCP,	however	HTTP itself is a stateless protocol.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The client initializes the transaction by sending a request message.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The	server	replies	by	sending	a	response message</a:t>
            </a:r>
            <a:endParaRPr lang="en-IN" b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23AC7C-BEC6-14E4-E228-D2DBA0F0E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Transaction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CD8B92-9040-75C4-F2F6-6934D07D2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316" y="3794760"/>
            <a:ext cx="5288564" cy="217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3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45EF-2114-CAE3-BAEA-A4A8F44A2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10DC464-9EC3-AE13-379F-842F9DA93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320800"/>
            <a:ext cx="11673840" cy="4947920"/>
          </a:xfrm>
        </p:spPr>
        <p:txBody>
          <a:bodyPr/>
          <a:lstStyle/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A request message consists of a request line, a header, and sometimes a body.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A response message consists of a status line, a header, and sometimes a body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endParaRPr lang="en-IN" b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18A370-75A7-ED4E-6D44-CF91575B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HyperText</a:t>
            </a:r>
            <a:r>
              <a:rPr lang="en-IN" dirty="0"/>
              <a:t> Transfer Protocol (HTTP)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1DE16-69A7-0B60-01DE-53D641DE5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2900997"/>
            <a:ext cx="6138218" cy="345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239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A15E-BADF-8423-68C0-CD146B939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6111030-9862-0562-3C7D-D9CBECA5A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320800"/>
            <a:ext cx="11673840" cy="4947920"/>
          </a:xfrm>
        </p:spPr>
        <p:txBody>
          <a:bodyPr/>
          <a:lstStyle/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The first line in a request message is called a request line.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	The first line in the response message is called the status line.</a:t>
            </a:r>
          </a:p>
          <a:p>
            <a:pPr marL="508000" indent="-45720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F188A1-B977-D3A7-FD06-017BECF4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Request and Status Lines: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5EBCF-79C5-3FFC-43BE-3FBCC9926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597" y="2995612"/>
            <a:ext cx="808672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BED0253-1E93-9087-83D9-92F0A55054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ADA987-64ED-4135-A386-EB5D46404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 of the request message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46B45-ADCA-B22C-E9EB-47B7D5905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35" y="1366520"/>
            <a:ext cx="10742129" cy="503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61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E1631B-C8F9-ABEE-43DE-9201410C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5570C4-EB09-428C-89E1-7BD0856DF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" y="1320800"/>
            <a:ext cx="7597751" cy="4628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837ADA-EC3D-3921-67C0-EFAB611158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424"/>
          <a:stretch>
            <a:fillRect/>
          </a:stretch>
        </p:blipFill>
        <p:spPr>
          <a:xfrm>
            <a:off x="7711440" y="1524884"/>
            <a:ext cx="4480560" cy="469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900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DA298A-38B5-7BE5-84D2-009F9007E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Request Message Format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76F20E-2B64-6BA9-C023-930125827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" y="1432560"/>
            <a:ext cx="4263794" cy="487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67047C-3CCC-C00C-08CB-3D6F5F189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292" y="1320800"/>
            <a:ext cx="4480948" cy="469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646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1ADAF8B-F9F6-8AD0-2A88-537ED43D4B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12587B-A9B9-DFA1-E42B-4FF405544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838E6-98E3-B3E8-9845-729E67E62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800"/>
            <a:ext cx="6892428" cy="5029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450528-0486-E0E2-4CF0-6123CDC2A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166" y="1488236"/>
            <a:ext cx="4480948" cy="469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4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AC6A42-43A6-28A2-D2CE-6269437A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982021-7119-7701-3E1B-543D4E9F1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19" y="1647983"/>
            <a:ext cx="11149561" cy="356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86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FB6D1A-2D75-F929-C39A-95BD7686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GET and HEAD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FDF08-0CF2-8209-A654-1F6D4D0B5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57178"/>
            <a:ext cx="4644221" cy="4658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A92954-515B-7920-0C8B-13EDEEED2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57178"/>
            <a:ext cx="5526821" cy="414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209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9E92BD5-B386-C0F6-D0AE-2C7A3FE9F5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1A5F55-6C20-B318-54B2-22EC3C3AE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Request Header Fields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E0C69-5F0E-F3B9-53F1-8BE61CF85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2241"/>
            <a:ext cx="8380871" cy="4226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3DEC9B-A48D-85DD-F7C1-4008F5F80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10" y="1548764"/>
            <a:ext cx="3141741" cy="450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70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39A1077-55F4-2B8F-FF75-D9899EB003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FFA637-79B8-C80C-03C8-5E9D0CAF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Response Message Format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A9733-0E9D-BF69-01A0-32524CA06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19" y="1473041"/>
            <a:ext cx="4721651" cy="4826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588A92-2418-E7BD-D6FE-101E7EFEB1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941"/>
          <a:stretch>
            <a:fillRect/>
          </a:stretch>
        </p:blipFill>
        <p:spPr>
          <a:xfrm>
            <a:off x="5164379" y="1402866"/>
            <a:ext cx="4979612" cy="489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742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3D3C083-F7BE-5A53-8227-6D41004467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021302-453D-985E-BCD2-AC5F6FCD9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E86F9-B7CB-DE6E-2AC4-D099979FF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" y="1320800"/>
            <a:ext cx="5448094" cy="5090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C5321C-4D85-B281-B6AD-EBBE2800C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814" y="1590958"/>
            <a:ext cx="6430926" cy="331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606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1DB4231-8169-3F5C-D94F-0C7DB67790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6EA219-33E4-CCE9-F873-1BE8018D0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0EC2D-0776-0EAC-983B-3F510AC14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" y="1584324"/>
            <a:ext cx="8184576" cy="432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141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9687C09-BB1F-4AE4-E581-1859F4B768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459A38-D282-642B-6DDC-0DEA5DBE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94F5AA-3E9D-CBCB-65FD-FCC11019B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4" y="1457325"/>
            <a:ext cx="2929975" cy="25457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6DBF06-D744-9D8C-45BC-7B34DDA89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4" y="3886200"/>
            <a:ext cx="2470782" cy="27933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CA9698-36B3-2923-2205-07E1D78D0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645" y="1333500"/>
            <a:ext cx="714375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27024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7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8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9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1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2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3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9684</TotalTime>
  <Words>786</Words>
  <Application>Microsoft Office PowerPoint</Application>
  <PresentationFormat>Widescreen</PresentationFormat>
  <Paragraphs>83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Cambria</vt:lpstr>
      <vt:lpstr>Arial</vt:lpstr>
      <vt:lpstr>Times New Roman</vt:lpstr>
      <vt:lpstr>Segoe UI Symbol</vt:lpstr>
      <vt:lpstr>2_Custom Design</vt:lpstr>
      <vt:lpstr>Custom Design</vt:lpstr>
      <vt:lpstr>5_Custom Design</vt:lpstr>
      <vt:lpstr>7_Custom Design</vt:lpstr>
      <vt:lpstr>8_Custom Design</vt:lpstr>
      <vt:lpstr>9_Custom Design</vt:lpstr>
      <vt:lpstr>11_Custom Design</vt:lpstr>
      <vt:lpstr>12_Custom Design</vt:lpstr>
      <vt:lpstr>13_Custom Design</vt:lpstr>
      <vt:lpstr>PowerPoint Presentation</vt:lpstr>
      <vt:lpstr>Module 5 -Application layer and Security mechanisms</vt:lpstr>
      <vt:lpstr>World Wide Web (www)</vt:lpstr>
      <vt:lpstr>World Wide Web (www)</vt:lpstr>
      <vt:lpstr>Architecture of WWW</vt:lpstr>
      <vt:lpstr>Client (Browser)</vt:lpstr>
      <vt:lpstr>Server</vt:lpstr>
      <vt:lpstr>Uniform Resource Locator</vt:lpstr>
      <vt:lpstr>Uniform Resource Locator</vt:lpstr>
      <vt:lpstr>Uniform Resource Locator</vt:lpstr>
      <vt:lpstr>Uniform Resource Locator</vt:lpstr>
      <vt:lpstr>Uniform Resource Locator</vt:lpstr>
      <vt:lpstr>Types of Web Documents</vt:lpstr>
      <vt:lpstr>Types of Web Documents</vt:lpstr>
      <vt:lpstr>Types of Web Documents</vt:lpstr>
      <vt:lpstr>HyperText Transfer Protocol (HTTP)</vt:lpstr>
      <vt:lpstr>HTTP Transaction</vt:lpstr>
      <vt:lpstr>HyperText Transfer Protocol (HTTP)</vt:lpstr>
      <vt:lpstr>Request and Status Lines:</vt:lpstr>
      <vt:lpstr>Format of the request message</vt:lpstr>
      <vt:lpstr>PowerPoint Presentation</vt:lpstr>
      <vt:lpstr>HTTP Request Message Format</vt:lpstr>
      <vt:lpstr>PowerPoint Presentation</vt:lpstr>
      <vt:lpstr>PowerPoint Presentation</vt:lpstr>
      <vt:lpstr>GET and HEAD Methods</vt:lpstr>
      <vt:lpstr>Request Header Fields</vt:lpstr>
      <vt:lpstr>HTTP Response Message Format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SLPINJARE</dc:creator>
  <cp:lastModifiedBy>Anjali Reddy GN</cp:lastModifiedBy>
  <cp:revision>137</cp:revision>
  <dcterms:created xsi:type="dcterms:W3CDTF">2006-07-07T09:10:42Z</dcterms:created>
  <dcterms:modified xsi:type="dcterms:W3CDTF">2026-05-13T04:36:31Z</dcterms:modified>
</cp:coreProperties>
</file>